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57" r:id="rId4"/>
    <p:sldId id="258" r:id="rId5"/>
    <p:sldId id="259" r:id="rId6"/>
    <p:sldId id="260" r:id="rId7"/>
    <p:sldId id="261" r:id="rId8"/>
    <p:sldId id="262" r:id="rId9"/>
    <p:sldId id="263" r:id="rId10"/>
    <p:sldId id="267" r:id="rId11"/>
    <p:sldId id="266" r:id="rId12"/>
    <p:sldId id="264" r:id="rId13"/>
    <p:sldId id="268" r:id="rId14"/>
    <p:sldId id="270" r:id="rId15"/>
    <p:sldId id="271" r:id="rId16"/>
    <p:sldId id="272" r:id="rId17"/>
    <p:sldId id="274" r:id="rId18"/>
    <p:sldId id="275" r:id="rId19"/>
    <p:sldId id="277" r:id="rId20"/>
    <p:sldId id="278" r:id="rId21"/>
    <p:sldId id="280" r:id="rId22"/>
    <p:sldId id="281" r:id="rId23"/>
    <p:sldId id="282" r:id="rId24"/>
    <p:sldId id="283" r:id="rId25"/>
    <p:sldId id="284" r:id="rId26"/>
    <p:sldId id="285" r:id="rId27"/>
    <p:sldId id="286" r:id="rId28"/>
    <p:sldId id="287" r:id="rId29"/>
    <p:sldId id="288" r:id="rId30"/>
    <p:sldId id="289" r:id="rId31"/>
    <p:sldId id="291" r:id="rId32"/>
    <p:sldId id="292" r:id="rId33"/>
    <p:sldId id="293" r:id="rId34"/>
    <p:sldId id="294" r:id="rId35"/>
    <p:sldId id="295" r:id="rId36"/>
    <p:sldId id="296" r:id="rId37"/>
    <p:sldId id="297" r:id="rId38"/>
    <p:sldId id="298" r:id="rId39"/>
    <p:sldId id="299" r:id="rId40"/>
    <p:sldId id="300" r:id="rId41"/>
    <p:sldId id="301" r:id="rId42"/>
    <p:sldId id="303" r:id="rId43"/>
    <p:sldId id="304" r:id="rId44"/>
    <p:sldId id="305" r:id="rId45"/>
    <p:sldId id="306" r:id="rId46"/>
    <p:sldId id="302" r:id="rId47"/>
    <p:sldId id="307" r:id="rId48"/>
    <p:sldId id="308" r:id="rId49"/>
    <p:sldId id="309" r:id="rId50"/>
    <p:sldId id="31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analyticsvidhya.com/blog/2021/07/how-to-treat-outliers-in-a-data-set/"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457200"/>
            <a:ext cx="7772400" cy="1470025"/>
          </a:xfrm>
        </p:spPr>
        <p:txBody>
          <a:bodyPr/>
          <a:lstStyle/>
          <a:p>
            <a:r>
              <a:rPr lang="en-IN" dirty="0" smtClean="0"/>
              <a:t>Machine Learning</a:t>
            </a:r>
            <a:endParaRPr lang="en-US" dirty="0"/>
          </a:p>
        </p:txBody>
      </p:sp>
      <p:sp>
        <p:nvSpPr>
          <p:cNvPr id="3" name="Subtitle 2"/>
          <p:cNvSpPr>
            <a:spLocks noGrp="1"/>
          </p:cNvSpPr>
          <p:nvPr>
            <p:ph type="subTitle" idx="1"/>
          </p:nvPr>
        </p:nvSpPr>
        <p:spPr>
          <a:xfrm>
            <a:off x="381000" y="1981200"/>
            <a:ext cx="8458200" cy="3886200"/>
          </a:xfrm>
        </p:spPr>
        <p:txBody>
          <a:bodyPr>
            <a:normAutofit fontScale="92500" lnSpcReduction="20000"/>
          </a:bodyPr>
          <a:lstStyle/>
          <a:p>
            <a:r>
              <a:rPr lang="en-IN" dirty="0" smtClean="0">
                <a:solidFill>
                  <a:srgbClr val="FF0000"/>
                </a:solidFill>
              </a:rPr>
              <a:t>UNIT-I</a:t>
            </a:r>
          </a:p>
          <a:p>
            <a:pPr algn="l"/>
            <a:r>
              <a:rPr lang="en-US" dirty="0" smtClean="0">
                <a:solidFill>
                  <a:srgbClr val="FF0000"/>
                </a:solidFill>
              </a:rPr>
              <a:t>Introduction to Machine Learning</a:t>
            </a:r>
            <a:r>
              <a:rPr lang="en-US" dirty="0" smtClean="0">
                <a:solidFill>
                  <a:schemeClr val="accent6">
                    <a:lumMod val="50000"/>
                  </a:schemeClr>
                </a:solidFill>
              </a:rPr>
              <a:t>: </a:t>
            </a:r>
          </a:p>
          <a:p>
            <a:pPr algn="just"/>
            <a:r>
              <a:rPr lang="en-US" dirty="0" smtClean="0">
                <a:solidFill>
                  <a:schemeClr val="accent6">
                    <a:lumMod val="50000"/>
                  </a:schemeClr>
                </a:solidFill>
              </a:rPr>
              <a:t>Evolution of machine Learning, Paradigms for ML, Learning by Rote, Learning by Induction, Reinforcement Learning, Types of Data, Matching, Stages in Machine Learning, Data Acquisition, Feature Engineering, Data Representation, Model Selection, Model Learning, Model Evaluation, Model Prediction, Search and Learning, Data Sets</a:t>
            </a:r>
            <a:r>
              <a:rPr lang="en-US" dirty="0" smtClean="0"/>
              <a: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normAutofit/>
          </a:bodyPr>
          <a:lstStyle/>
          <a:p>
            <a:pPr>
              <a:buNone/>
            </a:pPr>
            <a:r>
              <a:rPr lang="en-US" sz="2400" dirty="0" smtClean="0">
                <a:solidFill>
                  <a:srgbClr val="FF0000"/>
                </a:solidFill>
              </a:rPr>
              <a:t>Text Books: </a:t>
            </a:r>
          </a:p>
          <a:p>
            <a:pPr>
              <a:buNone/>
            </a:pPr>
            <a:r>
              <a:rPr lang="en-US" sz="2400" dirty="0" smtClean="0"/>
              <a:t>1. “Machine Learning Theory and Practice”, M N Murthy, V S </a:t>
            </a:r>
            <a:r>
              <a:rPr lang="en-US" sz="2400" dirty="0" err="1" smtClean="0"/>
              <a:t>Ananthanarayana</a:t>
            </a:r>
            <a:r>
              <a:rPr lang="en-US" sz="2400" dirty="0" smtClean="0"/>
              <a:t>, Universities Press (India), 2024</a:t>
            </a:r>
          </a:p>
          <a:p>
            <a:pPr>
              <a:buNone/>
            </a:pPr>
            <a:r>
              <a:rPr lang="en-US" sz="2400" dirty="0" smtClean="0">
                <a:solidFill>
                  <a:srgbClr val="FF0000"/>
                </a:solidFill>
              </a:rPr>
              <a:t>Reference Books</a:t>
            </a:r>
            <a:r>
              <a:rPr lang="en-US" sz="2400" dirty="0" smtClean="0"/>
              <a:t>: </a:t>
            </a:r>
          </a:p>
          <a:p>
            <a:pPr marL="514350" indent="-514350">
              <a:buAutoNum type="arabicPeriod"/>
            </a:pPr>
            <a:r>
              <a:rPr lang="en-US" sz="2400" dirty="0" smtClean="0"/>
              <a:t>“MachineLearning”,TomM.Mitchell,McGraw-HillPublication,2017 </a:t>
            </a:r>
          </a:p>
          <a:p>
            <a:pPr marL="514350" indent="-514350">
              <a:buAutoNum type="arabicPeriod"/>
            </a:pPr>
            <a:r>
              <a:rPr lang="en-US" sz="2400" dirty="0" smtClean="0"/>
              <a:t>“Machine Learning in Action”, Peter Harrington, </a:t>
            </a:r>
            <a:r>
              <a:rPr lang="en-US" sz="2400" dirty="0" err="1" smtClean="0"/>
              <a:t>DreamTech</a:t>
            </a:r>
            <a:r>
              <a:rPr lang="en-US" sz="2400" dirty="0" smtClean="0"/>
              <a:t> </a:t>
            </a:r>
          </a:p>
          <a:p>
            <a:pPr marL="514350" indent="-514350">
              <a:buAutoNum type="arabicPeriod"/>
            </a:pPr>
            <a:r>
              <a:rPr lang="en-US" sz="2400" dirty="0" smtClean="0"/>
              <a:t> “Introduction to Data Mining”, Pang-</a:t>
            </a:r>
            <a:r>
              <a:rPr lang="en-US" sz="2400" dirty="0" err="1" smtClean="0"/>
              <a:t>Ning</a:t>
            </a:r>
            <a:r>
              <a:rPr lang="en-US" sz="2400" dirty="0" smtClean="0"/>
              <a:t> Tan, Michel </a:t>
            </a:r>
            <a:r>
              <a:rPr lang="en-US" sz="2400" dirty="0" err="1" smtClean="0"/>
              <a:t>Stenbach</a:t>
            </a:r>
            <a:r>
              <a:rPr lang="en-US" sz="2400" dirty="0" smtClean="0"/>
              <a:t>, </a:t>
            </a:r>
            <a:r>
              <a:rPr lang="en-US" sz="2400" dirty="0" err="1" smtClean="0"/>
              <a:t>Vipin</a:t>
            </a:r>
            <a:r>
              <a:rPr lang="en-US" sz="2400" dirty="0" smtClean="0"/>
              <a:t> Kumar,7th Edition, 2019.</a:t>
            </a:r>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Definition</a:t>
            </a:r>
            <a:endParaRPr lang="en-US" dirty="0"/>
          </a:p>
        </p:txBody>
      </p:sp>
      <p:sp>
        <p:nvSpPr>
          <p:cNvPr id="3" name="Content Placeholder 2"/>
          <p:cNvSpPr>
            <a:spLocks noGrp="1"/>
          </p:cNvSpPr>
          <p:nvPr>
            <p:ph idx="1"/>
          </p:nvPr>
        </p:nvSpPr>
        <p:spPr/>
        <p:txBody>
          <a:bodyPr/>
          <a:lstStyle/>
          <a:p>
            <a:r>
              <a:rPr lang="en-US" dirty="0" smtClean="0"/>
              <a:t>Machine Learning is the science (and art) of programming computers so they can learn from data. </a:t>
            </a:r>
          </a:p>
          <a:p>
            <a:r>
              <a:rPr lang="en-US" dirty="0" smtClean="0">
                <a:solidFill>
                  <a:srgbClr val="FF0000"/>
                </a:solidFill>
              </a:rPr>
              <a:t>[Machine Learning is the] field of study that gives computers the ability to learn without being explicitly programmed. —Arthur Samuel, 1959</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Engineering Definition</a:t>
            </a:r>
            <a:endParaRPr lang="en-US" dirty="0"/>
          </a:p>
        </p:txBody>
      </p:sp>
      <p:sp>
        <p:nvSpPr>
          <p:cNvPr id="3" name="Content Placeholder 2"/>
          <p:cNvSpPr>
            <a:spLocks noGrp="1"/>
          </p:cNvSpPr>
          <p:nvPr>
            <p:ph idx="1"/>
          </p:nvPr>
        </p:nvSpPr>
        <p:spPr/>
        <p:txBody>
          <a:bodyPr/>
          <a:lstStyle/>
          <a:p>
            <a:r>
              <a:rPr lang="en-US" dirty="0" smtClean="0"/>
              <a:t>A computer program is said to learn from </a:t>
            </a:r>
            <a:r>
              <a:rPr lang="en-US" dirty="0" smtClean="0">
                <a:solidFill>
                  <a:srgbClr val="FF0000"/>
                </a:solidFill>
              </a:rPr>
              <a:t>experience E </a:t>
            </a:r>
            <a:r>
              <a:rPr lang="en-US" dirty="0" smtClean="0"/>
              <a:t>with respect to some </a:t>
            </a:r>
            <a:r>
              <a:rPr lang="en-US" dirty="0" smtClean="0">
                <a:solidFill>
                  <a:srgbClr val="FF0000"/>
                </a:solidFill>
              </a:rPr>
              <a:t>task T</a:t>
            </a:r>
            <a:r>
              <a:rPr lang="en-US" dirty="0" smtClean="0"/>
              <a:t> and some </a:t>
            </a:r>
            <a:r>
              <a:rPr lang="en-US" dirty="0" smtClean="0">
                <a:solidFill>
                  <a:srgbClr val="FF0000"/>
                </a:solidFill>
              </a:rPr>
              <a:t>performance measure P</a:t>
            </a:r>
            <a:r>
              <a:rPr lang="en-US" dirty="0" smtClean="0"/>
              <a:t>, if its performance on T, as measured by P, improves with </a:t>
            </a:r>
            <a:r>
              <a:rPr lang="en-US" dirty="0" smtClean="0">
                <a:solidFill>
                  <a:srgbClr val="FF0000"/>
                </a:solidFill>
              </a:rPr>
              <a:t>experience E</a:t>
            </a:r>
            <a:r>
              <a:rPr lang="en-US" dirty="0" smtClean="0"/>
              <a:t>. —Tom Mitchell, 1997</a:t>
            </a:r>
          </a:p>
          <a:p>
            <a:r>
              <a:rPr lang="en-IN" dirty="0" smtClean="0"/>
              <a:t>Example: Spam Filter</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smtClean="0"/>
              <a:t/>
            </a:r>
            <a:br>
              <a:rPr lang="en-US" sz="2700" dirty="0" smtClean="0"/>
            </a:br>
            <a:r>
              <a:rPr lang="en-US" sz="2700" dirty="0" smtClean="0"/>
              <a:t/>
            </a:r>
            <a:br>
              <a:rPr lang="en-US" sz="2700" dirty="0" smtClean="0"/>
            </a:br>
            <a:r>
              <a:rPr lang="en-US" sz="2700" dirty="0" smtClean="0">
                <a:solidFill>
                  <a:srgbClr val="FF0000"/>
                </a:solidFill>
              </a:rPr>
              <a:t>Why Use Machine Learning?</a:t>
            </a:r>
            <a:r>
              <a:rPr lang="en-US" sz="2700" dirty="0" smtClean="0"/>
              <a:t/>
            </a:r>
            <a:br>
              <a:rPr lang="en-US" sz="2700" dirty="0" smtClean="0"/>
            </a:br>
            <a:r>
              <a:rPr lang="en-US" sz="2700" dirty="0" smtClean="0"/>
              <a:t>Consider how you would write a spam filter using traditional programming techniques. </a:t>
            </a:r>
            <a:r>
              <a:rPr lang="en-US" dirty="0" smtClean="0"/>
              <a:t/>
            </a:r>
            <a:br>
              <a:rPr lang="en-US" dirty="0" smtClean="0"/>
            </a:br>
            <a:endParaRPr lang="en-US" dirty="0"/>
          </a:p>
        </p:txBody>
      </p:sp>
      <p:pic>
        <p:nvPicPr>
          <p:cNvPr id="1028" name="Picture 4"/>
          <p:cNvPicPr>
            <a:picLocks noGrp="1" noChangeAspect="1" noChangeArrowheads="1"/>
          </p:cNvPicPr>
          <p:nvPr>
            <p:ph idx="1"/>
          </p:nvPr>
        </p:nvPicPr>
        <p:blipFill>
          <a:blip r:embed="rId2"/>
          <a:srcRect/>
          <a:stretch>
            <a:fillRect/>
          </a:stretch>
        </p:blipFill>
        <p:spPr bwMode="auto">
          <a:xfrm>
            <a:off x="381000" y="1676400"/>
            <a:ext cx="8421295"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Machine Learning Approach</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971237" y="2064705"/>
            <a:ext cx="7201525" cy="35969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Adopting to change</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020772" y="2483842"/>
            <a:ext cx="7102456" cy="27586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Learning</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1020772" y="2125671"/>
            <a:ext cx="7102456" cy="34750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Machine Learning is great for: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304800" y="1219200"/>
            <a:ext cx="8382000" cy="4906963"/>
          </a:xfrm>
        </p:spPr>
        <p:txBody>
          <a:bodyPr>
            <a:normAutofit fontScale="92500" lnSpcReduction="10000"/>
          </a:bodyPr>
          <a:lstStyle/>
          <a:p>
            <a:pPr algn="just">
              <a:buNone/>
            </a:pPr>
            <a:r>
              <a:rPr lang="en-US" dirty="0" smtClean="0"/>
              <a:t>• </a:t>
            </a:r>
            <a:r>
              <a:rPr lang="en-US" sz="3000" dirty="0" smtClean="0"/>
              <a:t>Problems for which existing solutions require a lot of hand-tuning or long lists of rules: one Machine Learning algorithm can often simplify code and perform bet ter. </a:t>
            </a:r>
          </a:p>
          <a:p>
            <a:pPr algn="just">
              <a:buNone/>
            </a:pPr>
            <a:r>
              <a:rPr lang="en-US" sz="3000" dirty="0" smtClean="0"/>
              <a:t>• Complex problems for which there is no good solution at all using a traditional approach: the best Machine Learning techniques can find a solution.</a:t>
            </a:r>
          </a:p>
          <a:p>
            <a:pPr algn="just">
              <a:buNone/>
            </a:pPr>
            <a:r>
              <a:rPr lang="en-US" sz="3000" dirty="0" smtClean="0"/>
              <a:t> • Fluctuating environments: a Machine Learning system can adapt to new data.</a:t>
            </a:r>
          </a:p>
          <a:p>
            <a:pPr algn="just">
              <a:buNone/>
            </a:pPr>
            <a:r>
              <a:rPr lang="en-US" sz="3000" dirty="0" smtClean="0"/>
              <a:t> • Getting insights about complex problems and large amounts of data.</a:t>
            </a:r>
            <a:endParaRPr lang="en-US" sz="3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srcRect/>
          <a:stretch>
            <a:fillRect/>
          </a:stretch>
        </p:blipFill>
        <p:spPr bwMode="auto">
          <a:xfrm>
            <a:off x="1189388" y="1600200"/>
            <a:ext cx="6765224" cy="4525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Machine Learning Paradigms</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smtClean="0"/>
              <a:t>Machine Learning is generally categorized into three paradigms. They are:</a:t>
            </a:r>
          </a:p>
          <a:p>
            <a:r>
              <a:rPr lang="en-US" dirty="0" smtClean="0"/>
              <a:t>Supervised Learning</a:t>
            </a:r>
          </a:p>
          <a:p>
            <a:r>
              <a:rPr lang="en-US" dirty="0" smtClean="0"/>
              <a:t>Unsupervised Learning</a:t>
            </a:r>
          </a:p>
          <a:p>
            <a:r>
              <a:rPr lang="en-US" dirty="0" smtClean="0"/>
              <a:t>Reinforcement Learning</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Machine Learning Paradigms</a:t>
            </a:r>
            <a:endParaRPr lang="en-US" dirty="0">
              <a:solidFill>
                <a:srgbClr val="FF0000"/>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1143000" y="1219200"/>
            <a:ext cx="6934200" cy="52310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609600" y="533400"/>
            <a:ext cx="8001000" cy="52871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Types of Supervised learning</a:t>
            </a:r>
            <a:r>
              <a:rPr lang="en-IN" dirty="0" smtClean="0"/>
              <a:t/>
            </a:r>
            <a:br>
              <a:rPr lang="en-IN" dirty="0" smtClean="0"/>
            </a:br>
            <a:endParaRPr lang="en-IN" dirty="0"/>
          </a:p>
        </p:txBody>
      </p:sp>
      <p:sp>
        <p:nvSpPr>
          <p:cNvPr id="3" name="Content Placeholder 2"/>
          <p:cNvSpPr>
            <a:spLocks noGrp="1"/>
          </p:cNvSpPr>
          <p:nvPr>
            <p:ph idx="1"/>
          </p:nvPr>
        </p:nvSpPr>
        <p:spPr/>
        <p:txBody>
          <a:bodyPr/>
          <a:lstStyle/>
          <a:p>
            <a:r>
              <a:rPr lang="en-IN" b="1" dirty="0" smtClean="0">
                <a:solidFill>
                  <a:schemeClr val="accent6">
                    <a:lumMod val="50000"/>
                  </a:schemeClr>
                </a:solidFill>
              </a:rPr>
              <a:t>Classification</a:t>
            </a:r>
            <a:r>
              <a:rPr lang="en-IN" dirty="0" smtClean="0">
                <a:solidFill>
                  <a:schemeClr val="accent6">
                    <a:lumMod val="50000"/>
                  </a:schemeClr>
                </a:solidFill>
              </a:rPr>
              <a:t>:</a:t>
            </a:r>
            <a:r>
              <a:rPr lang="en-IN" dirty="0" smtClean="0"/>
              <a:t> A classification problem is when the output variable is a category, such as “red” or “blue” or “disease” and “no disease”.</a:t>
            </a:r>
          </a:p>
          <a:p>
            <a:r>
              <a:rPr lang="en-IN" b="1" dirty="0" smtClean="0">
                <a:solidFill>
                  <a:schemeClr val="accent6">
                    <a:lumMod val="50000"/>
                  </a:schemeClr>
                </a:solidFill>
              </a:rPr>
              <a:t>Regression</a:t>
            </a:r>
            <a:r>
              <a:rPr lang="en-IN" dirty="0" smtClean="0">
                <a:solidFill>
                  <a:schemeClr val="accent6">
                    <a:lumMod val="50000"/>
                  </a:schemeClr>
                </a:solidFill>
              </a:rPr>
              <a:t>:</a:t>
            </a:r>
            <a:r>
              <a:rPr lang="en-IN" dirty="0" smtClean="0"/>
              <a:t> A regression problem is when the output variable is a real value, such as “dollars” or “weight”.</a:t>
            </a:r>
          </a:p>
          <a:p>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Classification</a:t>
            </a:r>
            <a:endParaRPr lang="en-IN" dirty="0">
              <a:solidFill>
                <a:srgbClr val="FF0000"/>
              </a:solidFill>
            </a:endParaRPr>
          </a:p>
        </p:txBody>
      </p:sp>
      <p:pic>
        <p:nvPicPr>
          <p:cNvPr id="3074" name="Picture 2"/>
          <p:cNvPicPr>
            <a:picLocks noGrp="1" noChangeAspect="1" noChangeArrowheads="1"/>
          </p:cNvPicPr>
          <p:nvPr>
            <p:ph idx="1"/>
          </p:nvPr>
        </p:nvPicPr>
        <p:blipFill>
          <a:blip r:embed="rId2"/>
          <a:srcRect/>
          <a:stretch>
            <a:fillRect/>
          </a:stretch>
        </p:blipFill>
        <p:spPr bwMode="auto">
          <a:xfrm>
            <a:off x="685800" y="1600200"/>
            <a:ext cx="8001000" cy="4952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Classification</a:t>
            </a:r>
            <a:endParaRPr lang="en-IN" dirty="0">
              <a:solidFill>
                <a:srgbClr val="FF0000"/>
              </a:solidFill>
            </a:endParaRPr>
          </a:p>
        </p:txBody>
      </p:sp>
      <p:pic>
        <p:nvPicPr>
          <p:cNvPr id="4099" name="Picture 3"/>
          <p:cNvPicPr>
            <a:picLocks noGrp="1" noChangeAspect="1" noChangeArrowheads="1"/>
          </p:cNvPicPr>
          <p:nvPr>
            <p:ph idx="1"/>
          </p:nvPr>
        </p:nvPicPr>
        <p:blipFill>
          <a:blip r:embed="rId2"/>
          <a:srcRect/>
          <a:stretch>
            <a:fillRect/>
          </a:stretch>
        </p:blipFill>
        <p:spPr bwMode="auto">
          <a:xfrm>
            <a:off x="1238250" y="1600200"/>
            <a:ext cx="6667500"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Types of Unsupervised learning</a:t>
            </a:r>
            <a:r>
              <a:rPr lang="en-IN" dirty="0" smtClean="0"/>
              <a:t/>
            </a:r>
            <a:br>
              <a:rPr lang="en-IN" dirty="0" smtClean="0"/>
            </a:br>
            <a:endParaRPr lang="en-IN" dirty="0"/>
          </a:p>
        </p:txBody>
      </p:sp>
      <p:sp>
        <p:nvSpPr>
          <p:cNvPr id="3" name="Content Placeholder 2"/>
          <p:cNvSpPr>
            <a:spLocks noGrp="1"/>
          </p:cNvSpPr>
          <p:nvPr>
            <p:ph idx="1"/>
          </p:nvPr>
        </p:nvSpPr>
        <p:spPr/>
        <p:txBody>
          <a:bodyPr>
            <a:normAutofit/>
          </a:bodyPr>
          <a:lstStyle/>
          <a:p>
            <a:r>
              <a:rPr lang="en-IN" b="1" dirty="0" smtClean="0">
                <a:solidFill>
                  <a:schemeClr val="accent6">
                    <a:lumMod val="50000"/>
                  </a:schemeClr>
                </a:solidFill>
              </a:rPr>
              <a:t>Clustering</a:t>
            </a:r>
            <a:r>
              <a:rPr lang="en-IN" dirty="0" smtClean="0">
                <a:solidFill>
                  <a:schemeClr val="accent6">
                    <a:lumMod val="50000"/>
                  </a:schemeClr>
                </a:solidFill>
              </a:rPr>
              <a:t>: </a:t>
            </a:r>
            <a:r>
              <a:rPr lang="en-IN" dirty="0" smtClean="0"/>
              <a:t>A clustering problem is where you want to discover the inherent groupings in the data, such as grouping customers by purchasing behaviour.</a:t>
            </a:r>
          </a:p>
          <a:p>
            <a:r>
              <a:rPr lang="en-IN" b="1" dirty="0" smtClean="0">
                <a:solidFill>
                  <a:schemeClr val="accent6">
                    <a:lumMod val="50000"/>
                  </a:schemeClr>
                </a:solidFill>
              </a:rPr>
              <a:t>Association</a:t>
            </a:r>
            <a:r>
              <a:rPr lang="en-IN" dirty="0" smtClean="0">
                <a:solidFill>
                  <a:schemeClr val="accent6">
                    <a:lumMod val="50000"/>
                  </a:schemeClr>
                </a:solidFill>
              </a:rPr>
              <a:t>:</a:t>
            </a:r>
            <a:r>
              <a:rPr lang="en-IN" dirty="0" smtClean="0"/>
              <a:t> An association rule learning problem is where you want to discover rules that describe large portions of your data, such as people that buy X also tend to buy Y.</a:t>
            </a:r>
          </a:p>
          <a:p>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Reinforcement Learning</a:t>
            </a:r>
            <a:endParaRPr lang="en-IN" dirty="0">
              <a:solidFill>
                <a:srgbClr val="FF0000"/>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1704975" y="1815306"/>
            <a:ext cx="5734050" cy="4095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ML Paradigms</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solidFill>
                  <a:srgbClr val="C00000"/>
                </a:solidFill>
              </a:rPr>
              <a:t>Supervised Learning</a:t>
            </a:r>
          </a:p>
          <a:p>
            <a:pPr>
              <a:buNone/>
            </a:pPr>
            <a:r>
              <a:rPr lang="en-IN" dirty="0" smtClean="0">
                <a:solidFill>
                  <a:srgbClr val="C00000"/>
                </a:solidFill>
              </a:rPr>
              <a:t>       -learn an input and output map</a:t>
            </a:r>
          </a:p>
          <a:p>
            <a:pPr>
              <a:buNone/>
            </a:pPr>
            <a:r>
              <a:rPr lang="en-IN" dirty="0" smtClean="0">
                <a:solidFill>
                  <a:srgbClr val="C00000"/>
                </a:solidFill>
              </a:rPr>
              <a:t>              Classification: categorical output</a:t>
            </a:r>
          </a:p>
          <a:p>
            <a:pPr>
              <a:buNone/>
            </a:pPr>
            <a:r>
              <a:rPr lang="en-IN" dirty="0" smtClean="0">
                <a:solidFill>
                  <a:srgbClr val="C00000"/>
                </a:solidFill>
              </a:rPr>
              <a:t>               Regression: continuous output</a:t>
            </a:r>
          </a:p>
          <a:p>
            <a:r>
              <a:rPr lang="en-IN" dirty="0" smtClean="0">
                <a:solidFill>
                  <a:schemeClr val="accent2">
                    <a:lumMod val="50000"/>
                  </a:schemeClr>
                </a:solidFill>
              </a:rPr>
              <a:t>Unsupervised Learning</a:t>
            </a:r>
          </a:p>
          <a:p>
            <a:pPr>
              <a:buNone/>
            </a:pPr>
            <a:r>
              <a:rPr lang="en-IN" dirty="0" smtClean="0">
                <a:solidFill>
                  <a:schemeClr val="accent2">
                    <a:lumMod val="50000"/>
                  </a:schemeClr>
                </a:solidFill>
              </a:rPr>
              <a:t>       - Discover patterns in the data</a:t>
            </a:r>
          </a:p>
          <a:p>
            <a:pPr>
              <a:buNone/>
            </a:pPr>
            <a:r>
              <a:rPr lang="en-IN" dirty="0" smtClean="0">
                <a:solidFill>
                  <a:schemeClr val="accent2">
                    <a:lumMod val="50000"/>
                  </a:schemeClr>
                </a:solidFill>
              </a:rPr>
              <a:t>              clustering: cohesive grouping</a:t>
            </a:r>
          </a:p>
          <a:p>
            <a:pPr>
              <a:buNone/>
            </a:pPr>
            <a:r>
              <a:rPr lang="en-IN" dirty="0" smtClean="0">
                <a:solidFill>
                  <a:schemeClr val="accent2">
                    <a:lumMod val="50000"/>
                  </a:schemeClr>
                </a:solidFill>
              </a:rPr>
              <a:t>               Association: frequent </a:t>
            </a:r>
            <a:r>
              <a:rPr lang="en-IN" dirty="0" err="1" smtClean="0">
                <a:solidFill>
                  <a:schemeClr val="accent2">
                    <a:lumMod val="50000"/>
                  </a:schemeClr>
                </a:solidFill>
              </a:rPr>
              <a:t>cooccurance</a:t>
            </a:r>
            <a:endParaRPr lang="en-IN" dirty="0" smtClean="0">
              <a:solidFill>
                <a:schemeClr val="accent2">
                  <a:lumMod val="50000"/>
                </a:schemeClr>
              </a:solidFill>
            </a:endParaRPr>
          </a:p>
          <a:p>
            <a:r>
              <a:rPr lang="en-IN" dirty="0" smtClean="0">
                <a:solidFill>
                  <a:srgbClr val="1E04BC"/>
                </a:solidFill>
              </a:rPr>
              <a:t>Reinforcement Learning</a:t>
            </a:r>
          </a:p>
          <a:p>
            <a:pPr>
              <a:buNone/>
            </a:pPr>
            <a:r>
              <a:rPr lang="en-IN" dirty="0" smtClean="0">
                <a:solidFill>
                  <a:srgbClr val="1E04BC"/>
                </a:solidFill>
              </a:rPr>
              <a:t>       - Learning Control</a:t>
            </a:r>
            <a:endParaRPr lang="en-IN" dirty="0">
              <a:solidFill>
                <a:srgbClr val="1E04BC"/>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Machine Learning Tasks</a:t>
            </a:r>
            <a:endParaRPr lang="en-IN" dirty="0"/>
          </a:p>
        </p:txBody>
      </p:sp>
      <p:graphicFrame>
        <p:nvGraphicFramePr>
          <p:cNvPr id="4" name="Content Placeholder 3"/>
          <p:cNvGraphicFramePr>
            <a:graphicFrameLocks noGrp="1"/>
          </p:cNvGraphicFramePr>
          <p:nvPr>
            <p:ph idx="1"/>
          </p:nvPr>
        </p:nvGraphicFramePr>
        <p:xfrm>
          <a:off x="457200" y="1600200"/>
          <a:ext cx="8229600" cy="3276600"/>
        </p:xfrm>
        <a:graphic>
          <a:graphicData uri="http://schemas.openxmlformats.org/drawingml/2006/table">
            <a:tbl>
              <a:tblPr firstRow="1" bandRow="1">
                <a:tableStyleId>{5C22544A-7EE6-4342-B048-85BDC9FD1C3A}</a:tableStyleId>
              </a:tblPr>
              <a:tblGrid>
                <a:gridCol w="4114800"/>
                <a:gridCol w="4114800"/>
              </a:tblGrid>
              <a:tr h="546100">
                <a:tc>
                  <a:txBody>
                    <a:bodyPr/>
                    <a:lstStyle/>
                    <a:p>
                      <a:r>
                        <a:rPr lang="en-IN" dirty="0" smtClean="0"/>
                        <a:t>TASK</a:t>
                      </a:r>
                      <a:endParaRPr lang="en-IN" dirty="0"/>
                    </a:p>
                  </a:txBody>
                  <a:tcPr/>
                </a:tc>
                <a:tc>
                  <a:txBody>
                    <a:bodyPr/>
                    <a:lstStyle/>
                    <a:p>
                      <a:r>
                        <a:rPr lang="en-IN" dirty="0" smtClean="0"/>
                        <a:t>MEASURE</a:t>
                      </a:r>
                      <a:endParaRPr lang="en-IN" dirty="0"/>
                    </a:p>
                  </a:txBody>
                  <a:tcPr/>
                </a:tc>
              </a:tr>
              <a:tr h="546100">
                <a:tc>
                  <a:txBody>
                    <a:bodyPr/>
                    <a:lstStyle/>
                    <a:p>
                      <a:r>
                        <a:rPr lang="en-IN" sz="2400" b="1" dirty="0" smtClean="0">
                          <a:solidFill>
                            <a:srgbClr val="C00000"/>
                          </a:solidFill>
                        </a:rPr>
                        <a:t>Classification</a:t>
                      </a:r>
                      <a:endParaRPr lang="en-IN" sz="2400" b="1" dirty="0">
                        <a:solidFill>
                          <a:srgbClr val="C00000"/>
                        </a:solidFill>
                      </a:endParaRPr>
                    </a:p>
                  </a:txBody>
                  <a:tcPr/>
                </a:tc>
                <a:tc>
                  <a:txBody>
                    <a:bodyPr/>
                    <a:lstStyle/>
                    <a:p>
                      <a:r>
                        <a:rPr lang="en-IN" sz="2400" b="1" dirty="0" smtClean="0">
                          <a:solidFill>
                            <a:srgbClr val="C00000"/>
                          </a:solidFill>
                        </a:rPr>
                        <a:t>error</a:t>
                      </a:r>
                      <a:endParaRPr lang="en-IN" sz="2400" b="1" dirty="0">
                        <a:solidFill>
                          <a:srgbClr val="C00000"/>
                        </a:solidFill>
                      </a:endParaRPr>
                    </a:p>
                  </a:txBody>
                  <a:tcPr/>
                </a:tc>
              </a:tr>
              <a:tr h="546100">
                <a:tc>
                  <a:txBody>
                    <a:bodyPr/>
                    <a:lstStyle/>
                    <a:p>
                      <a:r>
                        <a:rPr lang="en-IN" sz="2400" b="1" dirty="0" smtClean="0">
                          <a:solidFill>
                            <a:srgbClr val="C00000"/>
                          </a:solidFill>
                        </a:rPr>
                        <a:t>Regression</a:t>
                      </a:r>
                      <a:endParaRPr lang="en-IN" sz="2400" b="1" dirty="0">
                        <a:solidFill>
                          <a:srgbClr val="C00000"/>
                        </a:solidFill>
                      </a:endParaRPr>
                    </a:p>
                  </a:txBody>
                  <a:tcPr/>
                </a:tc>
                <a:tc>
                  <a:txBody>
                    <a:bodyPr/>
                    <a:lstStyle/>
                    <a:p>
                      <a:r>
                        <a:rPr lang="en-IN" sz="2400" b="1" dirty="0" smtClean="0">
                          <a:solidFill>
                            <a:srgbClr val="C00000"/>
                          </a:solidFill>
                        </a:rPr>
                        <a:t>error</a:t>
                      </a:r>
                      <a:endParaRPr lang="en-IN" sz="2400" b="1" dirty="0">
                        <a:solidFill>
                          <a:srgbClr val="C00000"/>
                        </a:solidFill>
                      </a:endParaRPr>
                    </a:p>
                  </a:txBody>
                  <a:tcPr/>
                </a:tc>
              </a:tr>
              <a:tr h="546100">
                <a:tc>
                  <a:txBody>
                    <a:bodyPr/>
                    <a:lstStyle/>
                    <a:p>
                      <a:r>
                        <a:rPr lang="en-IN" sz="2400" b="1" dirty="0" smtClean="0">
                          <a:solidFill>
                            <a:schemeClr val="accent2">
                              <a:lumMod val="50000"/>
                            </a:schemeClr>
                          </a:solidFill>
                        </a:rPr>
                        <a:t>Clustering</a:t>
                      </a:r>
                    </a:p>
                  </a:txBody>
                  <a:tcPr/>
                </a:tc>
                <a:tc>
                  <a:txBody>
                    <a:bodyPr/>
                    <a:lstStyle/>
                    <a:p>
                      <a:r>
                        <a:rPr lang="en-IN" sz="2400" b="1" dirty="0" smtClean="0">
                          <a:solidFill>
                            <a:schemeClr val="accent2">
                              <a:lumMod val="50000"/>
                            </a:schemeClr>
                          </a:solidFill>
                        </a:rPr>
                        <a:t>Scatter/purity</a:t>
                      </a:r>
                      <a:endParaRPr lang="en-IN" sz="2400" b="1" dirty="0">
                        <a:solidFill>
                          <a:schemeClr val="accent2">
                            <a:lumMod val="50000"/>
                          </a:schemeClr>
                        </a:solidFill>
                      </a:endParaRPr>
                    </a:p>
                  </a:txBody>
                  <a:tcPr/>
                </a:tc>
              </a:tr>
              <a:tr h="546100">
                <a:tc>
                  <a:txBody>
                    <a:bodyPr/>
                    <a:lstStyle/>
                    <a:p>
                      <a:r>
                        <a:rPr lang="en-IN" sz="2400" b="1" dirty="0" smtClean="0">
                          <a:solidFill>
                            <a:schemeClr val="accent2">
                              <a:lumMod val="50000"/>
                            </a:schemeClr>
                          </a:solidFill>
                        </a:rPr>
                        <a:t>associations</a:t>
                      </a:r>
                      <a:endParaRPr lang="en-IN" sz="2400" b="1" dirty="0">
                        <a:solidFill>
                          <a:schemeClr val="accent2">
                            <a:lumMod val="50000"/>
                          </a:schemeClr>
                        </a:solidFill>
                      </a:endParaRPr>
                    </a:p>
                  </a:txBody>
                  <a:tcPr/>
                </a:tc>
                <a:tc>
                  <a:txBody>
                    <a:bodyPr/>
                    <a:lstStyle/>
                    <a:p>
                      <a:r>
                        <a:rPr lang="en-IN" sz="2400" b="1" dirty="0" smtClean="0">
                          <a:solidFill>
                            <a:schemeClr val="accent2">
                              <a:lumMod val="50000"/>
                            </a:schemeClr>
                          </a:solidFill>
                        </a:rPr>
                        <a:t>Support/confidence</a:t>
                      </a:r>
                      <a:endParaRPr lang="en-IN" sz="2400" b="1" dirty="0">
                        <a:solidFill>
                          <a:schemeClr val="accent2">
                            <a:lumMod val="50000"/>
                          </a:schemeClr>
                        </a:solidFill>
                      </a:endParaRPr>
                    </a:p>
                  </a:txBody>
                  <a:tcPr/>
                </a:tc>
              </a:tr>
              <a:tr h="546100">
                <a:tc>
                  <a:txBody>
                    <a:bodyPr/>
                    <a:lstStyle/>
                    <a:p>
                      <a:r>
                        <a:rPr lang="en-IN" sz="2400" b="1" dirty="0" smtClean="0">
                          <a:solidFill>
                            <a:srgbClr val="1E04BC"/>
                          </a:solidFill>
                        </a:rPr>
                        <a:t>Reinforcement Learning</a:t>
                      </a:r>
                      <a:endParaRPr lang="en-IN" sz="2400" b="1" dirty="0">
                        <a:solidFill>
                          <a:srgbClr val="1E04BC"/>
                        </a:solidFill>
                      </a:endParaRPr>
                    </a:p>
                  </a:txBody>
                  <a:tcPr/>
                </a:tc>
                <a:tc>
                  <a:txBody>
                    <a:bodyPr/>
                    <a:lstStyle/>
                    <a:p>
                      <a:r>
                        <a:rPr lang="en-IN" sz="2400" b="1" dirty="0" smtClean="0">
                          <a:solidFill>
                            <a:srgbClr val="1E04BC"/>
                          </a:solidFill>
                        </a:rPr>
                        <a:t>Cost/reward</a:t>
                      </a:r>
                      <a:endParaRPr lang="en-IN" sz="2400" b="1" dirty="0">
                        <a:solidFill>
                          <a:srgbClr val="1E04BC"/>
                        </a:solidFill>
                      </a:endParaRPr>
                    </a:p>
                  </a:txBody>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Classification Applications</a:t>
            </a:r>
            <a:endParaRPr lang="en-IN" dirty="0">
              <a:solidFill>
                <a:srgbClr val="FF0000"/>
              </a:solidFill>
            </a:endParaRPr>
          </a:p>
        </p:txBody>
      </p:sp>
      <p:sp>
        <p:nvSpPr>
          <p:cNvPr id="3" name="Content Placeholder 2"/>
          <p:cNvSpPr>
            <a:spLocks noGrp="1"/>
          </p:cNvSpPr>
          <p:nvPr>
            <p:ph idx="1"/>
          </p:nvPr>
        </p:nvSpPr>
        <p:spPr/>
        <p:txBody>
          <a:bodyPr/>
          <a:lstStyle/>
          <a:p>
            <a:r>
              <a:rPr lang="en-IN" dirty="0" smtClean="0"/>
              <a:t>Credit card fraud detection</a:t>
            </a:r>
          </a:p>
          <a:p>
            <a:pPr>
              <a:buNone/>
            </a:pPr>
            <a:r>
              <a:rPr lang="en-IN" dirty="0" smtClean="0"/>
              <a:t>      -</a:t>
            </a:r>
            <a:r>
              <a:rPr lang="en-IN" sz="2800" i="1" dirty="0" smtClean="0">
                <a:solidFill>
                  <a:srgbClr val="1E04BC"/>
                </a:solidFill>
              </a:rPr>
              <a:t>valid transaction or not</a:t>
            </a:r>
            <a:endParaRPr lang="en-IN" i="1" dirty="0" smtClean="0">
              <a:solidFill>
                <a:srgbClr val="1E04BC"/>
              </a:solidFill>
            </a:endParaRPr>
          </a:p>
          <a:p>
            <a:r>
              <a:rPr lang="en-IN" dirty="0" smtClean="0"/>
              <a:t>Sentiment Analysis</a:t>
            </a:r>
          </a:p>
          <a:p>
            <a:pPr>
              <a:buNone/>
            </a:pPr>
            <a:r>
              <a:rPr lang="en-IN" dirty="0" smtClean="0"/>
              <a:t>      -</a:t>
            </a:r>
            <a:r>
              <a:rPr lang="en-IN" sz="2800" i="1" dirty="0" smtClean="0">
                <a:solidFill>
                  <a:srgbClr val="1E04BC"/>
                </a:solidFill>
              </a:rPr>
              <a:t>opinion mining, buzz analysis, etc.</a:t>
            </a:r>
            <a:endParaRPr lang="en-IN" i="1" dirty="0" smtClean="0">
              <a:solidFill>
                <a:srgbClr val="1E04BC"/>
              </a:solidFill>
            </a:endParaRPr>
          </a:p>
          <a:p>
            <a:r>
              <a:rPr lang="en-IN" dirty="0" smtClean="0"/>
              <a:t>Medical diagnosis</a:t>
            </a:r>
          </a:p>
          <a:p>
            <a:pPr>
              <a:buNone/>
            </a:pPr>
            <a:r>
              <a:rPr lang="en-IN" dirty="0" smtClean="0"/>
              <a:t>      - </a:t>
            </a:r>
            <a:r>
              <a:rPr lang="en-IN" sz="2800" i="1" dirty="0" smtClean="0">
                <a:solidFill>
                  <a:srgbClr val="1E04BC"/>
                </a:solidFill>
              </a:rPr>
              <a:t>Risk Analysis</a:t>
            </a:r>
            <a:endParaRPr lang="en-IN" i="1" dirty="0">
              <a:solidFill>
                <a:srgbClr val="1E04BC"/>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Regression Applications</a:t>
            </a:r>
            <a:endParaRPr lang="en-IN" dirty="0">
              <a:solidFill>
                <a:srgbClr val="FF0000"/>
              </a:solidFill>
            </a:endParaRPr>
          </a:p>
        </p:txBody>
      </p:sp>
      <p:sp>
        <p:nvSpPr>
          <p:cNvPr id="3" name="Content Placeholder 2"/>
          <p:cNvSpPr>
            <a:spLocks noGrp="1"/>
          </p:cNvSpPr>
          <p:nvPr>
            <p:ph idx="1"/>
          </p:nvPr>
        </p:nvSpPr>
        <p:spPr>
          <a:xfrm>
            <a:off x="457200" y="1600200"/>
            <a:ext cx="8229600" cy="4953000"/>
          </a:xfrm>
        </p:spPr>
        <p:txBody>
          <a:bodyPr>
            <a:normAutofit/>
          </a:bodyPr>
          <a:lstStyle/>
          <a:p>
            <a:r>
              <a:rPr lang="en-IN" dirty="0" smtClean="0"/>
              <a:t>Time series Prediction</a:t>
            </a:r>
          </a:p>
          <a:p>
            <a:pPr>
              <a:buNone/>
            </a:pPr>
            <a:r>
              <a:rPr lang="en-IN" dirty="0" smtClean="0"/>
              <a:t>     - </a:t>
            </a:r>
            <a:r>
              <a:rPr lang="en-IN" sz="2800" i="1" dirty="0" smtClean="0">
                <a:solidFill>
                  <a:srgbClr val="1E04BC"/>
                </a:solidFill>
              </a:rPr>
              <a:t>Rain fall in a certain region</a:t>
            </a:r>
          </a:p>
          <a:p>
            <a:pPr>
              <a:buNone/>
            </a:pPr>
            <a:r>
              <a:rPr lang="en-IN" sz="2800" i="1" dirty="0" smtClean="0">
                <a:solidFill>
                  <a:srgbClr val="1E04BC"/>
                </a:solidFill>
              </a:rPr>
              <a:t>     - Spend on voice calls</a:t>
            </a:r>
            <a:endParaRPr lang="en-IN" dirty="0" smtClean="0"/>
          </a:p>
          <a:p>
            <a:r>
              <a:rPr lang="en-IN" dirty="0" smtClean="0"/>
              <a:t>Trend analysis</a:t>
            </a:r>
          </a:p>
          <a:p>
            <a:pPr>
              <a:buNone/>
            </a:pPr>
            <a:r>
              <a:rPr lang="en-IN" dirty="0" smtClean="0"/>
              <a:t>    - </a:t>
            </a:r>
            <a:r>
              <a:rPr lang="en-IN" sz="2800" i="1" dirty="0" smtClean="0">
                <a:solidFill>
                  <a:srgbClr val="1E04BC"/>
                </a:solidFill>
              </a:rPr>
              <a:t>Linear or exponential</a:t>
            </a:r>
            <a:endParaRPr lang="en-IN" i="1" dirty="0" smtClean="0">
              <a:solidFill>
                <a:srgbClr val="1E04BC"/>
              </a:solidFill>
            </a:endParaRPr>
          </a:p>
          <a:p>
            <a:r>
              <a:rPr lang="en-IN" dirty="0" smtClean="0"/>
              <a:t>Risk factor analysis</a:t>
            </a:r>
          </a:p>
          <a:p>
            <a:pPr>
              <a:buNone/>
            </a:pPr>
            <a:r>
              <a:rPr lang="en-IN" dirty="0" smtClean="0"/>
              <a:t>    - </a:t>
            </a:r>
            <a:r>
              <a:rPr lang="en-IN" sz="2800" i="1" dirty="0" smtClean="0">
                <a:solidFill>
                  <a:srgbClr val="1E04BC"/>
                </a:solidFill>
              </a:rPr>
              <a:t>factors contributing most to the output</a:t>
            </a:r>
          </a:p>
          <a:p>
            <a:pPr>
              <a:buNone/>
            </a:pPr>
            <a:endParaRPr lang="en-IN" dirty="0" smtClean="0"/>
          </a:p>
          <a:p>
            <a:pPr>
              <a:buNone/>
            </a:pP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Clustering Applications</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r>
              <a:rPr lang="en-IN" dirty="0" smtClean="0"/>
              <a:t>Customer data</a:t>
            </a:r>
          </a:p>
          <a:p>
            <a:pPr>
              <a:buNone/>
            </a:pPr>
            <a:r>
              <a:rPr lang="en-IN" dirty="0" smtClean="0"/>
              <a:t>      - </a:t>
            </a:r>
            <a:r>
              <a:rPr lang="en-IN" sz="2400" i="1" dirty="0" smtClean="0">
                <a:solidFill>
                  <a:srgbClr val="1E04BC"/>
                </a:solidFill>
              </a:rPr>
              <a:t>Discover classes of customers</a:t>
            </a:r>
            <a:endParaRPr lang="en-IN" i="1" dirty="0" smtClean="0">
              <a:solidFill>
                <a:srgbClr val="1E04BC"/>
              </a:solidFill>
            </a:endParaRPr>
          </a:p>
          <a:p>
            <a:r>
              <a:rPr lang="en-IN" dirty="0" smtClean="0"/>
              <a:t>Image pixels</a:t>
            </a:r>
          </a:p>
          <a:p>
            <a:pPr>
              <a:buNone/>
            </a:pPr>
            <a:r>
              <a:rPr lang="en-IN" dirty="0" smtClean="0"/>
              <a:t>     - </a:t>
            </a:r>
            <a:r>
              <a:rPr lang="en-IN" sz="2400" i="1" dirty="0" smtClean="0">
                <a:solidFill>
                  <a:srgbClr val="1E04BC"/>
                </a:solidFill>
              </a:rPr>
              <a:t>Discover Regions</a:t>
            </a:r>
            <a:endParaRPr lang="en-IN" i="1" dirty="0" smtClean="0">
              <a:solidFill>
                <a:srgbClr val="1E04BC"/>
              </a:solidFill>
            </a:endParaRPr>
          </a:p>
          <a:p>
            <a:r>
              <a:rPr lang="en-IN" dirty="0" smtClean="0"/>
              <a:t>Words</a:t>
            </a:r>
          </a:p>
          <a:p>
            <a:pPr>
              <a:buNone/>
            </a:pPr>
            <a:r>
              <a:rPr lang="en-IN" dirty="0" smtClean="0"/>
              <a:t>     - </a:t>
            </a:r>
            <a:r>
              <a:rPr lang="en-IN" sz="2400" i="1" dirty="0" smtClean="0">
                <a:solidFill>
                  <a:srgbClr val="1E04BC"/>
                </a:solidFill>
              </a:rPr>
              <a:t>synonyms</a:t>
            </a:r>
            <a:endParaRPr lang="en-IN" i="1" dirty="0" smtClean="0">
              <a:solidFill>
                <a:srgbClr val="1E04BC"/>
              </a:solidFill>
            </a:endParaRPr>
          </a:p>
          <a:p>
            <a:r>
              <a:rPr lang="en-IN" dirty="0" smtClean="0"/>
              <a:t>Documents</a:t>
            </a:r>
          </a:p>
          <a:p>
            <a:pPr>
              <a:buNone/>
            </a:pPr>
            <a:r>
              <a:rPr lang="en-IN" dirty="0" smtClean="0"/>
              <a:t>     - </a:t>
            </a:r>
            <a:r>
              <a:rPr lang="en-IN" sz="2400" i="1" dirty="0" smtClean="0">
                <a:solidFill>
                  <a:srgbClr val="1E04BC"/>
                </a:solidFill>
              </a:rPr>
              <a:t>Topics</a:t>
            </a:r>
            <a:endParaRPr lang="en-IN" i="1" dirty="0" smtClean="0">
              <a:solidFill>
                <a:srgbClr val="1E04BC"/>
              </a:solidFill>
            </a:endParaRPr>
          </a:p>
          <a:p>
            <a:pPr>
              <a:buNone/>
            </a:pPr>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Association Rule Mining</a:t>
            </a:r>
            <a:endParaRPr lang="en-IN" dirty="0">
              <a:solidFill>
                <a:srgbClr val="FF0000"/>
              </a:solidFill>
            </a:endParaRPr>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IN" dirty="0" smtClean="0"/>
              <a:t>Mining frequent patterns and rules</a:t>
            </a:r>
          </a:p>
          <a:p>
            <a:r>
              <a:rPr lang="en-IN" dirty="0" smtClean="0"/>
              <a:t>Association rules: conditional dependencies</a:t>
            </a:r>
          </a:p>
          <a:p>
            <a:r>
              <a:rPr lang="en-IN" dirty="0" smtClean="0"/>
              <a:t>Two stages</a:t>
            </a:r>
          </a:p>
          <a:p>
            <a:pPr>
              <a:buNone/>
            </a:pPr>
            <a:r>
              <a:rPr lang="en-IN" dirty="0" smtClean="0"/>
              <a:t>     - find frequent patterns</a:t>
            </a:r>
          </a:p>
          <a:p>
            <a:pPr>
              <a:buNone/>
            </a:pPr>
            <a:r>
              <a:rPr lang="en-IN" dirty="0" smtClean="0"/>
              <a:t>     - derive associations (A=&gt;B) from frequent patterns</a:t>
            </a:r>
          </a:p>
          <a:p>
            <a:r>
              <a:rPr lang="en-IN" dirty="0" smtClean="0"/>
              <a:t>Find patterns in </a:t>
            </a:r>
          </a:p>
          <a:p>
            <a:pPr>
              <a:buNone/>
            </a:pPr>
            <a:r>
              <a:rPr lang="en-IN" dirty="0" smtClean="0"/>
              <a:t>     - sequences (time series data, fault analysis)</a:t>
            </a:r>
          </a:p>
          <a:p>
            <a:pPr>
              <a:buNone/>
            </a:pPr>
            <a:r>
              <a:rPr lang="en-IN" dirty="0" smtClean="0"/>
              <a:t>     - Transactions (market basket data)</a:t>
            </a:r>
          </a:p>
          <a:p>
            <a:pPr>
              <a:buNone/>
            </a:pPr>
            <a:r>
              <a:rPr lang="en-IN" dirty="0" smtClean="0"/>
              <a:t>     - Graphs ( social network analysis )</a:t>
            </a:r>
          </a:p>
          <a:p>
            <a:pPr>
              <a:buNone/>
            </a:pPr>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Association Rule Mining Applications</a:t>
            </a:r>
            <a:endParaRPr lang="en-IN" dirty="0">
              <a:solidFill>
                <a:srgbClr val="FF0000"/>
              </a:solidFill>
            </a:endParaRPr>
          </a:p>
        </p:txBody>
      </p:sp>
      <p:sp>
        <p:nvSpPr>
          <p:cNvPr id="3" name="Content Placeholder 2"/>
          <p:cNvSpPr>
            <a:spLocks noGrp="1"/>
          </p:cNvSpPr>
          <p:nvPr>
            <p:ph idx="1"/>
          </p:nvPr>
        </p:nvSpPr>
        <p:spPr/>
        <p:txBody>
          <a:bodyPr/>
          <a:lstStyle/>
          <a:p>
            <a:r>
              <a:rPr lang="en-IN" dirty="0" smtClean="0"/>
              <a:t>Market basket analysis</a:t>
            </a:r>
          </a:p>
          <a:p>
            <a:r>
              <a:rPr lang="en-IN" dirty="0" smtClean="0"/>
              <a:t>Predicting co-</a:t>
            </a:r>
            <a:r>
              <a:rPr lang="en-IN" dirty="0" err="1" smtClean="0"/>
              <a:t>occurence</a:t>
            </a:r>
            <a:endParaRPr lang="en-IN" dirty="0" smtClean="0"/>
          </a:p>
          <a:p>
            <a:r>
              <a:rPr lang="en-IN" dirty="0" smtClean="0"/>
              <a:t>Time series analysis</a:t>
            </a:r>
          </a:p>
          <a:p>
            <a:pPr>
              <a:buNone/>
            </a:pPr>
            <a:r>
              <a:rPr lang="en-IN" dirty="0" smtClean="0"/>
              <a:t>     - trigger events</a:t>
            </a:r>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Reinforcement Learning</a:t>
            </a:r>
            <a:endParaRPr lang="en-IN" dirty="0">
              <a:solidFill>
                <a:srgbClr val="FF0000"/>
              </a:solidFill>
            </a:endParaRPr>
          </a:p>
        </p:txBody>
      </p:sp>
      <p:sp>
        <p:nvSpPr>
          <p:cNvPr id="3" name="Content Placeholder 2"/>
          <p:cNvSpPr>
            <a:spLocks noGrp="1"/>
          </p:cNvSpPr>
          <p:nvPr>
            <p:ph idx="1"/>
          </p:nvPr>
        </p:nvSpPr>
        <p:spPr/>
        <p:txBody>
          <a:bodyPr/>
          <a:lstStyle/>
          <a:p>
            <a:r>
              <a:rPr lang="en-IN" dirty="0" smtClean="0"/>
              <a:t>Game playing</a:t>
            </a:r>
          </a:p>
          <a:p>
            <a:r>
              <a:rPr lang="en-IN" dirty="0" smtClean="0"/>
              <a:t>Adaptive control</a:t>
            </a:r>
          </a:p>
          <a:p>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91600" cy="1143000"/>
          </a:xfrm>
        </p:spPr>
        <p:txBody>
          <a:bodyPr>
            <a:normAutofit fontScale="90000"/>
          </a:bodyPr>
          <a:lstStyle/>
          <a:p>
            <a:r>
              <a:rPr lang="en-IN" b="1" dirty="0" smtClean="0"/>
              <a:t/>
            </a:r>
            <a:br>
              <a:rPr lang="en-IN" b="1" dirty="0" smtClean="0"/>
            </a:br>
            <a:r>
              <a:rPr lang="en-IN" b="1" dirty="0" smtClean="0">
                <a:solidFill>
                  <a:srgbClr val="FF0000"/>
                </a:solidFill>
              </a:rPr>
              <a:t>Spam Mail detection learning problem</a:t>
            </a:r>
            <a:r>
              <a:rPr lang="en-IN" dirty="0" smtClean="0"/>
              <a:t/>
            </a:r>
            <a:br>
              <a:rPr lang="en-IN" dirty="0" smtClean="0"/>
            </a:br>
            <a:endParaRPr lang="en-IN" dirty="0"/>
          </a:p>
        </p:txBody>
      </p:sp>
      <p:sp>
        <p:nvSpPr>
          <p:cNvPr id="3" name="Content Placeholder 2"/>
          <p:cNvSpPr>
            <a:spLocks noGrp="1"/>
          </p:cNvSpPr>
          <p:nvPr>
            <p:ph idx="1"/>
          </p:nvPr>
        </p:nvSpPr>
        <p:spPr/>
        <p:txBody>
          <a:bodyPr/>
          <a:lstStyle/>
          <a:p>
            <a:r>
              <a:rPr lang="en-IN" b="1" dirty="0" smtClean="0"/>
              <a:t>Task T:</a:t>
            </a:r>
            <a:r>
              <a:rPr lang="en-IN" dirty="0" smtClean="0"/>
              <a:t> To recognize and classify emails into ‘spam’ or ‘not spam’.</a:t>
            </a:r>
          </a:p>
          <a:p>
            <a:r>
              <a:rPr lang="en-IN" b="1" dirty="0" smtClean="0"/>
              <a:t>Performance measure P:</a:t>
            </a:r>
            <a:r>
              <a:rPr lang="en-IN" dirty="0" smtClean="0"/>
              <a:t> Total percent of mails being correctly classified as ‘spam’ (or ‘not spam’ ) by the program.</a:t>
            </a:r>
          </a:p>
          <a:p>
            <a:r>
              <a:rPr lang="en-IN" b="1" dirty="0" smtClean="0"/>
              <a:t>Training experience E:</a:t>
            </a:r>
            <a:r>
              <a:rPr lang="en-IN" dirty="0" smtClean="0"/>
              <a:t> A set of mails with given labels (‘spam’ / ‘not spam’).</a:t>
            </a:r>
          </a:p>
          <a:p>
            <a:endParaRPr lang="en-IN"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fontScale="90000"/>
          </a:bodyPr>
          <a:lstStyle/>
          <a:p>
            <a:r>
              <a:rPr lang="en-IN" dirty="0" smtClean="0"/>
              <a:t/>
            </a:r>
            <a:br>
              <a:rPr lang="en-IN" dirty="0" smtClean="0"/>
            </a:br>
            <a:r>
              <a:rPr lang="en-IN" sz="4000" dirty="0" smtClean="0">
                <a:solidFill>
                  <a:srgbClr val="FF0000"/>
                </a:solidFill>
              </a:rPr>
              <a:t>Handwriting recognition learning problem</a:t>
            </a:r>
            <a:br>
              <a:rPr lang="en-IN" sz="4000" dirty="0" smtClean="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IN" dirty="0" smtClean="0"/>
              <a:t>For handwriting recognition learning problem, TPE would be,</a:t>
            </a:r>
          </a:p>
          <a:p>
            <a:r>
              <a:rPr lang="en-IN" b="1" dirty="0" smtClean="0"/>
              <a:t>Task T</a:t>
            </a:r>
            <a:r>
              <a:rPr lang="en-IN" dirty="0" smtClean="0"/>
              <a:t>: To recognize and classify handwritten words within the given images.</a:t>
            </a:r>
          </a:p>
          <a:p>
            <a:r>
              <a:rPr lang="en-IN" b="1" dirty="0" smtClean="0"/>
              <a:t>Performance measure P</a:t>
            </a:r>
            <a:r>
              <a:rPr lang="en-IN" dirty="0" smtClean="0"/>
              <a:t>: Total percent of words being correctly classified by the program.</a:t>
            </a:r>
          </a:p>
          <a:p>
            <a:r>
              <a:rPr lang="en-IN" b="1" dirty="0" smtClean="0"/>
              <a:t>Training experience E</a:t>
            </a:r>
            <a:r>
              <a:rPr lang="en-IN" dirty="0" smtClean="0"/>
              <a:t>: A set of handwritten words with given classifications/labels.</a:t>
            </a:r>
          </a:p>
          <a:p>
            <a:r>
              <a:rPr lang="en-IN" dirty="0" smtClean="0"/>
              <a:t/>
            </a:r>
            <a:br>
              <a:rPr lang="en-IN" dirty="0" smtClean="0"/>
            </a:br>
            <a:endParaRPr lang="en-I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Checkers learning problem</a:t>
            </a:r>
            <a:r>
              <a:rPr lang="en-IN" dirty="0" smtClean="0"/>
              <a:t/>
            </a:r>
            <a:br>
              <a:rPr lang="en-IN" dirty="0" smtClean="0"/>
            </a:br>
            <a:endParaRPr lang="en-IN" dirty="0"/>
          </a:p>
        </p:txBody>
      </p:sp>
      <p:sp>
        <p:nvSpPr>
          <p:cNvPr id="3" name="Content Placeholder 2"/>
          <p:cNvSpPr>
            <a:spLocks noGrp="1"/>
          </p:cNvSpPr>
          <p:nvPr>
            <p:ph idx="1"/>
          </p:nvPr>
        </p:nvSpPr>
        <p:spPr/>
        <p:txBody>
          <a:bodyPr/>
          <a:lstStyle/>
          <a:p>
            <a:r>
              <a:rPr lang="en-IN" dirty="0" smtClean="0"/>
              <a:t>For a checkers learning problem, TPE would be,</a:t>
            </a:r>
          </a:p>
          <a:p>
            <a:r>
              <a:rPr lang="en-IN" b="1" dirty="0" smtClean="0"/>
              <a:t>Task T</a:t>
            </a:r>
            <a:r>
              <a:rPr lang="en-IN" dirty="0" smtClean="0"/>
              <a:t>: To play checkers</a:t>
            </a:r>
          </a:p>
          <a:p>
            <a:r>
              <a:rPr lang="en-IN" b="1" dirty="0" smtClean="0"/>
              <a:t>Performance measure P</a:t>
            </a:r>
            <a:r>
              <a:rPr lang="en-IN" dirty="0" smtClean="0"/>
              <a:t>: Total percent of the game won in the tournament.</a:t>
            </a:r>
          </a:p>
          <a:p>
            <a:r>
              <a:rPr lang="en-IN" b="1" dirty="0" smtClean="0"/>
              <a:t>Training experience E</a:t>
            </a:r>
            <a:r>
              <a:rPr lang="en-IN" dirty="0" smtClean="0"/>
              <a:t>: A set of games played against itself</a:t>
            </a:r>
          </a:p>
          <a:p>
            <a:endParaRPr lang="en-I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IN" dirty="0" smtClean="0"/>
              <a:t>If we are able to find the factors T, P, and E of a learning problem, we will be able to decide the following three key components:</a:t>
            </a:r>
          </a:p>
          <a:p>
            <a:pPr>
              <a:buNone/>
            </a:pPr>
            <a:r>
              <a:rPr lang="en-IN" dirty="0" smtClean="0"/>
              <a:t>1. The exact type of knowledge to be learned (Choosing the Target Function)</a:t>
            </a:r>
          </a:p>
          <a:p>
            <a:pPr>
              <a:buNone/>
            </a:pPr>
            <a:r>
              <a:rPr lang="en-IN" dirty="0" smtClean="0"/>
              <a:t>2. A representation for this target knowledge (Choosing a representation for the Target Function)</a:t>
            </a:r>
          </a:p>
          <a:p>
            <a:pPr>
              <a:buNone/>
            </a:pPr>
            <a:r>
              <a:rPr lang="en-IN" dirty="0" smtClean="0"/>
              <a:t>3. A learning mechanism (Choosing an approximation algorithm for the Target Function)</a:t>
            </a:r>
          </a:p>
          <a:p>
            <a:pPr>
              <a:buNone/>
            </a:pPr>
            <a:r>
              <a:rPr lang="en-IN" dirty="0" smtClean="0"/>
              <a:t/>
            </a:r>
            <a:br>
              <a:rPr lang="en-IN" dirty="0" smtClean="0"/>
            </a:br>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Data</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66255" y="1600200"/>
            <a:ext cx="8211489" cy="4525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Matching</a:t>
            </a:r>
            <a:endParaRPr lang="en-US" dirty="0"/>
          </a:p>
        </p:txBody>
      </p:sp>
      <p:sp>
        <p:nvSpPr>
          <p:cNvPr id="3" name="Content Placeholder 2"/>
          <p:cNvSpPr>
            <a:spLocks noGrp="1"/>
          </p:cNvSpPr>
          <p:nvPr>
            <p:ph idx="1"/>
          </p:nvPr>
        </p:nvSpPr>
        <p:spPr>
          <a:xfrm>
            <a:off x="228600" y="1219200"/>
            <a:ext cx="8610600" cy="5486400"/>
          </a:xfrm>
        </p:spPr>
        <p:txBody>
          <a:bodyPr>
            <a:normAutofit/>
          </a:bodyPr>
          <a:lstStyle/>
          <a:p>
            <a:r>
              <a:rPr lang="en-IN" dirty="0" smtClean="0"/>
              <a:t>Matching is carried out by using proximity measure which can be a distance/Dissimilarity /similarity measure.</a:t>
            </a:r>
          </a:p>
          <a:p>
            <a:r>
              <a:rPr lang="en-IN" dirty="0" smtClean="0"/>
              <a:t>Two data items </a:t>
            </a:r>
            <a:r>
              <a:rPr lang="en-IN" dirty="0" smtClean="0">
                <a:solidFill>
                  <a:srgbClr val="FF0000"/>
                </a:solidFill>
              </a:rPr>
              <a:t>u</a:t>
            </a:r>
            <a:r>
              <a:rPr lang="en-IN" dirty="0" smtClean="0"/>
              <a:t> and </a:t>
            </a:r>
            <a:r>
              <a:rPr lang="en-IN" dirty="0" smtClean="0">
                <a:solidFill>
                  <a:srgbClr val="FF0000"/>
                </a:solidFill>
              </a:rPr>
              <a:t>v</a:t>
            </a:r>
            <a:r>
              <a:rPr lang="en-IN" dirty="0" smtClean="0"/>
              <a:t>  represented as n dimensional vectors, match better when the distance between them is smaller or when the similarity between them is larger.</a:t>
            </a:r>
          </a:p>
          <a:p>
            <a:r>
              <a:rPr lang="en-IN" dirty="0" smtClean="0">
                <a:solidFill>
                  <a:srgbClr val="FF0000"/>
                </a:solidFill>
              </a:rPr>
              <a:t>Euclidean distance</a:t>
            </a:r>
            <a:r>
              <a:rPr lang="en-IN" dirty="0" smtClean="0"/>
              <a:t>- distance measure</a:t>
            </a:r>
          </a:p>
          <a:p>
            <a:r>
              <a:rPr lang="en-IN" dirty="0" smtClean="0">
                <a:solidFill>
                  <a:srgbClr val="FF0000"/>
                </a:solidFill>
              </a:rPr>
              <a:t>Cosine of the angle between vectors- </a:t>
            </a:r>
            <a:r>
              <a:rPr lang="en-IN" dirty="0" smtClean="0"/>
              <a:t>similarity measure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Euclidean distance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032281" y="1600200"/>
            <a:ext cx="7079438" cy="4525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r>
              <a:rPr lang="en-US" sz="2400" dirty="0" smtClean="0"/>
              <a:t>This distance is given by the square root of the sum of the squared differences between the corresponding coordinates of the two points. Mathematically, the Euclidean distance between the points </a:t>
            </a:r>
            <a:r>
              <a:rPr lang="en-US" sz="2400" b="1" dirty="0" smtClean="0"/>
              <a:t>x</a:t>
            </a:r>
            <a:r>
              <a:rPr lang="en-US" sz="2400" dirty="0" smtClean="0"/>
              <a:t> and </a:t>
            </a:r>
            <a:r>
              <a:rPr lang="en-US" sz="2400" b="1" dirty="0" smtClean="0"/>
              <a:t>y </a:t>
            </a:r>
            <a:r>
              <a:rPr lang="en-US" sz="2400" dirty="0" smtClean="0"/>
              <a:t>in two-dimensional plane is given by:</a:t>
            </a:r>
          </a:p>
          <a:p>
            <a:r>
              <a:rPr lang="en-US" sz="2400" dirty="0" smtClean="0"/>
              <a:t> </a:t>
            </a:r>
            <a:br>
              <a:rPr lang="en-US" sz="2400" dirty="0" smtClean="0"/>
            </a:br>
            <a:endParaRPr lang="en-US" sz="2400" dirty="0" smtClean="0"/>
          </a:p>
          <a:p>
            <a:r>
              <a:rPr lang="en-US" sz="2400" dirty="0" smtClean="0"/>
              <a:t>Extending to n dimensions, the points </a:t>
            </a:r>
            <a:r>
              <a:rPr lang="en-US" sz="2400" b="1" dirty="0" smtClean="0"/>
              <a:t>x</a:t>
            </a:r>
            <a:r>
              <a:rPr lang="en-US" sz="2400" dirty="0" smtClean="0"/>
              <a:t> and </a:t>
            </a:r>
            <a:r>
              <a:rPr lang="en-US" sz="2400" b="1" dirty="0" smtClean="0"/>
              <a:t>y </a:t>
            </a:r>
            <a:r>
              <a:rPr lang="en-US" sz="2400" dirty="0" smtClean="0"/>
              <a:t>are of the form </a:t>
            </a:r>
            <a:r>
              <a:rPr lang="en-US" sz="2400" b="1" dirty="0" smtClean="0"/>
              <a:t>x</a:t>
            </a:r>
            <a:r>
              <a:rPr lang="en-US" sz="2400" dirty="0" smtClean="0"/>
              <a:t> = (x1, x2, …, </a:t>
            </a:r>
            <a:r>
              <a:rPr lang="en-US" sz="2400" dirty="0" err="1" smtClean="0"/>
              <a:t>xn</a:t>
            </a:r>
            <a:r>
              <a:rPr lang="en-US" sz="2400" dirty="0" smtClean="0"/>
              <a:t>) and </a:t>
            </a:r>
            <a:r>
              <a:rPr lang="en-US" sz="2400" b="1" dirty="0" smtClean="0"/>
              <a:t>y </a:t>
            </a:r>
            <a:r>
              <a:rPr lang="en-US" sz="2400" dirty="0" smtClean="0"/>
              <a:t>= (y1, y2, …, </a:t>
            </a:r>
            <a:r>
              <a:rPr lang="en-US" sz="2400" dirty="0" err="1" smtClean="0"/>
              <a:t>yn</a:t>
            </a:r>
            <a:r>
              <a:rPr lang="en-US" sz="2400" dirty="0" smtClean="0"/>
              <a:t>), we have the following equation for Euclidean distance:</a:t>
            </a:r>
          </a:p>
          <a:p>
            <a:endParaRPr lang="en-US" dirty="0"/>
          </a:p>
        </p:txBody>
      </p:sp>
      <p:pic>
        <p:nvPicPr>
          <p:cNvPr id="2051" name="Picture 3"/>
          <p:cNvPicPr>
            <a:picLocks noChangeAspect="1" noChangeArrowheads="1"/>
          </p:cNvPicPr>
          <p:nvPr/>
        </p:nvPicPr>
        <p:blipFill>
          <a:blip r:embed="rId2"/>
          <a:srcRect/>
          <a:stretch>
            <a:fillRect/>
          </a:stretch>
        </p:blipFill>
        <p:spPr bwMode="auto">
          <a:xfrm>
            <a:off x="1524000" y="2209800"/>
            <a:ext cx="4854575" cy="784225"/>
          </a:xfrm>
          <a:prstGeom prst="rect">
            <a:avLst/>
          </a:prstGeom>
          <a:noFill/>
          <a:ln w="9525">
            <a:noFill/>
            <a:miter lim="800000"/>
            <a:headEnd/>
            <a:tailEnd/>
          </a:ln>
          <a:effectLst/>
        </p:spPr>
      </p:pic>
      <p:pic>
        <p:nvPicPr>
          <p:cNvPr id="2053" name="Picture 5"/>
          <p:cNvPicPr>
            <a:picLocks noChangeAspect="1" noChangeArrowheads="1"/>
          </p:cNvPicPr>
          <p:nvPr/>
        </p:nvPicPr>
        <p:blipFill>
          <a:blip r:embed="rId3"/>
          <a:srcRect/>
          <a:stretch>
            <a:fillRect/>
          </a:stretch>
        </p:blipFill>
        <p:spPr bwMode="auto">
          <a:xfrm>
            <a:off x="1752600" y="4495800"/>
            <a:ext cx="3521075" cy="1279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Cosine of the angle between vectors</a:t>
            </a:r>
            <a:endParaRPr lang="en-US" dirty="0"/>
          </a:p>
        </p:txBody>
      </p:sp>
      <p:sp>
        <p:nvSpPr>
          <p:cNvPr id="3" name="Content Placeholder 2"/>
          <p:cNvSpPr>
            <a:spLocks noGrp="1"/>
          </p:cNvSpPr>
          <p:nvPr>
            <p:ph idx="1"/>
          </p:nvPr>
        </p:nvSpPr>
        <p:spPr/>
        <p:txBody>
          <a:bodyPr>
            <a:normAutofit/>
          </a:bodyPr>
          <a:lstStyle/>
          <a:p>
            <a:pPr algn="just"/>
            <a:r>
              <a:rPr lang="en-US" sz="2000" dirty="0" smtClean="0"/>
              <a:t>Cosine Similarity only considers the angle between vectors, regardless of their magnitude (length). To calculate the cosine similarity between two vectors, one can simply divide the dot product of both vectors by the product of their lengths. This scales the vector magnitudes to 1. Thus cosine similarity is invariant to vector magnitude. It’s particularly useful when you want to compare vectors based purely on their directional similarity.</a:t>
            </a:r>
          </a:p>
          <a:p>
            <a:pPr algn="just"/>
            <a:r>
              <a:rPr lang="en-US" sz="2000" dirty="0" smtClean="0"/>
              <a:t>The formula to find the cosine of the angle θ\theta between two vectors </a:t>
            </a:r>
            <a:r>
              <a:rPr lang="en-US" sz="2000" b="1" dirty="0" smtClean="0"/>
              <a:t>A</a:t>
            </a:r>
            <a:r>
              <a:rPr lang="en-US" sz="2000" dirty="0" smtClean="0"/>
              <a:t> and </a:t>
            </a:r>
            <a:r>
              <a:rPr lang="en-US" sz="2000" b="1" dirty="0" smtClean="0"/>
              <a:t>B</a:t>
            </a:r>
            <a:r>
              <a:rPr lang="en-US" sz="2000" dirty="0" smtClean="0"/>
              <a:t> is:</a:t>
            </a:r>
            <a:endParaRPr lang="en-US" sz="2000" dirty="0"/>
          </a:p>
        </p:txBody>
      </p:sp>
      <p:pic>
        <p:nvPicPr>
          <p:cNvPr id="3074" name="Picture 2"/>
          <p:cNvPicPr>
            <a:picLocks noChangeAspect="1" noChangeArrowheads="1"/>
          </p:cNvPicPr>
          <p:nvPr/>
        </p:nvPicPr>
        <p:blipFill>
          <a:blip r:embed="rId2"/>
          <a:srcRect/>
          <a:stretch>
            <a:fillRect/>
          </a:stretch>
        </p:blipFill>
        <p:spPr bwMode="auto">
          <a:xfrm>
            <a:off x="2514600" y="4495800"/>
            <a:ext cx="2337394" cy="99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228600" y="152400"/>
            <a:ext cx="5029200" cy="1669928"/>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304800" y="2057400"/>
            <a:ext cx="8001000" cy="461478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381000" y="457200"/>
            <a:ext cx="7239000" cy="5105400"/>
          </a:xfrm>
          <a:prstGeom prst="rect">
            <a:avLst/>
          </a:prstGeom>
          <a:noFill/>
          <a:ln w="9525">
            <a:noFill/>
            <a:miter lim="800000"/>
            <a:headEnd/>
            <a:tailEnd/>
          </a:ln>
          <a:effectLst/>
        </p:spPr>
      </p:pic>
      <p:sp>
        <p:nvSpPr>
          <p:cNvPr id="5" name="Rectangle 4"/>
          <p:cNvSpPr/>
          <p:nvPr/>
        </p:nvSpPr>
        <p:spPr>
          <a:xfrm>
            <a:off x="457200" y="5715000"/>
            <a:ext cx="7086600" cy="646331"/>
          </a:xfrm>
          <a:prstGeom prst="rect">
            <a:avLst/>
          </a:prstGeom>
        </p:spPr>
        <p:txBody>
          <a:bodyPr wrap="square">
            <a:spAutoFit/>
          </a:bodyPr>
          <a:lstStyle/>
          <a:p>
            <a:r>
              <a:rPr lang="en-US" dirty="0" smtClean="0"/>
              <a:t>So, the cosine of the angle between vectors </a:t>
            </a:r>
            <a:r>
              <a:rPr lang="en-US" b="1" dirty="0" smtClean="0"/>
              <a:t>A</a:t>
            </a:r>
            <a:r>
              <a:rPr lang="en-US" dirty="0" smtClean="0"/>
              <a:t> and </a:t>
            </a:r>
            <a:r>
              <a:rPr lang="en-US" b="1" dirty="0" smtClean="0"/>
              <a:t>B</a:t>
            </a:r>
            <a:r>
              <a:rPr lang="en-US" dirty="0" smtClean="0"/>
              <a:t> is 0, indicating that the vectors are perpendicular to each other (orthogonal).</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Stages in Machine Learning</a:t>
            </a:r>
            <a:endParaRPr lang="en-US" dirty="0"/>
          </a:p>
        </p:txBody>
      </p:sp>
      <p:sp>
        <p:nvSpPr>
          <p:cNvPr id="4" name="Content Placeholder 3"/>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228600" y="1371600"/>
            <a:ext cx="8726056"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Acquisition</a:t>
            </a:r>
            <a:endParaRPr lang="en-US" dirty="0"/>
          </a:p>
        </p:txBody>
      </p:sp>
      <p:sp>
        <p:nvSpPr>
          <p:cNvPr id="3" name="Content Placeholder 2"/>
          <p:cNvSpPr>
            <a:spLocks noGrp="1"/>
          </p:cNvSpPr>
          <p:nvPr>
            <p:ph idx="1"/>
          </p:nvPr>
        </p:nvSpPr>
        <p:spPr/>
        <p:txBody>
          <a:bodyPr/>
          <a:lstStyle/>
          <a:p>
            <a:endParaRPr lang="en-IN" dirty="0" smtClean="0"/>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 Engineering</a:t>
            </a:r>
            <a:endParaRPr lang="en-US" dirty="0"/>
          </a:p>
        </p:txBody>
      </p:sp>
      <p:sp>
        <p:nvSpPr>
          <p:cNvPr id="3" name="Content Placeholder 2"/>
          <p:cNvSpPr>
            <a:spLocks noGrp="1"/>
          </p:cNvSpPr>
          <p:nvPr>
            <p:ph idx="1"/>
          </p:nvPr>
        </p:nvSpPr>
        <p:spPr/>
        <p:txBody>
          <a:bodyPr>
            <a:normAutofit fontScale="92500"/>
          </a:bodyPr>
          <a:lstStyle/>
          <a:p>
            <a:r>
              <a:rPr lang="en-IN" dirty="0" smtClean="0">
                <a:solidFill>
                  <a:srgbClr val="FF0000"/>
                </a:solidFill>
              </a:rPr>
              <a:t>Data </a:t>
            </a:r>
            <a:r>
              <a:rPr lang="en-IN" dirty="0" err="1" smtClean="0">
                <a:solidFill>
                  <a:srgbClr val="FF0000"/>
                </a:solidFill>
              </a:rPr>
              <a:t>Preprocessing</a:t>
            </a:r>
            <a:r>
              <a:rPr lang="en-IN" dirty="0" smtClean="0"/>
              <a:t>: </a:t>
            </a:r>
          </a:p>
          <a:p>
            <a:pPr>
              <a:buNone/>
            </a:pPr>
            <a:r>
              <a:rPr lang="en-IN" dirty="0" smtClean="0"/>
              <a:t>         1. Missing Data</a:t>
            </a:r>
          </a:p>
          <a:p>
            <a:pPr>
              <a:buNone/>
            </a:pPr>
            <a:r>
              <a:rPr lang="en-IN" dirty="0" smtClean="0"/>
              <a:t>         2. Different ranges for different variables</a:t>
            </a:r>
          </a:p>
          <a:p>
            <a:pPr>
              <a:buNone/>
            </a:pPr>
            <a:r>
              <a:rPr lang="en-IN" dirty="0" smtClean="0"/>
              <a:t>         3. outliers</a:t>
            </a:r>
          </a:p>
          <a:p>
            <a:pPr>
              <a:buNone/>
            </a:pPr>
            <a:r>
              <a:rPr lang="en-IN" dirty="0" smtClean="0"/>
              <a:t>1. Missing Data: </a:t>
            </a:r>
          </a:p>
          <a:p>
            <a:pPr indent="466725"/>
            <a:r>
              <a:rPr lang="en-IN" dirty="0" smtClean="0"/>
              <a:t> use the nearest </a:t>
            </a:r>
            <a:r>
              <a:rPr lang="en-IN" dirty="0" err="1" smtClean="0"/>
              <a:t>neighbor</a:t>
            </a:r>
            <a:endParaRPr lang="en-IN" dirty="0" smtClean="0"/>
          </a:p>
          <a:p>
            <a:pPr indent="15875"/>
            <a:r>
              <a:rPr lang="en-IN" dirty="0" smtClean="0"/>
              <a:t>     use a larger </a:t>
            </a:r>
            <a:r>
              <a:rPr lang="en-IN" dirty="0" err="1" smtClean="0"/>
              <a:t>neighborhood</a:t>
            </a:r>
            <a:endParaRPr lang="en-IN" dirty="0" smtClean="0"/>
          </a:p>
          <a:p>
            <a:pPr indent="15875"/>
            <a:r>
              <a:rPr lang="en-IN" dirty="0" smtClean="0"/>
              <a:t>     cluster the data and locate the nearest cluster</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143000"/>
          </a:xfrm>
        </p:spPr>
        <p:txBody>
          <a:bodyPr>
            <a:normAutofit fontScale="90000"/>
          </a:bodyPr>
          <a:lstStyle/>
          <a:p>
            <a:r>
              <a:rPr lang="en-IN" dirty="0" smtClean="0"/>
              <a:t>2. Different ranges for different variables</a:t>
            </a:r>
            <a:endParaRPr lang="en-US" dirty="0"/>
          </a:p>
        </p:txBody>
      </p:sp>
      <p:sp>
        <p:nvSpPr>
          <p:cNvPr id="3" name="Content Placeholder 2"/>
          <p:cNvSpPr>
            <a:spLocks noGrp="1"/>
          </p:cNvSpPr>
          <p:nvPr>
            <p:ph idx="1"/>
          </p:nvPr>
        </p:nvSpPr>
        <p:spPr/>
        <p:txBody>
          <a:bodyPr/>
          <a:lstStyle/>
          <a:p>
            <a:r>
              <a:rPr lang="en-IN" dirty="0" smtClean="0"/>
              <a:t>Ex: consider the height and weight vector of adult and child. (1.6,75000) (0.6, 5000)</a:t>
            </a:r>
          </a:p>
          <a:p>
            <a:r>
              <a:rPr lang="en-IN" dirty="0" smtClean="0">
                <a:solidFill>
                  <a:srgbClr val="FF0000"/>
                </a:solidFill>
              </a:rPr>
              <a:t>Normalization</a:t>
            </a:r>
          </a:p>
          <a:p>
            <a:pPr>
              <a:buNone/>
            </a:pPr>
            <a:r>
              <a:rPr lang="en-IN" dirty="0" smtClean="0">
                <a:solidFill>
                  <a:srgbClr val="FF0000"/>
                </a:solidFill>
              </a:rPr>
              <a:t>    1. Scaling using the range</a:t>
            </a:r>
          </a:p>
          <a:p>
            <a:pPr>
              <a:buNone/>
            </a:pPr>
            <a:r>
              <a:rPr lang="en-IN" dirty="0" smtClean="0">
                <a:solidFill>
                  <a:srgbClr val="FF0000"/>
                </a:solidFill>
              </a:rPr>
              <a:t>     2. Standardization</a:t>
            </a:r>
            <a:endParaRPr lang="en-US"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b="1" dirty="0" smtClean="0"/>
              <a:t>Min-Max Scaling</a:t>
            </a:r>
          </a:p>
          <a:p>
            <a:r>
              <a:rPr lang="en-US" dirty="0" smtClean="0"/>
              <a:t>Min Max Scaling transforms all values to a fixed range, typically between 0 and 1, by subtracting the minimum value and dividing by the range.</a:t>
            </a:r>
          </a:p>
          <a:p>
            <a:endParaRPr lang="en-US" dirty="0"/>
          </a:p>
        </p:txBody>
      </p:sp>
      <p:pic>
        <p:nvPicPr>
          <p:cNvPr id="1027" name="Picture 3"/>
          <p:cNvPicPr>
            <a:picLocks noChangeAspect="1" noChangeArrowheads="1"/>
          </p:cNvPicPr>
          <p:nvPr/>
        </p:nvPicPr>
        <p:blipFill>
          <a:blip r:embed="rId2"/>
          <a:srcRect/>
          <a:stretch>
            <a:fillRect/>
          </a:stretch>
        </p:blipFill>
        <p:spPr bwMode="auto">
          <a:xfrm>
            <a:off x="2514600" y="4191000"/>
            <a:ext cx="3532909" cy="12954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981200" y="1600200"/>
            <a:ext cx="3960218" cy="4525963"/>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FF0000"/>
                </a:solidFill>
              </a:rPr>
              <a:t>Standardization</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Standardization is a scaling technique that transforms features to have a mean of 0 and a standard deviation of 1. In other words, it centers the feature values around 0 and scales them to have unit variance. This is achieved by subtracting the mean value of each feature and then dividing by the standard deviation of the feature:</a:t>
            </a:r>
          </a:p>
          <a:p>
            <a:r>
              <a:rPr lang="en-US" dirty="0" smtClean="0"/>
              <a:t>z = (x – μ) / σ</a:t>
            </a:r>
          </a:p>
          <a:p>
            <a:pPr algn="just"/>
            <a:r>
              <a:rPr lang="en-US" dirty="0" smtClean="0"/>
              <a:t>where z is the standardized value, x is the original feature value, μ is the mean of the feature values, and σ is the standard deviation of the feature values.</a:t>
            </a:r>
          </a:p>
          <a:p>
            <a:pPr algn="just"/>
            <a:r>
              <a:rPr lang="en-US" dirty="0" smtClean="0"/>
              <a:t>For example, let‘s say we have a dataset with a feature called "age" that has the following values: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a:bodyPr>
          <a:lstStyle/>
          <a:p>
            <a:r>
              <a:rPr lang="en-US" dirty="0" smtClean="0"/>
              <a:t>[25, 30, 35, 40, 45]The mean of these values is 35 and the standard deviation is 7.91. To standardize the "age" feature, we would perform the following calculation on each value:</a:t>
            </a:r>
          </a:p>
          <a:p>
            <a:endParaRPr lang="en-IN" dirty="0" smtClean="0"/>
          </a:p>
          <a:p>
            <a:endParaRPr lang="en-US" dirty="0" smtClean="0"/>
          </a:p>
          <a:p>
            <a:r>
              <a:rPr lang="en-US" dirty="0" smtClean="0"/>
              <a:t>z = (x – 35) / 7.91</a:t>
            </a:r>
          </a:p>
          <a:p>
            <a:r>
              <a:rPr lang="en-US" dirty="0" smtClean="0"/>
              <a:t>So the standardized "age" values would be:</a:t>
            </a:r>
          </a:p>
          <a:p>
            <a:r>
              <a:rPr lang="en-US" dirty="0" smtClean="0"/>
              <a:t>[-1.26, -0.63, 0.0, 0.63, 1.26]As you can see, the standardized values are centered around a mean of 0 and have a standard deviation of 1.</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2286000" y="2362200"/>
            <a:ext cx="3581400" cy="1059722"/>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 outliers</a:t>
            </a:r>
            <a:endParaRPr lang="en-US" dirty="0"/>
          </a:p>
        </p:txBody>
      </p:sp>
      <p:sp>
        <p:nvSpPr>
          <p:cNvPr id="3" name="Content Placeholder 2"/>
          <p:cNvSpPr>
            <a:spLocks noGrp="1"/>
          </p:cNvSpPr>
          <p:nvPr>
            <p:ph idx="1"/>
          </p:nvPr>
        </p:nvSpPr>
        <p:spPr/>
        <p:txBody>
          <a:bodyPr/>
          <a:lstStyle/>
          <a:p>
            <a:r>
              <a:rPr lang="en-US" b="1" u="sng" dirty="0" smtClean="0">
                <a:hlinkClick r:id="rId2"/>
              </a:rPr>
              <a:t>Outlier</a:t>
            </a:r>
            <a:r>
              <a:rPr lang="en-US" dirty="0" smtClean="0"/>
              <a:t> is an observation in a given dataset that lies far from the rest of the observations. That means an outlier treatment is vastly larger or smaller than the remaining values in the set.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Representation </a:t>
            </a:r>
            <a:endParaRPr lang="en-US" dirty="0"/>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algn="just"/>
            <a:r>
              <a:rPr lang="en-US" sz="2400" b="1" dirty="0" smtClean="0"/>
              <a:t>Feature selection</a:t>
            </a:r>
            <a:r>
              <a:rPr lang="en-US" sz="2400" dirty="0" smtClean="0"/>
              <a:t> involves selecting a subset of relevant features from the original set of features. The goal is to reduce the dimensionality of the feature space, simplify the model, and improve its generalization performance.</a:t>
            </a:r>
            <a:r>
              <a:rPr lang="en-US" dirty="0" smtClean="0"/>
              <a:t> </a:t>
            </a:r>
          </a:p>
          <a:p>
            <a:pPr algn="just"/>
            <a:r>
              <a:rPr lang="en-US" sz="2600" b="1" dirty="0" smtClean="0"/>
              <a:t>Feature extraction</a:t>
            </a:r>
            <a:r>
              <a:rPr lang="en-US" sz="2600" dirty="0" smtClean="0"/>
              <a:t> </a:t>
            </a:r>
            <a:r>
              <a:rPr lang="en-US" sz="2400" dirty="0" smtClean="0"/>
              <a:t>involves transforming the original features into a new set of features that are more informative and compact. The goal is to capture the essential information from the original features and represent it in a lower-dimensional feature space. Feature extraction methods can be categorized into linear and nonlinear methods</a:t>
            </a:r>
            <a:r>
              <a:rPr lang="en-US" sz="2600" dirty="0" smtClean="0"/>
              <a:t>:</a:t>
            </a:r>
          </a:p>
          <a:p>
            <a:pPr algn="just"/>
            <a:r>
              <a:rPr lang="en-US" sz="2600" b="1" dirty="0" smtClean="0"/>
              <a:t>Linear Methods</a:t>
            </a:r>
            <a:r>
              <a:rPr lang="en-US" sz="2600" dirty="0" smtClean="0"/>
              <a:t>: </a:t>
            </a:r>
            <a:r>
              <a:rPr lang="en-US" sz="2400" dirty="0" smtClean="0"/>
              <a:t>These use linear transformations such as Principal Component Analysis (PCA) and NMF  extract features</a:t>
            </a:r>
            <a:r>
              <a:rPr lang="en-US" sz="2600" dirty="0" smtClean="0"/>
              <a:t>.</a:t>
            </a:r>
          </a:p>
          <a:p>
            <a:pPr algn="just"/>
            <a:r>
              <a:rPr lang="en-US" sz="2600" b="1" dirty="0" smtClean="0"/>
              <a:t>Nonlinear Methods</a:t>
            </a:r>
            <a:r>
              <a:rPr lang="en-US" sz="2600" dirty="0" smtClean="0"/>
              <a:t>: </a:t>
            </a:r>
            <a:r>
              <a:rPr lang="en-US" sz="2400" dirty="0" smtClean="0"/>
              <a:t>These use nonlinear transformations such as Kernel PCA and </a:t>
            </a:r>
            <a:r>
              <a:rPr lang="en-US" sz="2400" dirty="0" err="1" smtClean="0"/>
              <a:t>Autoencoder</a:t>
            </a:r>
            <a:r>
              <a:rPr lang="en-US" sz="2400" dirty="0" smtClean="0"/>
              <a:t> to extract features</a:t>
            </a:r>
          </a:p>
          <a:p>
            <a:pPr algn="just"/>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Principal Component Analysis (PCA)</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PCA algorithm can be broken down into the following steps:</a:t>
            </a:r>
          </a:p>
          <a:p>
            <a:r>
              <a:rPr lang="en-US" dirty="0" smtClean="0"/>
              <a:t>Standardize the dataset</a:t>
            </a:r>
          </a:p>
          <a:p>
            <a:r>
              <a:rPr lang="en-US" dirty="0" smtClean="0"/>
              <a:t>Compute the covariance matrix</a:t>
            </a:r>
          </a:p>
          <a:p>
            <a:r>
              <a:rPr lang="en-US" dirty="0" smtClean="0"/>
              <a:t>Calculate the eigenvectors and </a:t>
            </a:r>
            <a:r>
              <a:rPr lang="en-US" dirty="0" err="1" smtClean="0"/>
              <a:t>eigenvalues</a:t>
            </a:r>
            <a:r>
              <a:rPr lang="en-US" dirty="0" smtClean="0"/>
              <a:t> of the covariance matrix</a:t>
            </a:r>
          </a:p>
          <a:p>
            <a:r>
              <a:rPr lang="en-US" dirty="0" smtClean="0"/>
              <a:t>Sort the eigenvectors by decreasing </a:t>
            </a:r>
            <a:r>
              <a:rPr lang="en-US" dirty="0" err="1" smtClean="0"/>
              <a:t>eigenvalues</a:t>
            </a:r>
            <a:endParaRPr lang="en-US" dirty="0" smtClean="0"/>
          </a:p>
          <a:p>
            <a:r>
              <a:rPr lang="en-US" dirty="0" smtClean="0"/>
              <a:t>Choose k eigenvectors as the new features</a:t>
            </a:r>
          </a:p>
          <a:p>
            <a:r>
              <a:rPr lang="en-US" dirty="0" smtClean="0"/>
              <a:t>Transform the original dataset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Nonnegative Matrix Factorization</a:t>
            </a:r>
            <a:endParaRPr lang="en-US" dirty="0"/>
          </a:p>
        </p:txBody>
      </p:sp>
      <p:sp>
        <p:nvSpPr>
          <p:cNvPr id="3" name="Content Placeholder 2"/>
          <p:cNvSpPr>
            <a:spLocks noGrp="1"/>
          </p:cNvSpPr>
          <p:nvPr>
            <p:ph idx="1"/>
          </p:nvPr>
        </p:nvSpPr>
        <p:spPr/>
        <p:txBody>
          <a:bodyPr/>
          <a:lstStyle/>
          <a:p>
            <a:r>
              <a:rPr lang="en-US" dirty="0" smtClean="0"/>
              <a:t>NMF may factorize a matrix A with dimensions of m x n, where every element is ≥ 0. The resulting two matrices, W and H, have respective dimensions of m x k and k x n, and they exclusively include nonnegative components. Matrix A is defined here as:</a:t>
            </a:r>
            <a:endParaRPr lang="en-US" dirty="0"/>
          </a:p>
        </p:txBody>
      </p:sp>
      <p:pic>
        <p:nvPicPr>
          <p:cNvPr id="4098" name="Picture 2"/>
          <p:cNvPicPr>
            <a:picLocks noChangeAspect="1" noChangeArrowheads="1"/>
          </p:cNvPicPr>
          <p:nvPr/>
        </p:nvPicPr>
        <p:blipFill>
          <a:blip r:embed="rId2"/>
          <a:srcRect/>
          <a:stretch>
            <a:fillRect/>
          </a:stretch>
        </p:blipFill>
        <p:spPr bwMode="auto">
          <a:xfrm>
            <a:off x="2362200" y="4876800"/>
            <a:ext cx="3467605" cy="6858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Non-linear feature extraction</a:t>
            </a:r>
            <a:endParaRPr lang="en-US" dirty="0"/>
          </a:p>
        </p:txBody>
      </p:sp>
      <p:sp>
        <p:nvSpPr>
          <p:cNvPr id="3" name="Content Placeholder 2"/>
          <p:cNvSpPr>
            <a:spLocks noGrp="1"/>
          </p:cNvSpPr>
          <p:nvPr>
            <p:ph idx="1"/>
          </p:nvPr>
        </p:nvSpPr>
        <p:spPr/>
        <p:txBody>
          <a:bodyPr>
            <a:normAutofit/>
          </a:bodyPr>
          <a:lstStyle/>
          <a:p>
            <a:pPr algn="just">
              <a:buNone/>
            </a:pPr>
            <a:r>
              <a:rPr lang="en-US" dirty="0" smtClean="0"/>
              <a:t>    </a:t>
            </a:r>
            <a:r>
              <a:rPr lang="en-US" dirty="0" err="1" smtClean="0"/>
              <a:t>Autoencoders</a:t>
            </a:r>
            <a:r>
              <a:rPr lang="en-US" dirty="0" smtClean="0"/>
              <a:t> are a type of neural network used for unsupervised learning, The aim of an </a:t>
            </a:r>
            <a:r>
              <a:rPr lang="en-US" dirty="0" err="1" smtClean="0"/>
              <a:t>autoencoder</a:t>
            </a:r>
            <a:r>
              <a:rPr lang="en-US" dirty="0" smtClean="0"/>
              <a:t> is to learn a lower-dimensional representation (encoding) for a higher-dimensional data, typically for dimensionality reduction, feature learning, or generative </a:t>
            </a:r>
            <a:r>
              <a:rPr lang="en-US" dirty="0" err="1" smtClean="0"/>
              <a:t>modelling</a:t>
            </a:r>
            <a:r>
              <a:rPr lang="en-US" dirty="0" smtClean="0"/>
              <a:t>.</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7503</TotalTime>
  <Words>1622</Words>
  <Application>Microsoft Office PowerPoint</Application>
  <PresentationFormat>On-screen Show (4:3)</PresentationFormat>
  <Paragraphs>189</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Machine Learning</vt:lpstr>
      <vt:lpstr>Slide 2</vt:lpstr>
      <vt:lpstr>Definition</vt:lpstr>
      <vt:lpstr> Engineering Definition</vt:lpstr>
      <vt:lpstr>  Why Use Machine Learning? Consider how you would write a spam filter using traditional programming techniques.  </vt:lpstr>
      <vt:lpstr>Machine Learning Approach</vt:lpstr>
      <vt:lpstr>Adopting to change</vt:lpstr>
      <vt:lpstr>Learning</vt:lpstr>
      <vt:lpstr>Machine Learning is great for:  </vt:lpstr>
      <vt:lpstr>Slide 10</vt:lpstr>
      <vt:lpstr>Machine Learning Paradigms</vt:lpstr>
      <vt:lpstr>Machine Learning Paradigms</vt:lpstr>
      <vt:lpstr>Slide 13</vt:lpstr>
      <vt:lpstr>Types of Supervised learning </vt:lpstr>
      <vt:lpstr>Classification</vt:lpstr>
      <vt:lpstr>Classification</vt:lpstr>
      <vt:lpstr>Types of Unsupervised learning </vt:lpstr>
      <vt:lpstr>Reinforcement Learning</vt:lpstr>
      <vt:lpstr>ML Paradigms</vt:lpstr>
      <vt:lpstr>Machine Learning Tasks</vt:lpstr>
      <vt:lpstr>Classification Applications</vt:lpstr>
      <vt:lpstr>Regression Applications</vt:lpstr>
      <vt:lpstr>Clustering Applications</vt:lpstr>
      <vt:lpstr>Association Rule Mining</vt:lpstr>
      <vt:lpstr>Association Rule Mining Applications</vt:lpstr>
      <vt:lpstr>Reinforcement Learning</vt:lpstr>
      <vt:lpstr> Spam Mail detection learning problem </vt:lpstr>
      <vt:lpstr> Handwriting recognition learning problem </vt:lpstr>
      <vt:lpstr>Checkers learning problem </vt:lpstr>
      <vt:lpstr>Slide 30</vt:lpstr>
      <vt:lpstr>Types of Data</vt:lpstr>
      <vt:lpstr>Matching</vt:lpstr>
      <vt:lpstr>Euclidean distance</vt:lpstr>
      <vt:lpstr>Slide 34</vt:lpstr>
      <vt:lpstr>Cosine of the angle between vectors</vt:lpstr>
      <vt:lpstr>Slide 36</vt:lpstr>
      <vt:lpstr>Slide 37</vt:lpstr>
      <vt:lpstr>Stages in Machine Learning</vt:lpstr>
      <vt:lpstr>Data Acquisition</vt:lpstr>
      <vt:lpstr>Feature Engineering</vt:lpstr>
      <vt:lpstr>2. Different ranges for different variables</vt:lpstr>
      <vt:lpstr>Slide 42</vt:lpstr>
      <vt:lpstr>Example</vt:lpstr>
      <vt:lpstr>Standardization</vt:lpstr>
      <vt:lpstr>Slide 45</vt:lpstr>
      <vt:lpstr>3. outliers</vt:lpstr>
      <vt:lpstr>Data Representation </vt:lpstr>
      <vt:lpstr>Principal Component Analysis (PCA)</vt:lpstr>
      <vt:lpstr>Nonnegative Matrix Factorization</vt:lpstr>
      <vt:lpstr>Non-linear feature extraction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maha lakshmi OBS</dc:creator>
  <cp:lastModifiedBy>Admin</cp:lastModifiedBy>
  <cp:revision>88</cp:revision>
  <dcterms:created xsi:type="dcterms:W3CDTF">2006-08-16T00:00:00Z</dcterms:created>
  <dcterms:modified xsi:type="dcterms:W3CDTF">2025-12-15T09:11:08Z</dcterms:modified>
</cp:coreProperties>
</file>