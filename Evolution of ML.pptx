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7" r:id="rId15"/>
    <p:sldId id="270" r:id="rId16"/>
    <p:sldId id="273" r:id="rId17"/>
    <p:sldId id="271" r:id="rId18"/>
    <p:sldId id="272" r:id="rId19"/>
    <p:sldId id="279" r:id="rId20"/>
    <p:sldId id="280" r:id="rId21"/>
    <p:sldId id="281" r:id="rId22"/>
    <p:sldId id="274" r:id="rId23"/>
    <p:sldId id="275" r:id="rId24"/>
    <p:sldId id="276" r:id="rId25"/>
    <p:sldId id="277" r:id="rId26"/>
    <p:sldId id="278" r:id="rId27"/>
    <p:sldId id="282" r:id="rId28"/>
    <p:sldId id="283" r:id="rId29"/>
    <p:sldId id="284" r:id="rId30"/>
    <p:sldId id="285" r:id="rId31"/>
    <p:sldId id="286" r:id="rId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1CF7FA-2FB7-49A3-BF48-08DCC7C32D3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D5FA40-5A00-41BD-AAC6-DE98D9320A0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Evolution of Machine Learning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1. Early Foundations (1940s–1960s)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Roots in </a:t>
            </a:r>
            <a:r>
              <a:rPr lang="en-US" b="1" dirty="0" smtClean="0"/>
              <a:t>statistics, probability, and neuroscience</a:t>
            </a:r>
            <a:endParaRPr lang="en-US" dirty="0" smtClean="0"/>
          </a:p>
          <a:p>
            <a:r>
              <a:rPr lang="en-US" dirty="0" smtClean="0"/>
              <a:t>Goal: make machines “learn” like humans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 smtClean="0"/>
              <a:t>Milestones</a:t>
            </a:r>
            <a:endParaRPr lang="en-US" dirty="0" smtClean="0"/>
          </a:p>
          <a:p>
            <a:r>
              <a:rPr lang="en-US" b="1" dirty="0" smtClean="0"/>
              <a:t>1943</a:t>
            </a:r>
            <a:r>
              <a:rPr lang="en-US" dirty="0" smtClean="0"/>
              <a:t> – McCulloch &amp; Pitts: first mathematical model of a neuron</a:t>
            </a:r>
          </a:p>
          <a:p>
            <a:r>
              <a:rPr lang="en-US" b="1" dirty="0" smtClean="0"/>
              <a:t>1950</a:t>
            </a:r>
            <a:r>
              <a:rPr lang="en-US" dirty="0" smtClean="0"/>
              <a:t> – Alan Turing: </a:t>
            </a:r>
            <a:r>
              <a:rPr lang="en-US" i="1" dirty="0" smtClean="0"/>
              <a:t>Turing Test</a:t>
            </a:r>
            <a:endParaRPr lang="en-US" dirty="0" smtClean="0"/>
          </a:p>
          <a:p>
            <a:r>
              <a:rPr lang="en-US" b="1" dirty="0" smtClean="0"/>
              <a:t>1957</a:t>
            </a:r>
            <a:r>
              <a:rPr lang="en-US" dirty="0" smtClean="0"/>
              <a:t> – Rosenblatt: </a:t>
            </a:r>
            <a:r>
              <a:rPr lang="en-US" b="1" dirty="0" err="1" smtClean="0"/>
              <a:t>Perceptron</a:t>
            </a:r>
            <a:r>
              <a:rPr lang="en-US" dirty="0" smtClean="0"/>
              <a:t> (first learning algorithm)</a:t>
            </a:r>
          </a:p>
          <a:p>
            <a:r>
              <a:rPr lang="en-US" b="1" dirty="0" smtClean="0"/>
              <a:t>Limitations</a:t>
            </a:r>
            <a:endParaRPr lang="en-US" dirty="0" smtClean="0"/>
          </a:p>
          <a:p>
            <a:r>
              <a:rPr lang="en-US" dirty="0" smtClean="0"/>
              <a:t>Very limited computing power</a:t>
            </a:r>
          </a:p>
          <a:p>
            <a:r>
              <a:rPr lang="en-US" dirty="0" smtClean="0"/>
              <a:t>Simple linear models only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2. Symbolic AI &amp; Rule-Based Learning (1960s–1970s)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Approach</a:t>
            </a:r>
            <a:endParaRPr lang="en-US" dirty="0" smtClean="0"/>
          </a:p>
          <a:p>
            <a:r>
              <a:rPr lang="en-US" dirty="0" smtClean="0"/>
              <a:t>Knowledge represented as </a:t>
            </a:r>
            <a:r>
              <a:rPr lang="en-US" b="1" dirty="0" smtClean="0"/>
              <a:t>rules and logic</a:t>
            </a:r>
            <a:endParaRPr lang="en-US" dirty="0" smtClean="0"/>
          </a:p>
          <a:p>
            <a:r>
              <a:rPr lang="en-US" dirty="0" smtClean="0"/>
              <a:t>Learning = manually encoded knowledge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Examples</a:t>
            </a:r>
            <a:endParaRPr lang="en-US" dirty="0" smtClean="0"/>
          </a:p>
          <a:p>
            <a:r>
              <a:rPr lang="en-US" dirty="0" smtClean="0"/>
              <a:t>Expert systems (e.g., medical diagnosis systems)</a:t>
            </a:r>
          </a:p>
          <a:p>
            <a:r>
              <a:rPr lang="en-US" dirty="0" smtClean="0"/>
              <a:t>Decision rules: </a:t>
            </a:r>
            <a:r>
              <a:rPr lang="en-US" i="1" dirty="0" smtClean="0"/>
              <a:t>IF–THEN</a:t>
            </a:r>
            <a:r>
              <a:rPr lang="en-US" dirty="0" smtClean="0"/>
              <a:t> statements</a:t>
            </a:r>
          </a:p>
          <a:p>
            <a:r>
              <a:rPr lang="en-US" b="1" dirty="0" smtClean="0"/>
              <a:t>Problems</a:t>
            </a:r>
            <a:endParaRPr lang="en-US" dirty="0" smtClean="0"/>
          </a:p>
          <a:p>
            <a:r>
              <a:rPr lang="en-US" dirty="0" smtClean="0"/>
              <a:t>Not scalable</a:t>
            </a:r>
          </a:p>
          <a:p>
            <a:r>
              <a:rPr lang="en-US" dirty="0" smtClean="0"/>
              <a:t>Could not handle uncertainty or noisy data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3. Statistical &amp; Classical ML Era (1980s–1990s)</a:t>
            </a:r>
            <a:br>
              <a:rPr lang="en-US" b="1" dirty="0" smtClean="0"/>
            </a:br>
            <a:r>
              <a:rPr lang="en-US" b="1" dirty="0" smtClean="0"/>
              <a:t>Shift</a:t>
            </a:r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From rules → </a:t>
            </a:r>
            <a:r>
              <a:rPr lang="en-US" b="1" dirty="0" smtClean="0"/>
              <a:t>data-driven learning</a:t>
            </a:r>
            <a:endParaRPr lang="en-US" dirty="0" smtClean="0"/>
          </a:p>
          <a:p>
            <a:r>
              <a:rPr lang="en-US" b="1" dirty="0" smtClean="0"/>
              <a:t>Important Algorithms</a:t>
            </a:r>
            <a:endParaRPr lang="en-US" dirty="0" smtClean="0"/>
          </a:p>
          <a:p>
            <a:r>
              <a:rPr lang="en-US" dirty="0" smtClean="0"/>
              <a:t>Linear &amp; Logistic Regression</a:t>
            </a:r>
          </a:p>
          <a:p>
            <a:r>
              <a:rPr lang="en-US" dirty="0" smtClean="0"/>
              <a:t>k-Nearest Neighbors (k-NN)</a:t>
            </a:r>
          </a:p>
          <a:p>
            <a:r>
              <a:rPr lang="en-US" dirty="0" smtClean="0"/>
              <a:t>Decision Trees (ID3, C4.5)</a:t>
            </a:r>
          </a:p>
          <a:p>
            <a:r>
              <a:rPr lang="en-US" dirty="0" smtClean="0"/>
              <a:t>Naïve </a:t>
            </a:r>
            <a:r>
              <a:rPr lang="en-US" dirty="0" err="1" smtClean="0"/>
              <a:t>Bayes</a:t>
            </a:r>
            <a:endParaRPr lang="en-US" dirty="0" smtClean="0"/>
          </a:p>
          <a:p>
            <a:r>
              <a:rPr lang="en-US" dirty="0" smtClean="0"/>
              <a:t>Support Vector Machines (SVM)</a:t>
            </a:r>
          </a:p>
          <a:p>
            <a:r>
              <a:rPr lang="en-US" b="1" dirty="0" smtClean="0"/>
              <a:t>Why it mattered</a:t>
            </a:r>
            <a:endParaRPr lang="en-US" dirty="0" smtClean="0"/>
          </a:p>
          <a:p>
            <a:r>
              <a:rPr lang="en-US" dirty="0" smtClean="0"/>
              <a:t>Better generalization</a:t>
            </a:r>
          </a:p>
          <a:p>
            <a:r>
              <a:rPr lang="en-US" dirty="0" smtClean="0"/>
              <a:t>Strong theoretical foundations (bias–variance tradeoff)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4. Ensemble &amp; Kernel Methods (1990s–2000s)</a:t>
            </a:r>
            <a:br>
              <a:rPr lang="en-US" b="1" dirty="0" smtClean="0"/>
            </a:br>
            <a:r>
              <a:rPr lang="en-US" b="1" dirty="0" smtClean="0"/>
              <a:t>Key Developments</a:t>
            </a:r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Random Forests</a:t>
            </a:r>
            <a:endParaRPr lang="en-US" dirty="0" smtClean="0"/>
          </a:p>
          <a:p>
            <a:r>
              <a:rPr lang="en-US" b="1" dirty="0" smtClean="0"/>
              <a:t>Boosting (</a:t>
            </a:r>
            <a:r>
              <a:rPr lang="en-US" b="1" dirty="0" err="1" smtClean="0"/>
              <a:t>AdaBoost</a:t>
            </a:r>
            <a:r>
              <a:rPr lang="en-US" b="1" dirty="0" smtClean="0"/>
              <a:t>, Gradient Boosting)</a:t>
            </a:r>
            <a:endParaRPr lang="en-US" dirty="0" smtClean="0"/>
          </a:p>
          <a:p>
            <a:r>
              <a:rPr lang="en-US" dirty="0" smtClean="0"/>
              <a:t>Kernel tricks for non-linear learning</a:t>
            </a:r>
          </a:p>
          <a:p>
            <a:r>
              <a:rPr lang="en-US" b="1" dirty="0" smtClean="0"/>
              <a:t>Impact</a:t>
            </a:r>
            <a:endParaRPr lang="en-US" dirty="0" smtClean="0"/>
          </a:p>
          <a:p>
            <a:r>
              <a:rPr lang="en-US" dirty="0" smtClean="0"/>
              <a:t>High accuracy on structured/tabular data</a:t>
            </a:r>
          </a:p>
          <a:p>
            <a:r>
              <a:rPr lang="en-US" dirty="0" smtClean="0"/>
              <a:t>Widely used in real-world applications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5. Rise of Big Data &amp; Practical ML (2000s–2010s)</a:t>
            </a:r>
            <a:br>
              <a:rPr lang="en-US" b="1" dirty="0" smtClean="0"/>
            </a:br>
            <a:r>
              <a:rPr lang="en-US" b="1" dirty="0" smtClean="0"/>
              <a:t>Enablers</a:t>
            </a:r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Explosion of digital data</a:t>
            </a:r>
          </a:p>
          <a:p>
            <a:r>
              <a:rPr lang="en-US" dirty="0" smtClean="0"/>
              <a:t>Faster CPUs, GPUs</a:t>
            </a:r>
          </a:p>
          <a:p>
            <a:r>
              <a:rPr lang="en-US" dirty="0" smtClean="0"/>
              <a:t>Open-source libraries (</a:t>
            </a:r>
            <a:r>
              <a:rPr lang="en-US" dirty="0" err="1" smtClean="0"/>
              <a:t>Scikit</a:t>
            </a:r>
            <a:r>
              <a:rPr lang="en-US" dirty="0" smtClean="0"/>
              <a:t>-learn, R)</a:t>
            </a:r>
          </a:p>
          <a:p>
            <a:r>
              <a:rPr lang="en-US" b="1" dirty="0" smtClean="0"/>
              <a:t>Applications</a:t>
            </a:r>
            <a:endParaRPr lang="en-US" dirty="0" smtClean="0"/>
          </a:p>
          <a:p>
            <a:r>
              <a:rPr lang="en-US" dirty="0" smtClean="0"/>
              <a:t>Recommendation systems</a:t>
            </a:r>
          </a:p>
          <a:p>
            <a:r>
              <a:rPr lang="en-US" dirty="0" smtClean="0"/>
              <a:t>Spam detection</a:t>
            </a:r>
          </a:p>
          <a:p>
            <a:r>
              <a:rPr lang="en-US" dirty="0" smtClean="0"/>
              <a:t>Credit scoring</a:t>
            </a:r>
          </a:p>
          <a:p>
            <a:r>
              <a:rPr lang="en-US" dirty="0" smtClean="0"/>
              <a:t>Healthcare predictions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6. Deep Learning Revolution (2012–Present)</a:t>
            </a:r>
            <a:br>
              <a:rPr lang="en-US" b="1" dirty="0" smtClean="0"/>
            </a:br>
            <a:r>
              <a:rPr lang="en-US" b="1" dirty="0" smtClean="0"/>
              <a:t>Breakthrough</a:t>
            </a:r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smtClean="0"/>
              <a:t>2012: </a:t>
            </a:r>
            <a:r>
              <a:rPr lang="en-US" b="1" dirty="0" err="1" smtClean="0"/>
              <a:t>AlexNet</a:t>
            </a:r>
            <a:r>
              <a:rPr lang="en-US" dirty="0" smtClean="0"/>
              <a:t> wins </a:t>
            </a:r>
            <a:r>
              <a:rPr lang="en-US" dirty="0" err="1" smtClean="0"/>
              <a:t>ImageNet</a:t>
            </a:r>
            <a:r>
              <a:rPr lang="en-US" dirty="0" smtClean="0"/>
              <a:t> using CNNs</a:t>
            </a:r>
          </a:p>
          <a:p>
            <a:r>
              <a:rPr lang="en-US" b="1" dirty="0" smtClean="0"/>
              <a:t>Key Models</a:t>
            </a:r>
            <a:endParaRPr lang="en-US" dirty="0" smtClean="0"/>
          </a:p>
          <a:p>
            <a:r>
              <a:rPr lang="en-US" dirty="0" err="1" smtClean="0"/>
              <a:t>Convolutional</a:t>
            </a:r>
            <a:r>
              <a:rPr lang="en-US" dirty="0" smtClean="0"/>
              <a:t> Neural Networks (CNNs)</a:t>
            </a:r>
          </a:p>
          <a:p>
            <a:r>
              <a:rPr lang="en-US" dirty="0" smtClean="0"/>
              <a:t>Recurrent Neural Networks (RNNs, LSTM)</a:t>
            </a:r>
          </a:p>
          <a:p>
            <a:r>
              <a:rPr lang="en-US" dirty="0" smtClean="0"/>
              <a:t>Transformers</a:t>
            </a:r>
          </a:p>
          <a:p>
            <a:r>
              <a:rPr lang="en-US" b="1" dirty="0" smtClean="0"/>
              <a:t>Why it works</a:t>
            </a:r>
            <a:endParaRPr lang="en-US" dirty="0" smtClean="0"/>
          </a:p>
          <a:p>
            <a:r>
              <a:rPr lang="en-US" dirty="0" smtClean="0"/>
              <a:t>Learns </a:t>
            </a:r>
            <a:r>
              <a:rPr lang="en-US" b="1" dirty="0" smtClean="0"/>
              <a:t>features automatically</a:t>
            </a:r>
            <a:endParaRPr lang="en-US" dirty="0" smtClean="0"/>
          </a:p>
          <a:p>
            <a:r>
              <a:rPr lang="en-US" dirty="0" smtClean="0"/>
              <a:t>Scales with large datasets &amp; GPUs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Applications</a:t>
            </a:r>
            <a:endParaRPr lang="en-US" dirty="0" smtClean="0"/>
          </a:p>
          <a:p>
            <a:r>
              <a:rPr lang="en-US" dirty="0" smtClean="0"/>
              <a:t>Image &amp; video recognition</a:t>
            </a:r>
          </a:p>
          <a:p>
            <a:r>
              <a:rPr lang="en-US" dirty="0" smtClean="0"/>
              <a:t>Speech recognition</a:t>
            </a:r>
          </a:p>
          <a:p>
            <a:r>
              <a:rPr lang="en-US" dirty="0" smtClean="0"/>
              <a:t>Natural Language Processing</a:t>
            </a:r>
          </a:p>
          <a:p>
            <a:r>
              <a:rPr lang="en-US" dirty="0" smtClean="0"/>
              <a:t>Medical imaging</a:t>
            </a:r>
          </a:p>
          <a:p>
            <a:r>
              <a:rPr lang="en-US" dirty="0" smtClean="0"/>
              <a:t>Microplastic classification (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 smtClean="0"/>
              <a:t>7. Modern ML &amp; Generative AI (2020–Present)</a:t>
            </a:r>
          </a:p>
          <a:p>
            <a:r>
              <a:rPr lang="en-US" b="1" dirty="0" smtClean="0"/>
              <a:t>Trends</a:t>
            </a:r>
            <a:endParaRPr lang="en-US" dirty="0" smtClean="0"/>
          </a:p>
          <a:p>
            <a:r>
              <a:rPr lang="en-US" b="1" dirty="0" smtClean="0"/>
              <a:t>Transformers</a:t>
            </a:r>
            <a:r>
              <a:rPr lang="en-US" dirty="0" smtClean="0"/>
              <a:t> (BERT, GPT)</a:t>
            </a:r>
          </a:p>
          <a:p>
            <a:r>
              <a:rPr lang="en-US" dirty="0" smtClean="0"/>
              <a:t>Self-supervised learning</a:t>
            </a:r>
          </a:p>
          <a:p>
            <a:r>
              <a:rPr lang="en-US" dirty="0" err="1" smtClean="0"/>
              <a:t>AutoML</a:t>
            </a:r>
            <a:endParaRPr lang="en-US" dirty="0" smtClean="0"/>
          </a:p>
          <a:p>
            <a:r>
              <a:rPr lang="en-US" dirty="0" smtClean="0"/>
              <a:t>Explainable AI (XAI)</a:t>
            </a:r>
          </a:p>
          <a:p>
            <a:r>
              <a:rPr lang="en-US" dirty="0" smtClean="0"/>
              <a:t>Federated &amp; Edge Learning</a:t>
            </a:r>
          </a:p>
          <a:p>
            <a:r>
              <a:rPr lang="en-US" b="1" dirty="0" smtClean="0"/>
              <a:t>Focus</a:t>
            </a:r>
            <a:endParaRPr lang="en-US" dirty="0" smtClean="0"/>
          </a:p>
          <a:p>
            <a:r>
              <a:rPr lang="en-US" dirty="0" smtClean="0"/>
              <a:t>Interpretability</a:t>
            </a:r>
          </a:p>
          <a:p>
            <a:r>
              <a:rPr lang="en-US" dirty="0" smtClean="0"/>
              <a:t>Efficiency</a:t>
            </a:r>
          </a:p>
          <a:p>
            <a:r>
              <a:rPr lang="en-US" dirty="0" smtClean="0"/>
              <a:t>Ethical &amp; responsible AI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AI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743054" y="1600200"/>
            <a:ext cx="7657892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Background Topic of AI</a:t>
            </a:r>
            <a:endParaRPr 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819670" y="1600200"/>
            <a:ext cx="7504659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ML Applications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1. Healthcare and Medical Diagnosis</a:t>
            </a:r>
          </a:p>
          <a:p>
            <a:r>
              <a:rPr lang="en-US" b="1" dirty="0"/>
              <a:t>2. Smart Assistants and Human-Machine Interaction</a:t>
            </a:r>
          </a:p>
          <a:p>
            <a:r>
              <a:rPr lang="en-US" b="1" dirty="0"/>
              <a:t>3. Personalized Recommendations and User Experience</a:t>
            </a:r>
          </a:p>
          <a:p>
            <a:r>
              <a:rPr lang="en-US" b="1" dirty="0"/>
              <a:t>4. Fraud Detection and Financial Forecasting</a:t>
            </a:r>
          </a:p>
          <a:p>
            <a:r>
              <a:rPr lang="en-US" b="1" dirty="0"/>
              <a:t>5. Autonomous Vehicles and Smart Mobility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Paradigms for ML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Learning by Rote</a:t>
            </a:r>
          </a:p>
          <a:p>
            <a:r>
              <a:rPr lang="en-US" dirty="0" smtClean="0"/>
              <a:t>Learning by Deduction</a:t>
            </a:r>
          </a:p>
          <a:p>
            <a:r>
              <a:rPr lang="en-US" dirty="0" smtClean="0"/>
              <a:t>Learning by Abduction</a:t>
            </a:r>
          </a:p>
          <a:p>
            <a:r>
              <a:rPr lang="en-US" dirty="0" smtClean="0"/>
              <a:t>Learning by Induction</a:t>
            </a:r>
          </a:p>
          <a:p>
            <a:r>
              <a:rPr lang="en-US" dirty="0" smtClean="0"/>
              <a:t>Reinforcement Learning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Learning by: Rote</a:t>
            </a:r>
            <a:endParaRPr lang="en-US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3500430" y="3714752"/>
            <a:ext cx="2357454" cy="248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500034" y="1571612"/>
            <a:ext cx="771530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 smtClean="0">
                <a:latin typeface="+mj-lt"/>
              </a:rPr>
              <a:t>Rote learning is a learning method where knowledge is memorized and recalled exactly without understanding or generalization.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Rote learning: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Requires the learner to </a:t>
            </a:r>
            <a:r>
              <a:rPr lang="en-US" dirty="0" smtClean="0">
                <a:solidFill>
                  <a:srgbClr val="C00000"/>
                </a:solidFill>
              </a:rPr>
              <a:t>repeat facts and procedures until they are thoroughly memorized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Rote learning:</a:t>
            </a:r>
            <a:endParaRPr lang="en-US" dirty="0" smtClean="0"/>
          </a:p>
          <a:p>
            <a:r>
              <a:rPr lang="en-US" dirty="0" smtClean="0"/>
              <a:t>Common Rote Learning Examples: </a:t>
            </a:r>
          </a:p>
          <a:p>
            <a:r>
              <a:rPr lang="en-US" b="1" dirty="0" smtClean="0"/>
              <a:t>Mathematics:</a:t>
            </a:r>
            <a:r>
              <a:rPr lang="en-US" dirty="0" smtClean="0"/>
              <a:t> Learning basic addition facts, multiplication tables, or chemical formulas like H2Ocap H sub 2 cap O</a:t>
            </a:r>
          </a:p>
          <a:p>
            <a:r>
              <a:rPr lang="en-US" dirty="0" smtClean="0"/>
              <a:t>𝐻2𝑂</a:t>
            </a:r>
          </a:p>
          <a:p>
            <a:r>
              <a:rPr lang="en-US" b="1" dirty="0" smtClean="0"/>
              <a:t>Language Arts:</a:t>
            </a:r>
            <a:r>
              <a:rPr lang="en-US" dirty="0" smtClean="0"/>
              <a:t> Memorizing spelling words, vocabulary definitions, or practicing phonics. </a:t>
            </a:r>
          </a:p>
          <a:p>
            <a:r>
              <a:rPr lang="en-US" b="1" dirty="0" smtClean="0"/>
              <a:t>Science:</a:t>
            </a:r>
            <a:r>
              <a:rPr lang="en-US" dirty="0" smtClean="0"/>
              <a:t> Reciting the periodic table of elements or anatomy terms. </a:t>
            </a:r>
          </a:p>
          <a:p>
            <a:r>
              <a:rPr lang="en-US" b="1" dirty="0" smtClean="0"/>
              <a:t>General Facts:</a:t>
            </a:r>
            <a:r>
              <a:rPr lang="en-US" dirty="0" smtClean="0"/>
              <a:t> Learning the alphabet song or historical dates. 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Learning by Deduction (Deductive Learning)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Learning by deduction</a:t>
            </a:r>
            <a:r>
              <a:rPr lang="en-US" dirty="0" smtClean="0"/>
              <a:t> is a learning method where </a:t>
            </a:r>
            <a:r>
              <a:rPr lang="en-US" b="1" dirty="0" smtClean="0"/>
              <a:t>new knowledge is derived from existing general rules</a:t>
            </a:r>
            <a:r>
              <a:rPr lang="en-US" dirty="0" smtClean="0"/>
              <a:t> by applying </a:t>
            </a:r>
            <a:r>
              <a:rPr lang="en-US" b="1" dirty="0" smtClean="0"/>
              <a:t>logical reasoning</a:t>
            </a:r>
            <a:r>
              <a:rPr lang="en-US" dirty="0" smtClean="0"/>
              <a:t>.</a:t>
            </a:r>
          </a:p>
          <a:p>
            <a:r>
              <a:rPr lang="en-US" b="1" dirty="0" smtClean="0"/>
              <a:t>Learning by Deduction (Deductive Learning)</a:t>
            </a:r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Working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Start with </a:t>
            </a:r>
            <a:r>
              <a:rPr lang="en-US" b="1" dirty="0" smtClean="0"/>
              <a:t>general rules</a:t>
            </a:r>
            <a:endParaRPr lang="en-US" dirty="0" smtClean="0"/>
          </a:p>
          <a:p>
            <a:r>
              <a:rPr lang="en-US" dirty="0" smtClean="0"/>
              <a:t>Apply them to a </a:t>
            </a:r>
            <a:r>
              <a:rPr lang="en-US" b="1" dirty="0" smtClean="0"/>
              <a:t>specific case</a:t>
            </a:r>
            <a:endParaRPr lang="en-US" dirty="0" smtClean="0"/>
          </a:p>
          <a:p>
            <a:r>
              <a:rPr lang="en-US" dirty="0" smtClean="0"/>
              <a:t>Derive a </a:t>
            </a:r>
            <a:r>
              <a:rPr lang="en-US" b="1" dirty="0" smtClean="0"/>
              <a:t>certain (logically guaranteed) conclusion</a:t>
            </a:r>
            <a:endParaRPr lang="en-US" dirty="0" smtClean="0"/>
          </a:p>
          <a:p>
            <a:r>
              <a:rPr lang="en-US" b="1" dirty="0" smtClean="0">
                <a:solidFill>
                  <a:srgbClr val="C00000"/>
                </a:solidFill>
              </a:rPr>
              <a:t>Weather Example</a:t>
            </a:r>
          </a:p>
          <a:p>
            <a:r>
              <a:rPr lang="en-US" dirty="0" smtClean="0"/>
              <a:t>Rule: </a:t>
            </a:r>
            <a:r>
              <a:rPr lang="en-US" i="1" dirty="0" smtClean="0"/>
              <a:t>If it rains, the ground becomes wet.</a:t>
            </a:r>
            <a:endParaRPr lang="en-US" dirty="0" smtClean="0"/>
          </a:p>
          <a:p>
            <a:r>
              <a:rPr lang="en-US" dirty="0" smtClean="0"/>
              <a:t>Fact: </a:t>
            </a:r>
            <a:r>
              <a:rPr lang="en-US" i="1" dirty="0" smtClean="0"/>
              <a:t>It is raining.</a:t>
            </a:r>
            <a:endParaRPr lang="en-US" dirty="0" smtClean="0"/>
          </a:p>
          <a:p>
            <a:r>
              <a:rPr lang="en-US" dirty="0" smtClean="0"/>
              <a:t>Conclusion: </a:t>
            </a:r>
            <a:r>
              <a:rPr lang="en-US" i="1" dirty="0" smtClean="0"/>
              <a:t>The ground is wet.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 smtClean="0"/>
              <a:t>Academic Example</a:t>
            </a:r>
          </a:p>
          <a:p>
            <a:r>
              <a:rPr lang="en-US" dirty="0" smtClean="0"/>
              <a:t>Rule: </a:t>
            </a:r>
            <a:r>
              <a:rPr lang="en-US" i="1" dirty="0" smtClean="0"/>
              <a:t>All students who score above 50 pass the exam.</a:t>
            </a:r>
            <a:endParaRPr lang="en-US" dirty="0" smtClean="0"/>
          </a:p>
          <a:p>
            <a:r>
              <a:rPr lang="en-US" dirty="0" smtClean="0"/>
              <a:t>Fact: </a:t>
            </a:r>
            <a:r>
              <a:rPr lang="en-US" i="1" dirty="0" err="1" smtClean="0"/>
              <a:t>Rahul</a:t>
            </a:r>
            <a:r>
              <a:rPr lang="en-US" i="1" dirty="0" smtClean="0"/>
              <a:t> scored 70.</a:t>
            </a:r>
            <a:endParaRPr lang="en-US" dirty="0" smtClean="0"/>
          </a:p>
          <a:p>
            <a:r>
              <a:rPr lang="en-US" dirty="0" smtClean="0"/>
              <a:t>Conclusion: </a:t>
            </a:r>
            <a:r>
              <a:rPr lang="en-US" i="1" dirty="0" err="1" smtClean="0"/>
              <a:t>Rahul</a:t>
            </a:r>
            <a:r>
              <a:rPr lang="en-US" i="1" dirty="0" smtClean="0"/>
              <a:t> passed the exam.</a:t>
            </a:r>
            <a:endParaRPr lang="en-US" dirty="0" smtClean="0"/>
          </a:p>
          <a:p>
            <a:r>
              <a:rPr lang="en-US" b="1" dirty="0" smtClean="0"/>
              <a:t>Rule-Based Expert System</a:t>
            </a:r>
          </a:p>
          <a:p>
            <a:r>
              <a:rPr lang="en-US" dirty="0" smtClean="0"/>
              <a:t>Rule: </a:t>
            </a:r>
            <a:r>
              <a:rPr lang="en-US" i="1" dirty="0" smtClean="0"/>
              <a:t>IF temperature &gt; 38°C THEN fever = yes</a:t>
            </a:r>
            <a:endParaRPr lang="en-US" dirty="0" smtClean="0"/>
          </a:p>
          <a:p>
            <a:r>
              <a:rPr lang="en-US" dirty="0" smtClean="0"/>
              <a:t>Given: </a:t>
            </a:r>
            <a:r>
              <a:rPr lang="en-US" i="1" dirty="0" smtClean="0"/>
              <a:t>Temperature = 39°C</a:t>
            </a:r>
            <a:endParaRPr lang="en-US" dirty="0" smtClean="0"/>
          </a:p>
          <a:p>
            <a:r>
              <a:rPr lang="en-US" dirty="0" smtClean="0"/>
              <a:t>Conclusion: </a:t>
            </a:r>
            <a:r>
              <a:rPr lang="en-US" i="1" dirty="0" smtClean="0"/>
              <a:t>Patient has fever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Learning by Abduction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Learning by abduction</a:t>
            </a:r>
            <a:r>
              <a:rPr lang="en-US" dirty="0" smtClean="0"/>
              <a:t> is a learning method where a system forms the </a:t>
            </a:r>
            <a:r>
              <a:rPr lang="en-US" b="1" dirty="0" smtClean="0"/>
              <a:t>most plausible explanation (hypothesis)</a:t>
            </a:r>
            <a:r>
              <a:rPr lang="en-US" dirty="0" smtClean="0"/>
              <a:t> for given observations.</a:t>
            </a:r>
            <a:br>
              <a:rPr lang="en-US" dirty="0" smtClean="0"/>
            </a:br>
            <a:r>
              <a:rPr lang="en-US" dirty="0" smtClean="0"/>
              <a:t>It is often described as </a:t>
            </a:r>
            <a:r>
              <a:rPr lang="en-US" b="1" dirty="0" smtClean="0"/>
              <a:t>“inference to the best explanation.”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Learning by abduction is the process of generating hypotheses that best explain observed facts or data.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How It Works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Observe facts/data</a:t>
            </a:r>
          </a:p>
          <a:p>
            <a:r>
              <a:rPr lang="en-US" dirty="0" smtClean="0"/>
              <a:t>Generate possible explanations</a:t>
            </a:r>
          </a:p>
          <a:p>
            <a:r>
              <a:rPr lang="en-US" dirty="0" smtClean="0"/>
              <a:t>Select the most likely explanation</a:t>
            </a:r>
          </a:p>
          <a:p>
            <a:r>
              <a:rPr lang="en-US" dirty="0" smtClean="0"/>
              <a:t>Update knowledge when new evidence appears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Observation: </a:t>
            </a:r>
            <a:r>
              <a:rPr lang="en-US" i="1" dirty="0" smtClean="0"/>
              <a:t>The ground is wet.</a:t>
            </a:r>
            <a:endParaRPr lang="en-US" dirty="0" smtClean="0"/>
          </a:p>
          <a:p>
            <a:r>
              <a:rPr lang="en-US" dirty="0" smtClean="0"/>
              <a:t>Possible explanations:</a:t>
            </a:r>
          </a:p>
          <a:p>
            <a:r>
              <a:rPr lang="en-US" dirty="0" smtClean="0"/>
              <a:t>It rained</a:t>
            </a:r>
          </a:p>
          <a:p>
            <a:r>
              <a:rPr lang="en-US" dirty="0" smtClean="0"/>
              <a:t>Someone watered plants</a:t>
            </a:r>
          </a:p>
          <a:p>
            <a:r>
              <a:rPr lang="en-US" dirty="0" smtClean="0"/>
              <a:t>Best explanation: </a:t>
            </a:r>
            <a:r>
              <a:rPr lang="en-US" i="1" dirty="0" smtClean="0"/>
              <a:t>It probably rained.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Observation: </a:t>
            </a:r>
            <a:r>
              <a:rPr lang="en-US" i="1" dirty="0" smtClean="0"/>
              <a:t>The ground is wet.</a:t>
            </a:r>
            <a:endParaRPr lang="en-US" dirty="0" smtClean="0"/>
          </a:p>
          <a:p>
            <a:r>
              <a:rPr lang="en-US" dirty="0" smtClean="0"/>
              <a:t>Possible explanations:</a:t>
            </a:r>
          </a:p>
          <a:p>
            <a:r>
              <a:rPr lang="en-US" dirty="0" smtClean="0"/>
              <a:t>It rained</a:t>
            </a:r>
          </a:p>
          <a:p>
            <a:r>
              <a:rPr lang="en-US" dirty="0" smtClean="0"/>
              <a:t>Someone watered plants</a:t>
            </a:r>
          </a:p>
          <a:p>
            <a:r>
              <a:rPr lang="en-US" dirty="0" smtClean="0"/>
              <a:t>Best explanation: </a:t>
            </a:r>
            <a:r>
              <a:rPr lang="en-US" i="1" dirty="0" smtClean="0"/>
              <a:t>It probably rained.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Learning by Deduction Vs Abduction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 smtClean="0"/>
              <a:t> Example: Medical Diagnosis</a:t>
            </a:r>
          </a:p>
          <a:p>
            <a:r>
              <a:rPr lang="en-US" b="1" dirty="0" smtClean="0"/>
              <a:t>Learning by Deduction</a:t>
            </a:r>
          </a:p>
          <a:p>
            <a:r>
              <a:rPr lang="en-US" b="1" dirty="0" smtClean="0"/>
              <a:t>General rule: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i="1" dirty="0" smtClean="0"/>
              <a:t>If a person has malaria, then they will have fever.</a:t>
            </a:r>
            <a:endParaRPr lang="en-US" dirty="0" smtClean="0"/>
          </a:p>
          <a:p>
            <a:r>
              <a:rPr lang="en-US" b="1" dirty="0" smtClean="0"/>
              <a:t>Given fact: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i="1" dirty="0" smtClean="0"/>
              <a:t>The patient has malaria.</a:t>
            </a:r>
            <a:endParaRPr lang="en-US" dirty="0" smtClean="0"/>
          </a:p>
          <a:p>
            <a:r>
              <a:rPr lang="en-US" b="1" dirty="0" smtClean="0"/>
              <a:t>Conclusion: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i="1" dirty="0" smtClean="0"/>
              <a:t>The patient has fever.</a:t>
            </a:r>
            <a:endParaRPr lang="en-US" dirty="0" smtClean="0"/>
          </a:p>
          <a:p>
            <a:r>
              <a:rPr lang="en-US" dirty="0" smtClean="0"/>
              <a:t> Conclusion is </a:t>
            </a:r>
            <a:r>
              <a:rPr lang="en-US" b="1" dirty="0" smtClean="0"/>
              <a:t>certain</a:t>
            </a:r>
            <a:r>
              <a:rPr lang="en-US" dirty="0" smtClean="0"/>
              <a:t> (logically guaranteed)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Learning by Abduction</a:t>
            </a:r>
            <a:endParaRPr lang="en-US" b="1" dirty="0" smtClean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 smtClean="0"/>
              <a:t>Observation: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i="1" dirty="0" smtClean="0"/>
              <a:t>The patient has fever.</a:t>
            </a:r>
            <a:endParaRPr lang="en-US" dirty="0" smtClean="0"/>
          </a:p>
          <a:p>
            <a:r>
              <a:rPr lang="en-US" b="1" dirty="0" smtClean="0"/>
              <a:t>Possible explanations:</a:t>
            </a:r>
            <a:endParaRPr lang="en-US" dirty="0" smtClean="0"/>
          </a:p>
          <a:p>
            <a:pPr lvl="1"/>
            <a:r>
              <a:rPr lang="en-US" dirty="0" smtClean="0"/>
              <a:t>Malaria</a:t>
            </a:r>
          </a:p>
          <a:p>
            <a:pPr lvl="1"/>
            <a:r>
              <a:rPr lang="en-US" dirty="0" smtClean="0"/>
              <a:t>Viral infection</a:t>
            </a:r>
          </a:p>
          <a:p>
            <a:pPr lvl="1"/>
            <a:r>
              <a:rPr lang="en-US" dirty="0" smtClean="0"/>
              <a:t>Dengue</a:t>
            </a:r>
          </a:p>
          <a:p>
            <a:r>
              <a:rPr lang="en-US" b="1" dirty="0" smtClean="0"/>
              <a:t>Best explanation: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i="1" dirty="0" smtClean="0"/>
              <a:t>The patient may have malaria.</a:t>
            </a:r>
            <a:endParaRPr lang="en-US" dirty="0" smtClean="0"/>
          </a:p>
          <a:p>
            <a:r>
              <a:rPr lang="en-US" dirty="0" smtClean="0"/>
              <a:t>Conclusion is </a:t>
            </a:r>
            <a:r>
              <a:rPr lang="en-US" b="1" dirty="0" smtClean="0"/>
              <a:t>plausible, not certain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Learning By Induction</a:t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Learning by Examples</a:t>
            </a:r>
          </a:p>
          <a:p>
            <a:r>
              <a:rPr lang="en-US" dirty="0" smtClean="0"/>
              <a:t>Learning by </a:t>
            </a:r>
            <a:r>
              <a:rPr lang="en-US" dirty="0" err="1" smtClean="0"/>
              <a:t>Obeservations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572234" y="1600200"/>
            <a:ext cx="5999532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Convolutional</a:t>
            </a:r>
            <a:r>
              <a:rPr lang="en-US" dirty="0" smtClean="0"/>
              <a:t> Neural Network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52513" y="1638300"/>
            <a:ext cx="7038975" cy="450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745</Words>
  <Application>Microsoft Office PowerPoint</Application>
  <PresentationFormat>On-screen Show (4:3)</PresentationFormat>
  <Paragraphs>157</Paragraphs>
  <Slides>31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2" baseType="lpstr">
      <vt:lpstr>Office Theme</vt:lpstr>
      <vt:lpstr>Machine Learning</vt:lpstr>
      <vt:lpstr>Evolution of Machine Learning</vt:lpstr>
      <vt:lpstr>1. Early Foundations (1940s–1960s) </vt:lpstr>
      <vt:lpstr>Slide 4</vt:lpstr>
      <vt:lpstr>2. Symbolic AI &amp; Rule-Based Learning (1960s–1970s) </vt:lpstr>
      <vt:lpstr>Slide 6</vt:lpstr>
      <vt:lpstr>3. Statistical &amp; Classical ML Era (1980s–1990s) Shift </vt:lpstr>
      <vt:lpstr>4. Ensemble &amp; Kernel Methods (1990s–2000s) Key Developments </vt:lpstr>
      <vt:lpstr>5. Rise of Big Data &amp; Practical ML (2000s–2010s) Enablers </vt:lpstr>
      <vt:lpstr>6. Deep Learning Revolution (2012–Present) Breakthrough </vt:lpstr>
      <vt:lpstr>Slide 11</vt:lpstr>
      <vt:lpstr>Slide 12</vt:lpstr>
      <vt:lpstr>AI</vt:lpstr>
      <vt:lpstr>Background Topic of AI</vt:lpstr>
      <vt:lpstr>ML Applications</vt:lpstr>
      <vt:lpstr>Paradigms for ML</vt:lpstr>
      <vt:lpstr>Learning by: Rote</vt:lpstr>
      <vt:lpstr>Rote learning:</vt:lpstr>
      <vt:lpstr>Learning by Deduction (Deductive Learning) </vt:lpstr>
      <vt:lpstr>Working</vt:lpstr>
      <vt:lpstr>Slide 21</vt:lpstr>
      <vt:lpstr>Learning by Abduction</vt:lpstr>
      <vt:lpstr>Slide 23</vt:lpstr>
      <vt:lpstr>How It Works </vt:lpstr>
      <vt:lpstr>Examples</vt:lpstr>
      <vt:lpstr>Slide 26</vt:lpstr>
      <vt:lpstr>Learning by Deduction Vs Abduction</vt:lpstr>
      <vt:lpstr>Learning by Abduction</vt:lpstr>
      <vt:lpstr>Learning By Induction </vt:lpstr>
      <vt:lpstr>Slide 30</vt:lpstr>
      <vt:lpstr>Convolutional Neural Network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</dc:title>
  <dc:creator>Admin</dc:creator>
  <cp:lastModifiedBy>Admin</cp:lastModifiedBy>
  <cp:revision>2</cp:revision>
  <dcterms:created xsi:type="dcterms:W3CDTF">2025-12-15T04:13:09Z</dcterms:created>
  <dcterms:modified xsi:type="dcterms:W3CDTF">2025-12-15T09:24:49Z</dcterms:modified>
</cp:coreProperties>
</file>