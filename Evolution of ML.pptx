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7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CF7FA-2FB7-49A3-BF48-08DCC7C32D3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5FA40-5A00-41BD-AAC6-DE98D9320A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CF7FA-2FB7-49A3-BF48-08DCC7C32D3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5FA40-5A00-41BD-AAC6-DE98D9320A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CF7FA-2FB7-49A3-BF48-08DCC7C32D3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5FA40-5A00-41BD-AAC6-DE98D9320A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CF7FA-2FB7-49A3-BF48-08DCC7C32D3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5FA40-5A00-41BD-AAC6-DE98D9320A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CF7FA-2FB7-49A3-BF48-08DCC7C32D3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5FA40-5A00-41BD-AAC6-DE98D9320A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CF7FA-2FB7-49A3-BF48-08DCC7C32D3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5FA40-5A00-41BD-AAC6-DE98D9320A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CF7FA-2FB7-49A3-BF48-08DCC7C32D3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5FA40-5A00-41BD-AAC6-DE98D9320A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CF7FA-2FB7-49A3-BF48-08DCC7C32D3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5FA40-5A00-41BD-AAC6-DE98D9320A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CF7FA-2FB7-49A3-BF48-08DCC7C32D3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5FA40-5A00-41BD-AAC6-DE98D9320A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CF7FA-2FB7-49A3-BF48-08DCC7C32D3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5FA40-5A00-41BD-AAC6-DE98D9320A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CF7FA-2FB7-49A3-BF48-08DCC7C32D3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5FA40-5A00-41BD-AAC6-DE98D9320A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CF7FA-2FB7-49A3-BF48-08DCC7C32D3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D5FA40-5A00-41BD-AAC6-DE98D9320A0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Machine Learning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Evolution of Machine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1. Early Foundations (1940s–1960s)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Roots in </a:t>
            </a:r>
            <a:r>
              <a:rPr lang="en-US" b="1" dirty="0" smtClean="0"/>
              <a:t>statistics, probability, and neuroscience</a:t>
            </a:r>
            <a:endParaRPr lang="en-US" dirty="0" smtClean="0"/>
          </a:p>
          <a:p>
            <a:r>
              <a:rPr lang="en-US" dirty="0" smtClean="0"/>
              <a:t>Goal: make machines “learn” like humans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Milestones</a:t>
            </a:r>
            <a:endParaRPr lang="en-US" dirty="0" smtClean="0"/>
          </a:p>
          <a:p>
            <a:r>
              <a:rPr lang="en-US" b="1" dirty="0" smtClean="0"/>
              <a:t>1943</a:t>
            </a:r>
            <a:r>
              <a:rPr lang="en-US" dirty="0" smtClean="0"/>
              <a:t> – McCulloch &amp; Pitts: first mathematical model of a neuron</a:t>
            </a:r>
          </a:p>
          <a:p>
            <a:r>
              <a:rPr lang="en-US" b="1" dirty="0" smtClean="0"/>
              <a:t>1950</a:t>
            </a:r>
            <a:r>
              <a:rPr lang="en-US" dirty="0" smtClean="0"/>
              <a:t> – Alan Turing: </a:t>
            </a:r>
            <a:r>
              <a:rPr lang="en-US" i="1" dirty="0" smtClean="0"/>
              <a:t>Turing Test</a:t>
            </a:r>
            <a:endParaRPr lang="en-US" dirty="0" smtClean="0"/>
          </a:p>
          <a:p>
            <a:r>
              <a:rPr lang="en-US" b="1" dirty="0" smtClean="0"/>
              <a:t>1957</a:t>
            </a:r>
            <a:r>
              <a:rPr lang="en-US" dirty="0" smtClean="0"/>
              <a:t> – Rosenblatt: </a:t>
            </a:r>
            <a:r>
              <a:rPr lang="en-US" b="1" dirty="0" err="1" smtClean="0"/>
              <a:t>Perceptron</a:t>
            </a:r>
            <a:r>
              <a:rPr lang="en-US" dirty="0" smtClean="0"/>
              <a:t> (first learning algorithm)</a:t>
            </a:r>
          </a:p>
          <a:p>
            <a:r>
              <a:rPr lang="en-US" b="1" dirty="0" smtClean="0"/>
              <a:t>Limitations</a:t>
            </a:r>
            <a:endParaRPr lang="en-US" dirty="0" smtClean="0"/>
          </a:p>
          <a:p>
            <a:r>
              <a:rPr lang="en-US" dirty="0" smtClean="0"/>
              <a:t>Very limited computing power</a:t>
            </a:r>
          </a:p>
          <a:p>
            <a:r>
              <a:rPr lang="en-US" dirty="0" smtClean="0"/>
              <a:t>Simple linear models only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2. Symbolic AI &amp; Rule-Based Learning (1960s–1970s)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Approach</a:t>
            </a:r>
            <a:endParaRPr lang="en-US" dirty="0" smtClean="0"/>
          </a:p>
          <a:p>
            <a:r>
              <a:rPr lang="en-US" dirty="0" smtClean="0"/>
              <a:t>Knowledge represented as </a:t>
            </a:r>
            <a:r>
              <a:rPr lang="en-US" b="1" dirty="0" smtClean="0"/>
              <a:t>rules and logic</a:t>
            </a:r>
            <a:endParaRPr lang="en-US" dirty="0" smtClean="0"/>
          </a:p>
          <a:p>
            <a:r>
              <a:rPr lang="en-US" dirty="0" smtClean="0"/>
              <a:t>Learning = manually encoded knowledge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Examples</a:t>
            </a:r>
            <a:endParaRPr lang="en-US" dirty="0" smtClean="0"/>
          </a:p>
          <a:p>
            <a:r>
              <a:rPr lang="en-US" dirty="0" smtClean="0"/>
              <a:t>Expert systems (e.g., medical diagnosis systems)</a:t>
            </a:r>
          </a:p>
          <a:p>
            <a:r>
              <a:rPr lang="en-US" dirty="0" smtClean="0"/>
              <a:t>Decision rules: </a:t>
            </a:r>
            <a:r>
              <a:rPr lang="en-US" i="1" dirty="0" smtClean="0"/>
              <a:t>IF–THEN</a:t>
            </a:r>
            <a:r>
              <a:rPr lang="en-US" dirty="0" smtClean="0"/>
              <a:t> statements</a:t>
            </a:r>
          </a:p>
          <a:p>
            <a:r>
              <a:rPr lang="en-US" b="1" dirty="0" smtClean="0"/>
              <a:t>Problems</a:t>
            </a:r>
            <a:endParaRPr lang="en-US" dirty="0" smtClean="0"/>
          </a:p>
          <a:p>
            <a:r>
              <a:rPr lang="en-US" dirty="0" smtClean="0"/>
              <a:t>Not scalable</a:t>
            </a:r>
          </a:p>
          <a:p>
            <a:r>
              <a:rPr lang="en-US" dirty="0" smtClean="0"/>
              <a:t>Could not handle uncertainty or noisy data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3. Statistical &amp; Classical ML Era (1980s–1990s)</a:t>
            </a:r>
            <a:br>
              <a:rPr lang="en-US" b="1" dirty="0" smtClean="0"/>
            </a:br>
            <a:r>
              <a:rPr lang="en-US" b="1" dirty="0" smtClean="0"/>
              <a:t>Shift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From rules → </a:t>
            </a:r>
            <a:r>
              <a:rPr lang="en-US" b="1" dirty="0" smtClean="0"/>
              <a:t>data-driven learning</a:t>
            </a:r>
            <a:endParaRPr lang="en-US" dirty="0" smtClean="0"/>
          </a:p>
          <a:p>
            <a:r>
              <a:rPr lang="en-US" b="1" dirty="0" smtClean="0"/>
              <a:t>Important Algorithms</a:t>
            </a:r>
            <a:endParaRPr lang="en-US" dirty="0" smtClean="0"/>
          </a:p>
          <a:p>
            <a:r>
              <a:rPr lang="en-US" dirty="0" smtClean="0"/>
              <a:t>Linear &amp; Logistic Regression</a:t>
            </a:r>
          </a:p>
          <a:p>
            <a:r>
              <a:rPr lang="en-US" dirty="0" smtClean="0"/>
              <a:t>k-Nearest Neighbors (k-NN)</a:t>
            </a:r>
          </a:p>
          <a:p>
            <a:r>
              <a:rPr lang="en-US" dirty="0" smtClean="0"/>
              <a:t>Decision Trees (ID3, C4.5)</a:t>
            </a:r>
          </a:p>
          <a:p>
            <a:r>
              <a:rPr lang="en-US" dirty="0" smtClean="0"/>
              <a:t>Naïve </a:t>
            </a:r>
            <a:r>
              <a:rPr lang="en-US" dirty="0" err="1" smtClean="0"/>
              <a:t>Bayes</a:t>
            </a:r>
            <a:endParaRPr lang="en-US" dirty="0" smtClean="0"/>
          </a:p>
          <a:p>
            <a:r>
              <a:rPr lang="en-US" dirty="0" smtClean="0"/>
              <a:t>Support Vector Machines (SVM)</a:t>
            </a:r>
          </a:p>
          <a:p>
            <a:r>
              <a:rPr lang="en-US" b="1" dirty="0" smtClean="0"/>
              <a:t>Why it mattered</a:t>
            </a:r>
            <a:endParaRPr lang="en-US" dirty="0" smtClean="0"/>
          </a:p>
          <a:p>
            <a:r>
              <a:rPr lang="en-US" dirty="0" smtClean="0"/>
              <a:t>Better generalization</a:t>
            </a:r>
          </a:p>
          <a:p>
            <a:r>
              <a:rPr lang="en-US" dirty="0" smtClean="0"/>
              <a:t>Strong theoretical foundations (bias–variance tradeoff)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4. Ensemble &amp; Kernel Methods (1990s–2000s)</a:t>
            </a:r>
            <a:br>
              <a:rPr lang="en-US" b="1" dirty="0" smtClean="0"/>
            </a:br>
            <a:r>
              <a:rPr lang="en-US" b="1" dirty="0" smtClean="0"/>
              <a:t>Key Developments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Random Forests</a:t>
            </a:r>
            <a:endParaRPr lang="en-US" dirty="0" smtClean="0"/>
          </a:p>
          <a:p>
            <a:r>
              <a:rPr lang="en-US" b="1" dirty="0" smtClean="0"/>
              <a:t>Boosting (</a:t>
            </a:r>
            <a:r>
              <a:rPr lang="en-US" b="1" dirty="0" err="1" smtClean="0"/>
              <a:t>AdaBoost</a:t>
            </a:r>
            <a:r>
              <a:rPr lang="en-US" b="1" dirty="0" smtClean="0"/>
              <a:t>, Gradient Boosting)</a:t>
            </a:r>
            <a:endParaRPr lang="en-US" dirty="0" smtClean="0"/>
          </a:p>
          <a:p>
            <a:r>
              <a:rPr lang="en-US" dirty="0" smtClean="0"/>
              <a:t>Kernel tricks for non-linear learning</a:t>
            </a:r>
          </a:p>
          <a:p>
            <a:r>
              <a:rPr lang="en-US" b="1" dirty="0" smtClean="0"/>
              <a:t>Impact</a:t>
            </a:r>
            <a:endParaRPr lang="en-US" dirty="0" smtClean="0"/>
          </a:p>
          <a:p>
            <a:r>
              <a:rPr lang="en-US" dirty="0" smtClean="0"/>
              <a:t>High accuracy on structured/tabular data</a:t>
            </a:r>
          </a:p>
          <a:p>
            <a:r>
              <a:rPr lang="en-US" dirty="0" smtClean="0"/>
              <a:t>Widely used in real-world applications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5. Rise of Big Data &amp; Practical ML (2000s–2010s)</a:t>
            </a:r>
            <a:br>
              <a:rPr lang="en-US" b="1" dirty="0" smtClean="0"/>
            </a:br>
            <a:r>
              <a:rPr lang="en-US" b="1" dirty="0" smtClean="0"/>
              <a:t>Enablers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Explosion of digital data</a:t>
            </a:r>
          </a:p>
          <a:p>
            <a:r>
              <a:rPr lang="en-US" dirty="0" smtClean="0"/>
              <a:t>Faster CPUs, GPUs</a:t>
            </a:r>
          </a:p>
          <a:p>
            <a:r>
              <a:rPr lang="en-US" dirty="0" smtClean="0"/>
              <a:t>Open-source libraries (</a:t>
            </a:r>
            <a:r>
              <a:rPr lang="en-US" dirty="0" err="1" smtClean="0"/>
              <a:t>Scikit</a:t>
            </a:r>
            <a:r>
              <a:rPr lang="en-US" dirty="0" smtClean="0"/>
              <a:t>-learn, R)</a:t>
            </a:r>
          </a:p>
          <a:p>
            <a:r>
              <a:rPr lang="en-US" b="1" dirty="0" smtClean="0"/>
              <a:t>Applications</a:t>
            </a:r>
            <a:endParaRPr lang="en-US" dirty="0" smtClean="0"/>
          </a:p>
          <a:p>
            <a:r>
              <a:rPr lang="en-US" dirty="0" smtClean="0"/>
              <a:t>Recommendation systems</a:t>
            </a:r>
          </a:p>
          <a:p>
            <a:r>
              <a:rPr lang="en-US" dirty="0" smtClean="0"/>
              <a:t>Spam detection</a:t>
            </a:r>
          </a:p>
          <a:p>
            <a:r>
              <a:rPr lang="en-US" dirty="0" smtClean="0"/>
              <a:t>Credit scoring</a:t>
            </a:r>
          </a:p>
          <a:p>
            <a:r>
              <a:rPr lang="en-US" dirty="0" smtClean="0"/>
              <a:t>Healthcare predictions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6. Deep Learning Revolution (2012–Present)</a:t>
            </a:r>
            <a:br>
              <a:rPr lang="en-US" b="1" dirty="0" smtClean="0"/>
            </a:br>
            <a:r>
              <a:rPr lang="en-US" b="1" dirty="0" smtClean="0"/>
              <a:t>Breakthrough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2012: </a:t>
            </a:r>
            <a:r>
              <a:rPr lang="en-US" b="1" dirty="0" err="1" smtClean="0"/>
              <a:t>AlexNet</a:t>
            </a:r>
            <a:r>
              <a:rPr lang="en-US" dirty="0" smtClean="0"/>
              <a:t> wins </a:t>
            </a:r>
            <a:r>
              <a:rPr lang="en-US" dirty="0" err="1" smtClean="0"/>
              <a:t>ImageNet</a:t>
            </a:r>
            <a:r>
              <a:rPr lang="en-US" dirty="0" smtClean="0"/>
              <a:t> using CNNs</a:t>
            </a:r>
          </a:p>
          <a:p>
            <a:r>
              <a:rPr lang="en-US" b="1" dirty="0" smtClean="0"/>
              <a:t>Key Models</a:t>
            </a:r>
            <a:endParaRPr lang="en-US" dirty="0" smtClean="0"/>
          </a:p>
          <a:p>
            <a:r>
              <a:rPr lang="en-US" dirty="0" err="1" smtClean="0"/>
              <a:t>Convolutional</a:t>
            </a:r>
            <a:r>
              <a:rPr lang="en-US" dirty="0" smtClean="0"/>
              <a:t> Neural Networks (CNNs)</a:t>
            </a:r>
          </a:p>
          <a:p>
            <a:r>
              <a:rPr lang="en-US" dirty="0" smtClean="0"/>
              <a:t>Recurrent Neural Networks (RNNs, LSTM)</a:t>
            </a:r>
          </a:p>
          <a:p>
            <a:r>
              <a:rPr lang="en-US" dirty="0" smtClean="0"/>
              <a:t>Transformers</a:t>
            </a:r>
          </a:p>
          <a:p>
            <a:r>
              <a:rPr lang="en-US" b="1" dirty="0" smtClean="0"/>
              <a:t>Why it works</a:t>
            </a:r>
            <a:endParaRPr lang="en-US" dirty="0" smtClean="0"/>
          </a:p>
          <a:p>
            <a:r>
              <a:rPr lang="en-US" dirty="0" smtClean="0"/>
              <a:t>Learns </a:t>
            </a:r>
            <a:r>
              <a:rPr lang="en-US" b="1" dirty="0" smtClean="0"/>
              <a:t>features automatically</a:t>
            </a:r>
            <a:endParaRPr lang="en-US" dirty="0" smtClean="0"/>
          </a:p>
          <a:p>
            <a:r>
              <a:rPr lang="en-US" dirty="0" smtClean="0"/>
              <a:t>Scales with large datasets &amp; GPUs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Applications</a:t>
            </a:r>
            <a:endParaRPr lang="en-US" dirty="0" smtClean="0"/>
          </a:p>
          <a:p>
            <a:r>
              <a:rPr lang="en-US" dirty="0" smtClean="0"/>
              <a:t>Image &amp; video recognition</a:t>
            </a:r>
          </a:p>
          <a:p>
            <a:r>
              <a:rPr lang="en-US" dirty="0" smtClean="0"/>
              <a:t>Speech recognition</a:t>
            </a:r>
          </a:p>
          <a:p>
            <a:r>
              <a:rPr lang="en-US" dirty="0" smtClean="0"/>
              <a:t>Natural Language Processing</a:t>
            </a:r>
          </a:p>
          <a:p>
            <a:r>
              <a:rPr lang="en-US" dirty="0" smtClean="0"/>
              <a:t>Medical imaging</a:t>
            </a:r>
          </a:p>
          <a:p>
            <a:r>
              <a:rPr lang="en-US" dirty="0" smtClean="0"/>
              <a:t>Microplastic classification (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7. Modern ML &amp; Generative AI (2020–Present)</a:t>
            </a:r>
          </a:p>
          <a:p>
            <a:r>
              <a:rPr lang="en-US" b="1" dirty="0" smtClean="0"/>
              <a:t>Trends</a:t>
            </a:r>
            <a:endParaRPr lang="en-US" dirty="0" smtClean="0"/>
          </a:p>
          <a:p>
            <a:r>
              <a:rPr lang="en-US" b="1" dirty="0" smtClean="0"/>
              <a:t>Transformers</a:t>
            </a:r>
            <a:r>
              <a:rPr lang="en-US" dirty="0" smtClean="0"/>
              <a:t> (BERT, GPT)</a:t>
            </a:r>
          </a:p>
          <a:p>
            <a:r>
              <a:rPr lang="en-US" dirty="0" smtClean="0"/>
              <a:t>Self-supervised learning</a:t>
            </a:r>
          </a:p>
          <a:p>
            <a:r>
              <a:rPr lang="en-US" dirty="0" err="1" smtClean="0"/>
              <a:t>AutoML</a:t>
            </a:r>
            <a:endParaRPr lang="en-US" dirty="0" smtClean="0"/>
          </a:p>
          <a:p>
            <a:r>
              <a:rPr lang="en-US" dirty="0" smtClean="0"/>
              <a:t>Explainable AI (XAI)</a:t>
            </a:r>
          </a:p>
          <a:p>
            <a:r>
              <a:rPr lang="en-US" dirty="0" smtClean="0"/>
              <a:t>Federated &amp; Edge Learning</a:t>
            </a:r>
          </a:p>
          <a:p>
            <a:r>
              <a:rPr lang="en-US" b="1" dirty="0" smtClean="0"/>
              <a:t>Focus</a:t>
            </a:r>
            <a:endParaRPr lang="en-US" dirty="0" smtClean="0"/>
          </a:p>
          <a:p>
            <a:r>
              <a:rPr lang="en-US" dirty="0" smtClean="0"/>
              <a:t>Interpretability</a:t>
            </a:r>
          </a:p>
          <a:p>
            <a:r>
              <a:rPr lang="en-US" dirty="0" smtClean="0"/>
              <a:t>Efficiency</a:t>
            </a:r>
          </a:p>
          <a:p>
            <a:r>
              <a:rPr lang="en-US" dirty="0" smtClean="0"/>
              <a:t>Ethical &amp; responsible AI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43054" y="1600200"/>
            <a:ext cx="7657892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Background Topic of AI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19670" y="1600200"/>
            <a:ext cx="7504659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ML 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Healthcare and Medical Diagnosis</a:t>
            </a:r>
          </a:p>
          <a:p>
            <a:r>
              <a:rPr lang="en-US" b="1" dirty="0"/>
              <a:t>2. Smart Assistants and Human-Machine Interaction</a:t>
            </a:r>
          </a:p>
          <a:p>
            <a:r>
              <a:rPr lang="en-US" b="1" dirty="0"/>
              <a:t>3. Personalized Recommendations and User Experience</a:t>
            </a:r>
          </a:p>
          <a:p>
            <a:r>
              <a:rPr lang="en-US" b="1" dirty="0"/>
              <a:t>4. Fraud Detection and Financial Forecasting</a:t>
            </a:r>
          </a:p>
          <a:p>
            <a:r>
              <a:rPr lang="en-US" b="1" dirty="0"/>
              <a:t>5. </a:t>
            </a:r>
            <a:r>
              <a:rPr lang="en-US" b="1"/>
              <a:t>Autonomous Vehicles and Smart Mobility</a:t>
            </a:r>
          </a:p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375</Words>
  <Application>Microsoft Office PowerPoint</Application>
  <PresentationFormat>On-screen Show (4:3)</PresentationFormat>
  <Paragraphs>83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Machine Learning</vt:lpstr>
      <vt:lpstr>Evolution of Machine Learning</vt:lpstr>
      <vt:lpstr>1. Early Foundations (1940s–1960s) </vt:lpstr>
      <vt:lpstr>Slide 4</vt:lpstr>
      <vt:lpstr>2. Symbolic AI &amp; Rule-Based Learning (1960s–1970s) </vt:lpstr>
      <vt:lpstr>Slide 6</vt:lpstr>
      <vt:lpstr>3. Statistical &amp; Classical ML Era (1980s–1990s) Shift </vt:lpstr>
      <vt:lpstr>4. Ensemble &amp; Kernel Methods (1990s–2000s) Key Developments </vt:lpstr>
      <vt:lpstr>5. Rise of Big Data &amp; Practical ML (2000s–2010s) Enablers </vt:lpstr>
      <vt:lpstr>6. Deep Learning Revolution (2012–Present) Breakthrough </vt:lpstr>
      <vt:lpstr>Slide 11</vt:lpstr>
      <vt:lpstr>Slide 12</vt:lpstr>
      <vt:lpstr>AI</vt:lpstr>
      <vt:lpstr>Background Topic of AI</vt:lpstr>
      <vt:lpstr>ML Applications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Admin</dc:creator>
  <cp:lastModifiedBy>Admin</cp:lastModifiedBy>
  <cp:revision>1</cp:revision>
  <dcterms:created xsi:type="dcterms:W3CDTF">2025-12-15T04:13:09Z</dcterms:created>
  <dcterms:modified xsi:type="dcterms:W3CDTF">2025-12-15T04:24:27Z</dcterms:modified>
</cp:coreProperties>
</file>