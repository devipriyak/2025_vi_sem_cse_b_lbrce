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s/slide38.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s/slide36.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slides/slide34.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slides/slide4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s/slide39.xml" ContentType="application/vnd.openxmlformats-officedocument.presentationml.slide+xml"/>
  <Override PartName="/ppt/slideLayouts/slideLayout7.xml" ContentType="application/vnd.openxmlformats-officedocument.presentationml.slideLayout+xml"/>
  <Default Extension="png" ContentType="image/png"/>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Layouts/slideLayout3.xml" ContentType="application/vnd.openxmlformats-officedocument.presentationml.slideLayout+xml"/>
  <Default Extension="jpeg" ContentType="image/jpeg"/>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72" r:id="rId3"/>
    <p:sldId id="269" r:id="rId4"/>
    <p:sldId id="270" r:id="rId5"/>
    <p:sldId id="271" r:id="rId6"/>
    <p:sldId id="274" r:id="rId7"/>
    <p:sldId id="275" r:id="rId8"/>
    <p:sldId id="276" r:id="rId9"/>
    <p:sldId id="257" r:id="rId10"/>
    <p:sldId id="258" r:id="rId11"/>
    <p:sldId id="262" r:id="rId12"/>
    <p:sldId id="263" r:id="rId13"/>
    <p:sldId id="264" r:id="rId14"/>
    <p:sldId id="265" r:id="rId15"/>
    <p:sldId id="266" r:id="rId16"/>
    <p:sldId id="267" r:id="rId17"/>
    <p:sldId id="259" r:id="rId18"/>
    <p:sldId id="260" r:id="rId19"/>
    <p:sldId id="261" r:id="rId20"/>
    <p:sldId id="290" r:id="rId21"/>
    <p:sldId id="289" r:id="rId22"/>
    <p:sldId id="291" r:id="rId23"/>
    <p:sldId id="292" r:id="rId24"/>
    <p:sldId id="293" r:id="rId25"/>
    <p:sldId id="294" r:id="rId26"/>
    <p:sldId id="295" r:id="rId27"/>
    <p:sldId id="296" r:id="rId28"/>
    <p:sldId id="297" r:id="rId29"/>
    <p:sldId id="277" r:id="rId30"/>
    <p:sldId id="278" r:id="rId31"/>
    <p:sldId id="279" r:id="rId32"/>
    <p:sldId id="280" r:id="rId33"/>
    <p:sldId id="281" r:id="rId34"/>
    <p:sldId id="282" r:id="rId35"/>
    <p:sldId id="283" r:id="rId36"/>
    <p:sldId id="284" r:id="rId37"/>
    <p:sldId id="285" r:id="rId38"/>
    <p:sldId id="286" r:id="rId39"/>
    <p:sldId id="287" r:id="rId40"/>
    <p:sldId id="288" r:id="rId41"/>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2121" autoAdjust="0"/>
    <p:restoredTop sz="94660"/>
  </p:normalViewPr>
  <p:slideViewPr>
    <p:cSldViewPr>
      <p:cViewPr varScale="1">
        <p:scale>
          <a:sx n="83" d="100"/>
          <a:sy n="83" d="100"/>
        </p:scale>
        <p:origin x="-1589" y="-77"/>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06917566-1B43-4C06-BFAD-F47F7D1A261B}" type="datetimeFigureOut">
              <a:rPr lang="en-US" smtClean="0"/>
              <a:pPr/>
              <a:t>4/6/2026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3DF977D-FAA7-4E9D-ABCE-22E18061B802}"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06917566-1B43-4C06-BFAD-F47F7D1A261B}" type="datetimeFigureOut">
              <a:rPr lang="en-US" smtClean="0"/>
              <a:pPr/>
              <a:t>4/6/2026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3DF977D-FAA7-4E9D-ABCE-22E18061B802}"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06917566-1B43-4C06-BFAD-F47F7D1A261B}" type="datetimeFigureOut">
              <a:rPr lang="en-US" smtClean="0"/>
              <a:pPr/>
              <a:t>4/6/2026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3DF977D-FAA7-4E9D-ABCE-22E18061B802}"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06917566-1B43-4C06-BFAD-F47F7D1A261B}" type="datetimeFigureOut">
              <a:rPr lang="en-US" smtClean="0"/>
              <a:pPr/>
              <a:t>4/6/2026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3DF977D-FAA7-4E9D-ABCE-22E18061B802}"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06917566-1B43-4C06-BFAD-F47F7D1A261B}" type="datetimeFigureOut">
              <a:rPr lang="en-US" smtClean="0"/>
              <a:pPr/>
              <a:t>4/6/2026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3DF977D-FAA7-4E9D-ABCE-22E18061B802}"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06917566-1B43-4C06-BFAD-F47F7D1A261B}" type="datetimeFigureOut">
              <a:rPr lang="en-US" smtClean="0"/>
              <a:pPr/>
              <a:t>4/6/2026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3DF977D-FAA7-4E9D-ABCE-22E18061B802}"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6917566-1B43-4C06-BFAD-F47F7D1A261B}" type="datetimeFigureOut">
              <a:rPr lang="en-US" smtClean="0"/>
              <a:pPr/>
              <a:t>4/6/2026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3DF977D-FAA7-4E9D-ABCE-22E18061B802}"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06917566-1B43-4C06-BFAD-F47F7D1A261B}" type="datetimeFigureOut">
              <a:rPr lang="en-US" smtClean="0"/>
              <a:pPr/>
              <a:t>4/6/2026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3DF977D-FAA7-4E9D-ABCE-22E18061B802}"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06917566-1B43-4C06-BFAD-F47F7D1A261B}" type="datetimeFigureOut">
              <a:rPr lang="en-US" smtClean="0"/>
              <a:pPr/>
              <a:t>4/6/2026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3DF977D-FAA7-4E9D-ABCE-22E18061B802}"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06917566-1B43-4C06-BFAD-F47F7D1A261B}" type="datetimeFigureOut">
              <a:rPr lang="en-US" smtClean="0"/>
              <a:pPr/>
              <a:t>4/6/2026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3DF977D-FAA7-4E9D-ABCE-22E18061B802}"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06917566-1B43-4C06-BFAD-F47F7D1A261B}" type="datetimeFigureOut">
              <a:rPr lang="en-US" smtClean="0"/>
              <a:pPr/>
              <a:t>4/6/2026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3DF977D-FAA7-4E9D-ABCE-22E18061B802}"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6917566-1B43-4C06-BFAD-F47F7D1A261B}" type="datetimeFigureOut">
              <a:rPr lang="en-US" smtClean="0"/>
              <a:pPr/>
              <a:t>4/6/2026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3DF977D-FAA7-4E9D-ABCE-22E18061B802}"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K-Means Clustering </a:t>
            </a:r>
            <a:endParaRPr lang="en-US" dirty="0"/>
          </a:p>
        </p:txBody>
      </p:sp>
      <p:sp>
        <p:nvSpPr>
          <p:cNvPr id="3" name="Subtitle 2"/>
          <p:cNvSpPr>
            <a:spLocks noGrp="1"/>
          </p:cNvSpPr>
          <p:nvPr>
            <p:ph type="subTitle" idx="1"/>
          </p:nvPr>
        </p:nvSpPr>
        <p:spPr/>
        <p:txBody>
          <a:bodyPr/>
          <a:lstStyle/>
          <a:p>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K-Means </a:t>
            </a:r>
            <a:r>
              <a:rPr lang="en-US" dirty="0" err="1" smtClean="0"/>
              <a:t>CLustering</a:t>
            </a:r>
            <a:endParaRPr lang="en-US" dirty="0"/>
          </a:p>
        </p:txBody>
      </p:sp>
      <p:sp>
        <p:nvSpPr>
          <p:cNvPr id="3" name="Content Placeholder 2"/>
          <p:cNvSpPr>
            <a:spLocks noGrp="1"/>
          </p:cNvSpPr>
          <p:nvPr>
            <p:ph idx="1"/>
          </p:nvPr>
        </p:nvSpPr>
        <p:spPr/>
        <p:txBody>
          <a:bodyPr/>
          <a:lstStyle/>
          <a:p>
            <a:r>
              <a:rPr lang="en-US" dirty="0"/>
              <a:t>K-Means Clustering groups similar data points into clusters without needing labeled data. It is used to uncover hidden patterns when the goal is to organize data based on similarity.</a:t>
            </a: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Applications</a:t>
            </a:r>
            <a:endParaRPr lang="en-US" dirty="0"/>
          </a:p>
        </p:txBody>
      </p:sp>
      <p:sp>
        <p:nvSpPr>
          <p:cNvPr id="3" name="Content Placeholder 2"/>
          <p:cNvSpPr>
            <a:spLocks noGrp="1"/>
          </p:cNvSpPr>
          <p:nvPr>
            <p:ph idx="1"/>
          </p:nvPr>
        </p:nvSpPr>
        <p:spPr/>
        <p:txBody>
          <a:bodyPr>
            <a:normAutofit fontScale="92500"/>
          </a:bodyPr>
          <a:lstStyle/>
          <a:p>
            <a:pPr fontAlgn="base"/>
            <a:r>
              <a:rPr lang="en-US" b="1" dirty="0"/>
              <a:t>Why Use K-Means Clustering?</a:t>
            </a:r>
          </a:p>
          <a:p>
            <a:pPr fontAlgn="base"/>
            <a:r>
              <a:rPr lang="en-US" dirty="0"/>
              <a:t>K-Means is popular in a wide variety of applications due to its simplicity, efficiency and effectiveness. Here’s why it is widely used:</a:t>
            </a:r>
          </a:p>
          <a:p>
            <a:pPr fontAlgn="base"/>
            <a:r>
              <a:rPr lang="en-US" b="1" dirty="0"/>
              <a:t>Data Segmentation: </a:t>
            </a:r>
            <a:r>
              <a:rPr lang="en-US" dirty="0"/>
              <a:t>One of the most common uses of K-Means is segmenting data into distinct groups. For example, businesses use K-Means to group customers based on behavior, such as purchasing patterns or website interaction.</a:t>
            </a:r>
          </a:p>
          <a:p>
            <a:endParaRPr lang="en-US" dirty="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lnSpcReduction="10000"/>
          </a:bodyPr>
          <a:lstStyle/>
          <a:p>
            <a:pPr fontAlgn="base"/>
            <a:r>
              <a:rPr lang="en-US" b="1" dirty="0" smtClean="0"/>
              <a:t>Image Compression</a:t>
            </a:r>
            <a:r>
              <a:rPr lang="en-US" dirty="0" smtClean="0"/>
              <a:t>: K-Means can be used to reduce the complexity of images by grouping similar pixels into clusters, effectively compressing the image. This is useful for image storage and processing.</a:t>
            </a:r>
          </a:p>
          <a:p>
            <a:pPr fontAlgn="base"/>
            <a:r>
              <a:rPr lang="en-US" b="1" dirty="0" smtClean="0"/>
              <a:t>Anomaly Detection:</a:t>
            </a:r>
            <a:r>
              <a:rPr lang="en-US" dirty="0" smtClean="0"/>
              <a:t> K-Means can be applied to detect anomalies or outliers by identifying data points that do not belong to any of the clusters.</a:t>
            </a:r>
          </a:p>
          <a:p>
            <a:endParaRPr lang="en-US" dirty="0"/>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92500" lnSpcReduction="10000"/>
          </a:bodyPr>
          <a:lstStyle/>
          <a:p>
            <a:pPr fontAlgn="base"/>
            <a:r>
              <a:rPr lang="en-US" b="1" dirty="0" smtClean="0"/>
              <a:t>Document Clustering:</a:t>
            </a:r>
            <a:r>
              <a:rPr lang="en-US" dirty="0" smtClean="0"/>
              <a:t> In natural language processing (NLP), K-Means is used to group similar documents or articles together. It’s often used in applications like recommendation systems or news categorization.</a:t>
            </a:r>
          </a:p>
          <a:p>
            <a:pPr fontAlgn="base"/>
            <a:r>
              <a:rPr lang="en-US" b="1" dirty="0" smtClean="0"/>
              <a:t>Organizing Large Datasets:</a:t>
            </a:r>
            <a:r>
              <a:rPr lang="en-US" dirty="0" smtClean="0"/>
              <a:t> When dealing with large datasets, K-Means can help in organizing the data into smaller, more manageable chunks based on similarities, improving the efficiency of data analysis.</a:t>
            </a:r>
          </a:p>
          <a:p>
            <a:endParaRPr lang="en-US" dirty="0"/>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K-Means -Algorithm</a:t>
            </a:r>
            <a:endParaRPr lang="en-US" dirty="0"/>
          </a:p>
        </p:txBody>
      </p:sp>
      <p:sp>
        <p:nvSpPr>
          <p:cNvPr id="3" name="Content Placeholder 2"/>
          <p:cNvSpPr>
            <a:spLocks noGrp="1"/>
          </p:cNvSpPr>
          <p:nvPr>
            <p:ph idx="1"/>
          </p:nvPr>
        </p:nvSpPr>
        <p:spPr/>
        <p:txBody>
          <a:bodyPr>
            <a:normAutofit fontScale="85000" lnSpcReduction="20000"/>
          </a:bodyPr>
          <a:lstStyle/>
          <a:p>
            <a:pPr fontAlgn="base"/>
            <a:r>
              <a:rPr lang="en-US" b="1" dirty="0"/>
              <a:t>Initialization:</a:t>
            </a:r>
            <a:r>
              <a:rPr lang="en-US" dirty="0"/>
              <a:t> We begin by randomly selecting k cluster </a:t>
            </a:r>
            <a:r>
              <a:rPr lang="en-US" dirty="0" err="1"/>
              <a:t>centroids</a:t>
            </a:r>
            <a:r>
              <a:rPr lang="en-US" dirty="0"/>
              <a:t>.</a:t>
            </a:r>
          </a:p>
          <a:p>
            <a:pPr fontAlgn="base"/>
            <a:r>
              <a:rPr lang="en-US" b="1" dirty="0"/>
              <a:t>Assignment Step:</a:t>
            </a:r>
            <a:r>
              <a:rPr lang="en-US" dirty="0"/>
              <a:t> Each data point is assigned to the nearest </a:t>
            </a:r>
            <a:r>
              <a:rPr lang="en-US" dirty="0" err="1"/>
              <a:t>centroid</a:t>
            </a:r>
            <a:r>
              <a:rPr lang="en-US" dirty="0"/>
              <a:t>, forming </a:t>
            </a:r>
            <a:r>
              <a:rPr lang="en-US" dirty="0" smtClean="0"/>
              <a:t>clusters by calculating distance between points to </a:t>
            </a:r>
            <a:r>
              <a:rPr lang="en-US" dirty="0" err="1" smtClean="0"/>
              <a:t>centroids</a:t>
            </a:r>
            <a:r>
              <a:rPr lang="en-US" dirty="0" smtClean="0"/>
              <a:t>(Minimum distance –point to </a:t>
            </a:r>
            <a:r>
              <a:rPr lang="en-US" dirty="0" err="1" smtClean="0"/>
              <a:t>centroid</a:t>
            </a:r>
            <a:r>
              <a:rPr lang="en-US" dirty="0" smtClean="0"/>
              <a:t> will </a:t>
            </a:r>
            <a:r>
              <a:rPr lang="en-US" smtClean="0"/>
              <a:t>be considered).</a:t>
            </a:r>
            <a:endParaRPr lang="en-US" dirty="0"/>
          </a:p>
          <a:p>
            <a:pPr fontAlgn="base"/>
            <a:r>
              <a:rPr lang="en-US" b="1" dirty="0"/>
              <a:t>Update Step:</a:t>
            </a:r>
            <a:r>
              <a:rPr lang="en-US" dirty="0"/>
              <a:t> After the assignment, we recalculate the </a:t>
            </a:r>
            <a:r>
              <a:rPr lang="en-US" dirty="0" err="1"/>
              <a:t>centroid</a:t>
            </a:r>
            <a:r>
              <a:rPr lang="en-US" dirty="0"/>
              <a:t> of each cluster by averaging the points within it.</a:t>
            </a:r>
          </a:p>
          <a:p>
            <a:pPr fontAlgn="base"/>
            <a:r>
              <a:rPr lang="en-US" b="1" dirty="0"/>
              <a:t>Repeat: </a:t>
            </a:r>
            <a:r>
              <a:rPr lang="en-US" dirty="0"/>
              <a:t>This process repeats until the </a:t>
            </a:r>
            <a:r>
              <a:rPr lang="en-US" dirty="0" err="1"/>
              <a:t>centroids</a:t>
            </a:r>
            <a:r>
              <a:rPr lang="en-US" dirty="0"/>
              <a:t> no longer change or the maximum number of iterations is reached.</a:t>
            </a:r>
          </a:p>
          <a:p>
            <a:endParaRPr lang="en-US" dirty="0"/>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What is K value in K-Means Clustering?</a:t>
            </a:r>
            <a:br>
              <a:rPr lang="en-US" b="1" dirty="0" smtClean="0"/>
            </a:br>
            <a:endParaRPr lang="en-US" dirty="0"/>
          </a:p>
        </p:txBody>
      </p:sp>
      <p:sp>
        <p:nvSpPr>
          <p:cNvPr id="3" name="Content Placeholder 2"/>
          <p:cNvSpPr>
            <a:spLocks noGrp="1"/>
          </p:cNvSpPr>
          <p:nvPr>
            <p:ph idx="1"/>
          </p:nvPr>
        </p:nvSpPr>
        <p:spPr/>
        <p:txBody>
          <a:bodyPr>
            <a:normAutofit fontScale="92500" lnSpcReduction="20000"/>
          </a:bodyPr>
          <a:lstStyle/>
          <a:p>
            <a:r>
              <a:rPr lang="en-US" dirty="0" smtClean="0"/>
              <a:t>The </a:t>
            </a:r>
            <a:r>
              <a:rPr lang="en-US" b="1" dirty="0" smtClean="0"/>
              <a:t>K value</a:t>
            </a:r>
            <a:r>
              <a:rPr lang="en-US" dirty="0" smtClean="0"/>
              <a:t> in </a:t>
            </a:r>
            <a:r>
              <a:rPr lang="en-US" b="1" dirty="0" smtClean="0"/>
              <a:t>K-means clustering</a:t>
            </a:r>
            <a:r>
              <a:rPr lang="en-US" dirty="0" smtClean="0"/>
              <a:t> simply </a:t>
            </a:r>
            <a:r>
              <a:rPr lang="en-US" dirty="0" err="1" smtClean="0"/>
              <a:t>means:</a:t>
            </a:r>
            <a:r>
              <a:rPr lang="en-US" b="1" dirty="0" err="1" smtClean="0"/>
              <a:t>K</a:t>
            </a:r>
            <a:r>
              <a:rPr lang="en-US" b="1" dirty="0" smtClean="0"/>
              <a:t> in K-means clustering represents the number of clusters into which the dataset is partitioned.</a:t>
            </a:r>
            <a:endParaRPr lang="en-US" dirty="0" smtClean="0"/>
          </a:p>
          <a:p>
            <a:r>
              <a:rPr lang="en-US" b="1" dirty="0" smtClean="0"/>
              <a:t>The number of clusters (groups) you want to divide your data into.</a:t>
            </a:r>
            <a:endParaRPr lang="en-US" dirty="0" smtClean="0"/>
          </a:p>
          <a:p>
            <a:r>
              <a:rPr lang="en-US" b="1" dirty="0" smtClean="0"/>
              <a:t>Simple Explanation</a:t>
            </a:r>
          </a:p>
          <a:p>
            <a:r>
              <a:rPr lang="en-US" dirty="0" smtClean="0"/>
              <a:t>If </a:t>
            </a:r>
            <a:r>
              <a:rPr lang="en-US" b="1" dirty="0" smtClean="0"/>
              <a:t>K = 2</a:t>
            </a:r>
            <a:r>
              <a:rPr lang="en-US" dirty="0" smtClean="0"/>
              <a:t> → Data is divided into </a:t>
            </a:r>
            <a:r>
              <a:rPr lang="en-US" b="1" dirty="0" smtClean="0"/>
              <a:t>2 clusters</a:t>
            </a:r>
            <a:r>
              <a:rPr lang="en-US" dirty="0" smtClean="0"/>
              <a:t> </a:t>
            </a:r>
          </a:p>
          <a:p>
            <a:r>
              <a:rPr lang="en-US" dirty="0" smtClean="0"/>
              <a:t>If </a:t>
            </a:r>
            <a:r>
              <a:rPr lang="en-US" b="1" dirty="0" smtClean="0"/>
              <a:t>K = 3</a:t>
            </a:r>
            <a:r>
              <a:rPr lang="en-US" dirty="0" smtClean="0"/>
              <a:t> → Data is divided into </a:t>
            </a:r>
            <a:r>
              <a:rPr lang="en-US" b="1" dirty="0" smtClean="0"/>
              <a:t>3 clusters</a:t>
            </a:r>
            <a:r>
              <a:rPr lang="en-US" dirty="0" smtClean="0"/>
              <a:t> </a:t>
            </a:r>
          </a:p>
          <a:p>
            <a:r>
              <a:rPr lang="en-US" dirty="0" smtClean="0"/>
              <a:t>If </a:t>
            </a:r>
            <a:r>
              <a:rPr lang="en-US" b="1" dirty="0" smtClean="0"/>
              <a:t>K = 5</a:t>
            </a:r>
            <a:r>
              <a:rPr lang="en-US" dirty="0" smtClean="0"/>
              <a:t> → Data is divided into </a:t>
            </a:r>
            <a:r>
              <a:rPr lang="en-US" b="1" dirty="0" smtClean="0"/>
              <a:t>5 clusters</a:t>
            </a:r>
            <a:endParaRPr lang="en-US" dirty="0" smtClean="0"/>
          </a:p>
          <a:p>
            <a:endParaRPr lang="en-US" dirty="0"/>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Choosing K-Value</a:t>
            </a:r>
            <a:endParaRPr lang="en-US" dirty="0"/>
          </a:p>
        </p:txBody>
      </p:sp>
      <p:sp>
        <p:nvSpPr>
          <p:cNvPr id="3" name="Content Placeholder 2"/>
          <p:cNvSpPr>
            <a:spLocks noGrp="1"/>
          </p:cNvSpPr>
          <p:nvPr>
            <p:ph idx="1"/>
          </p:nvPr>
        </p:nvSpPr>
        <p:spPr/>
        <p:txBody>
          <a:bodyPr/>
          <a:lstStyle/>
          <a:p>
            <a:r>
              <a:rPr lang="en-US" b="1" dirty="0" smtClean="0"/>
              <a:t>Elbow Method</a:t>
            </a:r>
            <a:r>
              <a:rPr lang="en-US" dirty="0" smtClean="0"/>
              <a:t> (most popular)</a:t>
            </a:r>
          </a:p>
          <a:p>
            <a:r>
              <a:rPr lang="en-US" dirty="0" smtClean="0"/>
              <a:t> Silhouette Score</a:t>
            </a:r>
          </a:p>
          <a:p>
            <a:r>
              <a:rPr lang="en-US" dirty="0" smtClean="0"/>
              <a:t> Domain knowledge</a:t>
            </a:r>
            <a:endParaRPr lang="en-US" dirty="0"/>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pic>
        <p:nvPicPr>
          <p:cNvPr id="1026" name="Picture 2"/>
          <p:cNvPicPr>
            <a:picLocks noGrp="1" noChangeAspect="1" noChangeArrowheads="1"/>
          </p:cNvPicPr>
          <p:nvPr>
            <p:ph idx="1"/>
          </p:nvPr>
        </p:nvPicPr>
        <p:blipFill>
          <a:blip r:embed="rId2"/>
          <a:srcRect/>
          <a:stretch>
            <a:fillRect/>
          </a:stretch>
        </p:blipFill>
        <p:spPr bwMode="auto">
          <a:xfrm>
            <a:off x="1969770" y="2495390"/>
            <a:ext cx="6488430" cy="3410463"/>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2050" name="Picture 2"/>
          <p:cNvPicPr>
            <a:picLocks noGrp="1" noChangeAspect="1" noChangeArrowheads="1"/>
          </p:cNvPicPr>
          <p:nvPr>
            <p:ph idx="1"/>
          </p:nvPr>
        </p:nvPicPr>
        <p:blipFill>
          <a:blip r:embed="rId2"/>
          <a:srcRect/>
          <a:stretch>
            <a:fillRect/>
          </a:stretch>
        </p:blipFill>
        <p:spPr bwMode="auto">
          <a:xfrm>
            <a:off x="2007870" y="2362041"/>
            <a:ext cx="5128260" cy="300228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098" name="Picture 2"/>
          <p:cNvPicPr>
            <a:picLocks noGrp="1" noChangeAspect="1" noChangeArrowheads="1"/>
          </p:cNvPicPr>
          <p:nvPr>
            <p:ph idx="1"/>
          </p:nvPr>
        </p:nvPicPr>
        <p:blipFill>
          <a:blip r:embed="rId2"/>
          <a:srcRect/>
          <a:stretch>
            <a:fillRect/>
          </a:stretch>
        </p:blipFill>
        <p:spPr bwMode="auto">
          <a:xfrm>
            <a:off x="1828800" y="1981200"/>
            <a:ext cx="6934200" cy="424434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5122" name="Picture 2"/>
          <p:cNvPicPr>
            <a:picLocks noGrp="1" noChangeAspect="1" noChangeArrowheads="1"/>
          </p:cNvPicPr>
          <p:nvPr>
            <p:ph idx="1"/>
          </p:nvPr>
        </p:nvPicPr>
        <p:blipFill>
          <a:blip r:embed="rId2"/>
          <a:srcRect/>
          <a:stretch>
            <a:fillRect/>
          </a:stretch>
        </p:blipFill>
        <p:spPr bwMode="auto">
          <a:xfrm>
            <a:off x="1695450" y="2282031"/>
            <a:ext cx="5753100" cy="31623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7170" name="Picture 2"/>
          <p:cNvPicPr>
            <a:picLocks noGrp="1" noChangeAspect="1" noChangeArrowheads="1"/>
          </p:cNvPicPr>
          <p:nvPr>
            <p:ph idx="1"/>
          </p:nvPr>
        </p:nvPicPr>
        <p:blipFill>
          <a:blip r:embed="rId2"/>
          <a:srcRect/>
          <a:stretch>
            <a:fillRect/>
          </a:stretch>
        </p:blipFill>
        <p:spPr bwMode="auto">
          <a:xfrm>
            <a:off x="971550" y="2114391"/>
            <a:ext cx="7200900" cy="349758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6146" name="Picture 2"/>
          <p:cNvPicPr>
            <a:picLocks noGrp="1" noChangeAspect="1" noChangeArrowheads="1"/>
          </p:cNvPicPr>
          <p:nvPr>
            <p:ph idx="1"/>
          </p:nvPr>
        </p:nvPicPr>
        <p:blipFill>
          <a:blip r:embed="rId2"/>
          <a:srcRect/>
          <a:stretch>
            <a:fillRect/>
          </a:stretch>
        </p:blipFill>
        <p:spPr bwMode="auto">
          <a:xfrm>
            <a:off x="1443990" y="2560161"/>
            <a:ext cx="6256020" cy="260604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8194" name="Picture 2"/>
          <p:cNvPicPr>
            <a:picLocks noGrp="1" noChangeAspect="1" noChangeArrowheads="1"/>
          </p:cNvPicPr>
          <p:nvPr>
            <p:ph idx="1"/>
          </p:nvPr>
        </p:nvPicPr>
        <p:blipFill>
          <a:blip r:embed="rId2"/>
          <a:srcRect/>
          <a:stretch>
            <a:fillRect/>
          </a:stretch>
        </p:blipFill>
        <p:spPr bwMode="auto">
          <a:xfrm>
            <a:off x="1051560" y="2373471"/>
            <a:ext cx="7040880" cy="297942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9218" name="Picture 2"/>
          <p:cNvPicPr>
            <a:picLocks noGrp="1" noChangeAspect="1" noChangeArrowheads="1"/>
          </p:cNvPicPr>
          <p:nvPr>
            <p:ph idx="1"/>
          </p:nvPr>
        </p:nvPicPr>
        <p:blipFill>
          <a:blip r:embed="rId2"/>
          <a:srcRect/>
          <a:stretch>
            <a:fillRect/>
          </a:stretch>
        </p:blipFill>
        <p:spPr bwMode="auto">
          <a:xfrm>
            <a:off x="1604010" y="2407761"/>
            <a:ext cx="5935980" cy="291084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Fuzzy Clustering - ML</a:t>
            </a:r>
            <a:br>
              <a:rPr lang="en-US" b="1" dirty="0"/>
            </a:br>
            <a:endParaRPr lang="en-US" dirty="0"/>
          </a:p>
        </p:txBody>
      </p:sp>
      <p:sp>
        <p:nvSpPr>
          <p:cNvPr id="3" name="Content Placeholder 2"/>
          <p:cNvSpPr>
            <a:spLocks noGrp="1"/>
          </p:cNvSpPr>
          <p:nvPr>
            <p:ph idx="1"/>
          </p:nvPr>
        </p:nvSpPr>
        <p:spPr/>
        <p:txBody>
          <a:bodyPr>
            <a:normAutofit fontScale="92500" lnSpcReduction="20000"/>
          </a:bodyPr>
          <a:lstStyle/>
          <a:p>
            <a:pPr fontAlgn="base"/>
            <a:r>
              <a:rPr lang="en-US" dirty="0"/>
              <a:t>Fuzzy clustering allows each data point to belong to multiple clusters with different membership values. Instead of assigning a point to just one group, it captures how strongly a point relates to each cluster.</a:t>
            </a:r>
          </a:p>
          <a:p>
            <a:pPr fontAlgn="base"/>
            <a:r>
              <a:rPr lang="en-US" dirty="0"/>
              <a:t>Uses membership scores between 0 and 1</a:t>
            </a:r>
          </a:p>
          <a:p>
            <a:pPr fontAlgn="base"/>
            <a:r>
              <a:rPr lang="en-US" dirty="0"/>
              <a:t>Handles overlapping or unclear cluster boundaries</a:t>
            </a:r>
          </a:p>
          <a:p>
            <a:pPr fontAlgn="base"/>
            <a:r>
              <a:rPr lang="en-US" dirty="0"/>
              <a:t>More flexible than hard clustering methods</a:t>
            </a:r>
          </a:p>
          <a:p>
            <a:pPr fontAlgn="base"/>
            <a:r>
              <a:rPr lang="en-US" dirty="0"/>
              <a:t>Useful when data points don’t fit neatly into a single group</a:t>
            </a:r>
          </a:p>
          <a:p>
            <a:endParaRPr lang="en-US" dirty="0"/>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3074" name="Picture 2"/>
          <p:cNvPicPr>
            <a:picLocks noGrp="1" noChangeAspect="1" noChangeArrowheads="1"/>
          </p:cNvPicPr>
          <p:nvPr>
            <p:ph idx="1"/>
          </p:nvPr>
        </p:nvPicPr>
        <p:blipFill>
          <a:blip r:embed="rId2"/>
          <a:srcRect/>
          <a:stretch>
            <a:fillRect/>
          </a:stretch>
        </p:blipFill>
        <p:spPr bwMode="auto">
          <a:xfrm>
            <a:off x="1051560" y="2003901"/>
            <a:ext cx="7040880" cy="371856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Working of Fuzzy Clustering</a:t>
            </a:r>
            <a:br>
              <a:rPr lang="en-US" b="1" dirty="0"/>
            </a:br>
            <a:endParaRPr lang="en-US" dirty="0"/>
          </a:p>
        </p:txBody>
      </p:sp>
      <p:sp>
        <p:nvSpPr>
          <p:cNvPr id="3" name="Content Placeholder 2"/>
          <p:cNvSpPr>
            <a:spLocks noGrp="1"/>
          </p:cNvSpPr>
          <p:nvPr>
            <p:ph idx="1"/>
          </p:nvPr>
        </p:nvSpPr>
        <p:spPr/>
        <p:txBody>
          <a:bodyPr/>
          <a:lstStyle/>
          <a:p>
            <a:pPr fontAlgn="base"/>
            <a:r>
              <a:rPr lang="en-US" dirty="0"/>
              <a:t>Fuzzy clustering assigns each data point a degree of membership for every cluster and updates these values through an iterative process. Here’s how it works:</a:t>
            </a:r>
          </a:p>
          <a:p>
            <a:pPr fontAlgn="base"/>
            <a:r>
              <a:rPr lang="en-US" b="1" dirty="0"/>
              <a:t>Step 1: Initialize Membership Values Randomly:</a:t>
            </a:r>
            <a:r>
              <a:rPr lang="en-US" dirty="0"/>
              <a:t> Each data point is given random membership scores for all clusters. A point can partially belong to multiple cluster</a:t>
            </a:r>
          </a:p>
          <a:p>
            <a:endParaRPr lang="en-US" dirty="0"/>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a:t>For example, for 2 clusters and 4 data points, an initial membership matrix (</a:t>
            </a:r>
            <a:r>
              <a:rPr lang="en-US" dirty="0" err="1"/>
              <a:t>γ</a:t>
            </a:r>
            <a:r>
              <a:rPr lang="en-US" i="1" dirty="0" err="1"/>
              <a:t>γ</a:t>
            </a:r>
            <a:r>
              <a:rPr lang="en-US" dirty="0"/>
              <a:t>) might look like:</a:t>
            </a:r>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22530" name="Picture 2"/>
          <p:cNvPicPr>
            <a:picLocks noGrp="1" noChangeAspect="1" noChangeArrowheads="1"/>
          </p:cNvPicPr>
          <p:nvPr>
            <p:ph idx="1"/>
          </p:nvPr>
        </p:nvPicPr>
        <p:blipFill>
          <a:blip r:embed="rId2"/>
          <a:srcRect/>
          <a:stretch>
            <a:fillRect/>
          </a:stretch>
        </p:blipFill>
        <p:spPr bwMode="auto">
          <a:xfrm>
            <a:off x="2541270" y="2758281"/>
            <a:ext cx="4061460" cy="22098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b="1" dirty="0"/>
              <a:t>Step 2: Compute Cluster </a:t>
            </a:r>
            <a:r>
              <a:rPr lang="en-US" b="1" dirty="0" err="1"/>
              <a:t>Centroids</a:t>
            </a:r>
            <a:r>
              <a:rPr lang="en-US" b="1" dirty="0"/>
              <a:t>:</a:t>
            </a:r>
            <a:r>
              <a:rPr lang="en-US" dirty="0"/>
              <a:t> </a:t>
            </a:r>
            <a:r>
              <a:rPr lang="en-US" dirty="0" err="1"/>
              <a:t>Centroids</a:t>
            </a:r>
            <a:r>
              <a:rPr lang="en-US" dirty="0"/>
              <a:t> are calculated as weighted averages, where weights are membership values raised to the fuzziness parameter m:</a:t>
            </a:r>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23554" name="Picture 2"/>
          <p:cNvPicPr>
            <a:picLocks noGrp="1" noChangeAspect="1" noChangeArrowheads="1"/>
          </p:cNvPicPr>
          <p:nvPr>
            <p:ph idx="1"/>
          </p:nvPr>
        </p:nvPicPr>
        <p:blipFill>
          <a:blip r:embed="rId2"/>
          <a:srcRect/>
          <a:stretch>
            <a:fillRect/>
          </a:stretch>
        </p:blipFill>
        <p:spPr bwMode="auto">
          <a:xfrm>
            <a:off x="1447800" y="2670651"/>
            <a:ext cx="5025390" cy="238506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b="1" dirty="0"/>
              <a:t>Step 3: Calculate Distance Between Data Points and </a:t>
            </a:r>
            <a:r>
              <a:rPr lang="en-US" b="1" dirty="0" err="1"/>
              <a:t>Centroids</a:t>
            </a:r>
            <a:r>
              <a:rPr lang="en-US" b="1" dirty="0"/>
              <a:t>:</a:t>
            </a:r>
            <a:r>
              <a:rPr lang="en-US" dirty="0"/>
              <a:t> Compute the Euclidean distance between each point and every </a:t>
            </a:r>
            <a:r>
              <a:rPr lang="en-US" dirty="0" err="1"/>
              <a:t>centroid</a:t>
            </a:r>
            <a:r>
              <a:rPr lang="en-US" dirty="0"/>
              <a:t> to determine proximity, which will be used to update memberships. Example for point (1,3):</a:t>
            </a:r>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24578" name="Picture 2"/>
          <p:cNvPicPr>
            <a:picLocks noGrp="1" noChangeAspect="1" noChangeArrowheads="1"/>
          </p:cNvPicPr>
          <p:nvPr>
            <p:ph idx="1"/>
          </p:nvPr>
        </p:nvPicPr>
        <p:blipFill>
          <a:blip r:embed="rId2"/>
          <a:srcRect/>
          <a:stretch>
            <a:fillRect/>
          </a:stretch>
        </p:blipFill>
        <p:spPr bwMode="auto">
          <a:xfrm>
            <a:off x="2293620" y="3276441"/>
            <a:ext cx="4556760" cy="1173480"/>
          </a:xfrm>
          <a:prstGeom prst="rect">
            <a:avLst/>
          </a:prstGeom>
          <a:noFill/>
          <a:ln w="9525">
            <a:noFill/>
            <a:miter lim="800000"/>
            <a:headEnd/>
            <a:tailEnd/>
          </a:ln>
          <a:effectLst/>
        </p:spPr>
      </p:pic>
      <p:sp>
        <p:nvSpPr>
          <p:cNvPr id="5" name="Rectangle 4"/>
          <p:cNvSpPr/>
          <p:nvPr/>
        </p:nvSpPr>
        <p:spPr>
          <a:xfrm>
            <a:off x="2971800" y="4953000"/>
            <a:ext cx="4572000" cy="646331"/>
          </a:xfrm>
          <a:prstGeom prst="rect">
            <a:avLst/>
          </a:prstGeom>
        </p:spPr>
        <p:txBody>
          <a:bodyPr>
            <a:spAutoFit/>
          </a:bodyPr>
          <a:lstStyle/>
          <a:p>
            <a:r>
              <a:rPr lang="en-US" dirty="0"/>
              <a:t>Similarly the distance of all other points is computed from both the </a:t>
            </a:r>
            <a:r>
              <a:rPr lang="en-US" dirty="0" err="1"/>
              <a:t>centroids</a:t>
            </a:r>
            <a:r>
              <a:rPr lang="en-US" dirty="0"/>
              <a:t>. </a:t>
            </a:r>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b="1" dirty="0"/>
              <a:t>Step 4: Update Membership Values:</a:t>
            </a:r>
            <a:r>
              <a:rPr lang="en-US" dirty="0"/>
              <a:t> Membership values are updated inversely proportional to these distances. Points closer to a </a:t>
            </a:r>
            <a:r>
              <a:rPr lang="en-US" dirty="0" err="1"/>
              <a:t>centroid</a:t>
            </a:r>
            <a:r>
              <a:rPr lang="en-US" dirty="0"/>
              <a:t> get higher membership.</a:t>
            </a:r>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25602" name="Picture 2"/>
          <p:cNvPicPr>
            <a:picLocks noGrp="1" noChangeAspect="1" noChangeArrowheads="1"/>
          </p:cNvPicPr>
          <p:nvPr>
            <p:ph idx="1"/>
          </p:nvPr>
        </p:nvPicPr>
        <p:blipFill>
          <a:blip r:embed="rId2"/>
          <a:srcRect/>
          <a:stretch>
            <a:fillRect/>
          </a:stretch>
        </p:blipFill>
        <p:spPr bwMode="auto">
          <a:xfrm>
            <a:off x="2289810" y="3245961"/>
            <a:ext cx="4564380" cy="123444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b="1" dirty="0"/>
              <a:t>Step 5: Repeat Until Convergence:</a:t>
            </a:r>
            <a:r>
              <a:rPr lang="en-US" dirty="0"/>
              <a:t> Steps 2–4 are repeated until the membership values stabilize meaning there are no significant changes from one iteration to the next. This indicates that the clustering has reached an optimal state.</a:t>
            </a:r>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10242" name="Picture 2"/>
          <p:cNvPicPr>
            <a:picLocks noGrp="1" noChangeAspect="1" noChangeArrowheads="1"/>
          </p:cNvPicPr>
          <p:nvPr>
            <p:ph idx="1"/>
          </p:nvPr>
        </p:nvPicPr>
        <p:blipFill>
          <a:blip r:embed="rId2"/>
          <a:srcRect/>
          <a:stretch>
            <a:fillRect/>
          </a:stretch>
        </p:blipFill>
        <p:spPr bwMode="auto">
          <a:xfrm>
            <a:off x="457200" y="1742781"/>
            <a:ext cx="8229600" cy="42408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11266" name="Picture 2"/>
          <p:cNvPicPr>
            <a:picLocks noGrp="1" noChangeAspect="1" noChangeArrowheads="1"/>
          </p:cNvPicPr>
          <p:nvPr>
            <p:ph idx="1"/>
          </p:nvPr>
        </p:nvPicPr>
        <p:blipFill>
          <a:blip r:embed="rId2"/>
          <a:srcRect/>
          <a:stretch>
            <a:fillRect/>
          </a:stretch>
        </p:blipFill>
        <p:spPr bwMode="auto">
          <a:xfrm>
            <a:off x="457200" y="1737992"/>
            <a:ext cx="8229600" cy="4250378"/>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12290" name="Picture 2"/>
          <p:cNvPicPr>
            <a:picLocks noGrp="1" noChangeAspect="1" noChangeArrowheads="1"/>
          </p:cNvPicPr>
          <p:nvPr>
            <p:ph idx="1"/>
          </p:nvPr>
        </p:nvPicPr>
        <p:blipFill>
          <a:blip r:embed="rId2"/>
          <a:srcRect/>
          <a:stretch>
            <a:fillRect/>
          </a:stretch>
        </p:blipFill>
        <p:spPr bwMode="auto">
          <a:xfrm>
            <a:off x="457200" y="1834663"/>
            <a:ext cx="8229600" cy="4057036"/>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13314" name="Picture 2"/>
          <p:cNvPicPr>
            <a:picLocks noGrp="1" noChangeAspect="1" noChangeArrowheads="1"/>
          </p:cNvPicPr>
          <p:nvPr>
            <p:ph idx="1"/>
          </p:nvPr>
        </p:nvPicPr>
        <p:blipFill>
          <a:blip r:embed="rId2"/>
          <a:srcRect/>
          <a:stretch>
            <a:fillRect/>
          </a:stretch>
        </p:blipFill>
        <p:spPr bwMode="auto">
          <a:xfrm>
            <a:off x="457200" y="2046948"/>
            <a:ext cx="8229600" cy="3632467"/>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14338" name="Picture 2"/>
          <p:cNvPicPr>
            <a:picLocks noGrp="1" noChangeAspect="1" noChangeArrowheads="1"/>
          </p:cNvPicPr>
          <p:nvPr>
            <p:ph idx="1"/>
          </p:nvPr>
        </p:nvPicPr>
        <p:blipFill>
          <a:blip r:embed="rId2"/>
          <a:srcRect/>
          <a:stretch>
            <a:fillRect/>
          </a:stretch>
        </p:blipFill>
        <p:spPr bwMode="auto">
          <a:xfrm>
            <a:off x="457200" y="2163285"/>
            <a:ext cx="8229600" cy="3399792"/>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15362" name="Picture 2"/>
          <p:cNvPicPr>
            <a:picLocks noGrp="1" noChangeAspect="1" noChangeArrowheads="1"/>
          </p:cNvPicPr>
          <p:nvPr>
            <p:ph idx="1"/>
          </p:nvPr>
        </p:nvPicPr>
        <p:blipFill>
          <a:blip r:embed="rId2"/>
          <a:srcRect/>
          <a:stretch>
            <a:fillRect/>
          </a:stretch>
        </p:blipFill>
        <p:spPr bwMode="auto">
          <a:xfrm>
            <a:off x="457200" y="2278379"/>
            <a:ext cx="8229600" cy="3169604"/>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16386" name="Picture 2"/>
          <p:cNvPicPr>
            <a:picLocks noGrp="1" noChangeAspect="1" noChangeArrowheads="1"/>
          </p:cNvPicPr>
          <p:nvPr>
            <p:ph idx="1"/>
          </p:nvPr>
        </p:nvPicPr>
        <p:blipFill>
          <a:blip r:embed="rId2"/>
          <a:srcRect/>
          <a:stretch>
            <a:fillRect/>
          </a:stretch>
        </p:blipFill>
        <p:spPr bwMode="auto">
          <a:xfrm>
            <a:off x="457200" y="2046344"/>
            <a:ext cx="8229600" cy="3633675"/>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17410" name="Picture 2"/>
          <p:cNvPicPr>
            <a:picLocks noGrp="1" noChangeAspect="1" noChangeArrowheads="1"/>
          </p:cNvPicPr>
          <p:nvPr>
            <p:ph idx="1"/>
          </p:nvPr>
        </p:nvPicPr>
        <p:blipFill>
          <a:blip r:embed="rId2"/>
          <a:srcRect/>
          <a:stretch>
            <a:fillRect/>
          </a:stretch>
        </p:blipFill>
        <p:spPr bwMode="auto">
          <a:xfrm>
            <a:off x="457200" y="1958245"/>
            <a:ext cx="8229600" cy="3809873"/>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18434" name="Picture 2"/>
          <p:cNvPicPr>
            <a:picLocks noGrp="1" noChangeAspect="1" noChangeArrowheads="1"/>
          </p:cNvPicPr>
          <p:nvPr>
            <p:ph idx="1"/>
          </p:nvPr>
        </p:nvPicPr>
        <p:blipFill>
          <a:blip r:embed="rId2"/>
          <a:srcRect/>
          <a:stretch>
            <a:fillRect/>
          </a:stretch>
        </p:blipFill>
        <p:spPr bwMode="auto">
          <a:xfrm>
            <a:off x="457200" y="1999681"/>
            <a:ext cx="8229600" cy="37270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19458" name="Picture 2"/>
          <p:cNvPicPr>
            <a:picLocks noGrp="1" noChangeAspect="1" noChangeArrowheads="1"/>
          </p:cNvPicPr>
          <p:nvPr>
            <p:ph idx="1"/>
          </p:nvPr>
        </p:nvPicPr>
        <p:blipFill>
          <a:blip r:embed="rId2"/>
          <a:srcRect/>
          <a:stretch>
            <a:fillRect/>
          </a:stretch>
        </p:blipFill>
        <p:spPr bwMode="auto">
          <a:xfrm>
            <a:off x="457200" y="2070455"/>
            <a:ext cx="8229600" cy="3585452"/>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20482" name="Picture 2"/>
          <p:cNvPicPr>
            <a:picLocks noGrp="1" noChangeAspect="1" noChangeArrowheads="1"/>
          </p:cNvPicPr>
          <p:nvPr>
            <p:ph idx="1"/>
          </p:nvPr>
        </p:nvPicPr>
        <p:blipFill>
          <a:blip r:embed="rId2"/>
          <a:srcRect/>
          <a:stretch>
            <a:fillRect/>
          </a:stretch>
        </p:blipFill>
        <p:spPr bwMode="auto">
          <a:xfrm>
            <a:off x="457200" y="2087059"/>
            <a:ext cx="8229600" cy="3552244"/>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21506" name="Picture 2"/>
          <p:cNvPicPr>
            <a:picLocks noGrp="1" noChangeAspect="1" noChangeArrowheads="1"/>
          </p:cNvPicPr>
          <p:nvPr>
            <p:ph idx="1"/>
          </p:nvPr>
        </p:nvPicPr>
        <p:blipFill>
          <a:blip r:embed="rId2"/>
          <a:srcRect/>
          <a:stretch>
            <a:fillRect/>
          </a:stretch>
        </p:blipFill>
        <p:spPr bwMode="auto">
          <a:xfrm>
            <a:off x="457200" y="2122971"/>
            <a:ext cx="8229600" cy="3480421"/>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227</TotalTime>
  <Words>387</Words>
  <Application>Microsoft Office PowerPoint</Application>
  <PresentationFormat>On-screen Show (4:3)</PresentationFormat>
  <Paragraphs>42</Paragraphs>
  <Slides>40</Slides>
  <Notes>0</Notes>
  <HiddenSlides>0</HiddenSlides>
  <MMClips>0</MMClips>
  <ScaleCrop>false</ScaleCrop>
  <HeadingPairs>
    <vt:vector size="4" baseType="variant">
      <vt:variant>
        <vt:lpstr>Theme</vt:lpstr>
      </vt:variant>
      <vt:variant>
        <vt:i4>1</vt:i4>
      </vt:variant>
      <vt:variant>
        <vt:lpstr>Slide Titles</vt:lpstr>
      </vt:variant>
      <vt:variant>
        <vt:i4>40</vt:i4>
      </vt:variant>
    </vt:vector>
  </HeadingPairs>
  <TitlesOfParts>
    <vt:vector size="41" baseType="lpstr">
      <vt:lpstr>Office Theme</vt:lpstr>
      <vt:lpstr>K-Means Clustering </vt:lpstr>
      <vt:lpstr>K-Means CLustering</vt:lpstr>
      <vt:lpstr>Applications</vt:lpstr>
      <vt:lpstr>Slide 4</vt:lpstr>
      <vt:lpstr>Slide 5</vt:lpstr>
      <vt:lpstr>K-Means -Algorithm</vt:lpstr>
      <vt:lpstr>What is K value in K-Means Clustering? </vt:lpstr>
      <vt:lpstr>Choosing K-Value</vt:lpstr>
      <vt:lpstr>Slide 9</vt:lpstr>
      <vt:lpstr>Slide 10</vt:lpstr>
      <vt:lpstr>Slide 11</vt:lpstr>
      <vt:lpstr>Slide 12</vt:lpstr>
      <vt:lpstr>Slide 13</vt:lpstr>
      <vt:lpstr>Slide 14</vt:lpstr>
      <vt:lpstr>Slide 15</vt:lpstr>
      <vt:lpstr>Slide 16</vt:lpstr>
      <vt:lpstr>Fuzzy Clustering - ML </vt:lpstr>
      <vt:lpstr>Slide 18</vt:lpstr>
      <vt:lpstr>Working of Fuzzy Clustering </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PC</dc:creator>
  <cp:lastModifiedBy>PC</cp:lastModifiedBy>
  <cp:revision>16</cp:revision>
  <dcterms:created xsi:type="dcterms:W3CDTF">2026-04-05T13:55:08Z</dcterms:created>
  <dcterms:modified xsi:type="dcterms:W3CDTF">2026-04-06T02:00:35Z</dcterms:modified>
</cp:coreProperties>
</file>