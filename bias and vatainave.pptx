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AB36D-C39F-4462-9F9F-BDD52074DE34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179DA-E36E-48EB-9844-BCDE74B9E1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Bias and Variance Tradeoff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Bias and Variance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Bias </a:t>
            </a:r>
            <a:r>
              <a:rPr lang="en-US" dirty="0"/>
              <a:t>refers to the error caused by oversimplifying a model </a:t>
            </a:r>
            <a:endParaRPr lang="en-US" dirty="0" smtClean="0"/>
          </a:p>
          <a:p>
            <a:r>
              <a:rPr lang="en-US" dirty="0" smtClean="0"/>
              <a:t>while </a:t>
            </a:r>
            <a:r>
              <a:rPr lang="en-US" dirty="0">
                <a:solidFill>
                  <a:srgbClr val="FF0000"/>
                </a:solidFill>
              </a:rPr>
              <a:t>variance</a:t>
            </a:r>
            <a:r>
              <a:rPr lang="en-US" dirty="0"/>
              <a:t> refers to the error from making the model too sensitive to training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Bias in Decision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Bias</a:t>
            </a:r>
            <a:r>
              <a:rPr lang="en-US" dirty="0" smtClean="0"/>
              <a:t> means the </a:t>
            </a:r>
            <a:r>
              <a:rPr lang="en-US" b="1" dirty="0" smtClean="0"/>
              <a:t>error caused by overly simple assumptions in the model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the model is too simple, it cannot capture the true pattern in the data.</a:t>
            </a:r>
          </a:p>
          <a:p>
            <a:r>
              <a:rPr lang="en-US" dirty="0" smtClean="0"/>
              <a:t>This leads to </a:t>
            </a:r>
            <a:r>
              <a:rPr lang="en-US" b="1" dirty="0" err="1" smtClean="0"/>
              <a:t>underfitting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If Area &lt; 1000 sq ft → Price = 20 </a:t>
            </a:r>
            <a:r>
              <a:rPr lang="en-US" dirty="0" err="1" smtClean="0">
                <a:solidFill>
                  <a:srgbClr val="FF0000"/>
                </a:solidFill>
              </a:rPr>
              <a:t>lakh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Else → Price = 50 </a:t>
            </a:r>
            <a:r>
              <a:rPr lang="en-US" dirty="0" err="1" smtClean="0">
                <a:solidFill>
                  <a:srgbClr val="FF0000"/>
                </a:solidFill>
              </a:rPr>
              <a:t>lakh</a:t>
            </a:r>
            <a:r>
              <a:rPr lang="en-US" dirty="0" smtClean="0">
                <a:solidFill>
                  <a:srgbClr val="FF0000"/>
                </a:solidFill>
              </a:rPr>
              <a:t>(Very simple </a:t>
            </a:r>
            <a:r>
              <a:rPr lang="en-US" dirty="0" smtClean="0">
                <a:solidFill>
                  <a:srgbClr val="00B050"/>
                </a:solidFill>
              </a:rPr>
              <a:t>logic)In reality more number of features will takes place</a:t>
            </a: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the model is </a:t>
            </a:r>
            <a:r>
              <a:rPr lang="en-US" b="1" dirty="0" smtClean="0"/>
              <a:t>too simple → High Bias → </a:t>
            </a:r>
            <a:r>
              <a:rPr lang="en-US" b="1" dirty="0" err="1" smtClean="0"/>
              <a:t>Underfitting</a:t>
            </a:r>
            <a:endParaRPr lang="en-US" dirty="0" smtClean="0"/>
          </a:p>
          <a:p>
            <a:r>
              <a:rPr lang="en-US" b="1" dirty="0" smtClean="0"/>
              <a:t>Characteristics of High Bias</a:t>
            </a:r>
          </a:p>
          <a:p>
            <a:r>
              <a:rPr lang="en-US" dirty="0" smtClean="0"/>
              <a:t>Model too simple</a:t>
            </a:r>
          </a:p>
          <a:p>
            <a:r>
              <a:rPr lang="en-US" dirty="0" smtClean="0"/>
              <a:t>Poor performance on </a:t>
            </a:r>
            <a:r>
              <a:rPr lang="en-US" b="1" dirty="0" smtClean="0"/>
              <a:t>training data</a:t>
            </a:r>
            <a:endParaRPr lang="en-US" dirty="0" smtClean="0"/>
          </a:p>
          <a:p>
            <a:r>
              <a:rPr lang="en-US" dirty="0" smtClean="0"/>
              <a:t>Poor performance on </a:t>
            </a:r>
            <a:r>
              <a:rPr lang="en-US" b="1" dirty="0" smtClean="0"/>
              <a:t>test data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Variance in Decision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Variance</a:t>
            </a:r>
            <a:r>
              <a:rPr lang="en-US" dirty="0" smtClean="0"/>
              <a:t> means the </a:t>
            </a:r>
            <a:r>
              <a:rPr lang="en-US" b="1" dirty="0" smtClean="0"/>
              <a:t>model is too sensitive to training data changes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Decision Trees can easily </a:t>
            </a:r>
            <a:r>
              <a:rPr lang="en-US" b="1" dirty="0" smtClean="0"/>
              <a:t>memorize the training data</a:t>
            </a:r>
            <a:r>
              <a:rPr lang="en-US" dirty="0" smtClean="0"/>
              <a:t> if we allow deep trees.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97330" y="2384901"/>
            <a:ext cx="6149340" cy="2956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deep decision </a:t>
            </a:r>
          </a:p>
          <a:p>
            <a:r>
              <a:rPr lang="en-US" dirty="0" smtClean="0"/>
              <a:t>Area &lt; 820</a:t>
            </a:r>
          </a:p>
          <a:p>
            <a:r>
              <a:rPr lang="en-US" dirty="0" smtClean="0"/>
              <a:t>Area &lt; 860</a:t>
            </a:r>
          </a:p>
          <a:p>
            <a:r>
              <a:rPr lang="en-US" dirty="0" smtClean="0"/>
              <a:t>Area &lt; 905</a:t>
            </a:r>
          </a:p>
          <a:p>
            <a:r>
              <a:rPr lang="en-US" dirty="0" smtClean="0"/>
              <a:t>Area &lt; 915 tree may create many splits:</a:t>
            </a:r>
          </a:p>
          <a:p>
            <a:r>
              <a:rPr lang="en-US" dirty="0" smtClean="0"/>
              <a:t>The tree becomes </a:t>
            </a:r>
            <a:r>
              <a:rPr lang="en-US" b="1" dirty="0" smtClean="0"/>
              <a:t>very complex</a:t>
            </a:r>
            <a:r>
              <a:rPr lang="en-US" dirty="0" smtClean="0"/>
              <a:t> and fits training data perfectly.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Area =</a:t>
            </a:r>
          </a:p>
          <a:p>
            <a:r>
              <a:rPr lang="en-US" dirty="0" smtClean="0"/>
              <a:t>Prediction may be </a:t>
            </a:r>
            <a:r>
              <a:rPr lang="en-US" b="1" dirty="0" smtClean="0"/>
              <a:t>wrong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 this is </a:t>
            </a:r>
            <a:r>
              <a:rPr lang="en-US" b="1" dirty="0" smtClean="0"/>
              <a:t>High Variance → </a:t>
            </a:r>
            <a:r>
              <a:rPr lang="en-US" b="1" dirty="0" err="1" smtClean="0"/>
              <a:t>Overfitting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 880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Characteristics of High Variance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 very complex</a:t>
            </a:r>
          </a:p>
          <a:p>
            <a:r>
              <a:rPr lang="en-US" b="1" dirty="0" smtClean="0"/>
              <a:t>Training accuracy high</a:t>
            </a:r>
            <a:endParaRPr lang="en-US" dirty="0" smtClean="0"/>
          </a:p>
          <a:p>
            <a:r>
              <a:rPr lang="en-US" b="1" dirty="0" smtClean="0"/>
              <a:t>Test accuracy low</a:t>
            </a:r>
            <a:endParaRPr lang="en-US" dirty="0" smtClean="0"/>
          </a:p>
          <a:p>
            <a:r>
              <a:rPr lang="en-US" dirty="0" smtClean="0"/>
              <a:t>Small data change → large model change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74370" y="2697321"/>
            <a:ext cx="7795260" cy="2331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8670" y="2118201"/>
            <a:ext cx="7566660" cy="3489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28850" y="2171541"/>
            <a:ext cx="4686300" cy="3383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86000" y="29673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1. Bias Formula</a:t>
            </a:r>
          </a:p>
          <a:p>
            <a:r>
              <a:rPr lang="en-US" dirty="0" smtClean="0"/>
              <a:t>Bias measures the </a:t>
            </a:r>
            <a:r>
              <a:rPr lang="en-US" b="1" dirty="0" smtClean="0"/>
              <a:t>difference between the average prediction and the true value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0" y="4572000"/>
            <a:ext cx="3992880" cy="143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543800" cy="2133600"/>
          </a:xfrm>
        </p:spPr>
        <p:txBody>
          <a:bodyPr/>
          <a:lstStyle/>
          <a:p>
            <a:r>
              <a:rPr lang="en-US" b="1" dirty="0" smtClean="0"/>
              <a:t>2. Variance Formula</a:t>
            </a:r>
          </a:p>
          <a:p>
            <a:r>
              <a:rPr lang="en-US" dirty="0" smtClean="0"/>
              <a:t>Variance measures </a:t>
            </a:r>
            <a:r>
              <a:rPr lang="en-US" b="1" dirty="0" smtClean="0"/>
              <a:t>how much predictions vary around the average prediction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3810000"/>
            <a:ext cx="49911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True value (y) = 10</a:t>
            </a:r>
          </a:p>
          <a:p>
            <a:pPr lvl="1"/>
            <a:r>
              <a:t>Predictions: ŷ1 = 8, ŷ2 = 9, ŷ3 = 13</a:t>
            </a:r>
          </a:p>
          <a:p>
            <a:pPr lvl="1"/>
            <a:r>
              <a:t>Mean Prediction E[ŷ] = (8 + 9 + 13) / 3 = 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= E[ŷ] − y</a:t>
            </a:r>
          </a:p>
          <a:p>
            <a:pPr lvl="1"/>
            <a:r>
              <a:t>Bias = 10 − 10 = 0</a:t>
            </a:r>
          </a:p>
          <a:p>
            <a:pPr lvl="1"/>
            <a:r>
              <a:t>Bias² = 0² =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Variance = [(8−10)² + (9−10)² + (13−10)²] / 3</a:t>
            </a:r>
          </a:p>
          <a:p>
            <a:pPr lvl="1"/>
            <a:r>
              <a:t>Variance = (4 + 1 + 9) / 3</a:t>
            </a:r>
          </a:p>
          <a:p>
            <a:pPr lvl="1"/>
            <a:r>
              <a:t>Variance = 14 / 3 = 4.67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= 0 → Model is correct on average</a:t>
            </a:r>
          </a:p>
          <a:p>
            <a:pPr lvl="1"/>
            <a:r>
              <a:t>Variance = 4.67 → Predictions vary significantly</a:t>
            </a:r>
          </a:p>
          <a:p>
            <a:pPr lvl="1"/>
            <a:r>
              <a:t>Conclusion: Low Bias, High Variance (Overfitting)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367</Words>
  <Application>Microsoft Office PowerPoint</Application>
  <PresentationFormat>On-screen Show (4:3)</PresentationFormat>
  <Paragraphs>54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Bias and Variance Tradeoff</vt:lpstr>
      <vt:lpstr>Bias and Variance</vt:lpstr>
      <vt:lpstr>Bias in Decision Trees</vt:lpstr>
      <vt:lpstr>Bias</vt:lpstr>
      <vt:lpstr>Variance in Decision Trees</vt:lpstr>
      <vt:lpstr>Example</vt:lpstr>
      <vt:lpstr>Slide 7</vt:lpstr>
      <vt:lpstr>Slide 8</vt:lpstr>
      <vt:lpstr>Characteristics of High Variance </vt:lpstr>
      <vt:lpstr>Slide 10</vt:lpstr>
      <vt:lpstr>Slide 11</vt:lpstr>
      <vt:lpstr>Slide 12</vt:lpstr>
      <vt:lpstr>Slide 13</vt:lpstr>
      <vt:lpstr>Slide 14</vt:lpstr>
      <vt:lpstr>Given</vt:lpstr>
      <vt:lpstr>Bias Calculation</vt:lpstr>
      <vt:lpstr>Variance Calculation</vt:lpstr>
      <vt:lpstr>Interpretation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 and Variance Tradeoff</dc:title>
  <dc:creator>PC</dc:creator>
  <cp:lastModifiedBy>PC</cp:lastModifiedBy>
  <cp:revision>7</cp:revision>
  <dcterms:created xsi:type="dcterms:W3CDTF">2026-03-08T16:17:47Z</dcterms:created>
  <dcterms:modified xsi:type="dcterms:W3CDTF">2026-03-09T03:09:28Z</dcterms:modified>
</cp:coreProperties>
</file>