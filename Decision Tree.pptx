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67"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665BAF1B-8590-4279-9E54-4BEE2733E742}" type="datetimeFigureOut">
              <a:rPr lang="en-US" smtClean="0"/>
              <a:pPr/>
              <a:t>1/30/2025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1D3AE7B9-DDF0-4022-B810-B80DD80146D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665BAF1B-8590-4279-9E54-4BEE2733E742}" type="datetimeFigureOut">
              <a:rPr lang="en-US" smtClean="0"/>
              <a:pPr/>
              <a:t>1/30/2025</a:t>
            </a:fld>
            <a:endParaRPr lang="en-US"/>
          </a:p>
        </p:txBody>
      </p:sp>
      <p:sp>
        <p:nvSpPr>
          <p:cNvPr id="9" name="Slide Number Placeholder 8"/>
          <p:cNvSpPr>
            <a:spLocks noGrp="1"/>
          </p:cNvSpPr>
          <p:nvPr>
            <p:ph type="sldNum" sz="quarter" idx="15"/>
          </p:nvPr>
        </p:nvSpPr>
        <p:spPr/>
        <p:txBody>
          <a:bodyPr rtlCol="0"/>
          <a:lstStyle/>
          <a:p>
            <a:fld id="{1D3AE7B9-DDF0-4022-B810-B80DD80146DD}"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665BAF1B-8590-4279-9E54-4BEE2733E742}" type="datetimeFigureOut">
              <a:rPr lang="en-US" smtClean="0"/>
              <a:pPr/>
              <a:t>1/30/2025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1D3AE7B9-DDF0-4022-B810-B80DD80146D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65BAF1B-8590-4279-9E54-4BEE2733E742}"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AE7B9-DDF0-4022-B810-B80DD80146DD}"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665BAF1B-8590-4279-9E54-4BEE2733E742}" type="datetimeFigureOut">
              <a:rPr lang="en-US" smtClean="0"/>
              <a:pPr/>
              <a:t>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AE7B9-DDF0-4022-B810-B80DD80146DD}"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665BAF1B-8590-4279-9E54-4BEE2733E742}" type="datetimeFigureOut">
              <a:rPr lang="en-US" smtClean="0"/>
              <a:pPr/>
              <a:t>1/30/2025</a:t>
            </a:fld>
            <a:endParaRPr lang="en-US"/>
          </a:p>
        </p:txBody>
      </p:sp>
      <p:sp>
        <p:nvSpPr>
          <p:cNvPr id="7" name="Slide Number Placeholder 6"/>
          <p:cNvSpPr>
            <a:spLocks noGrp="1"/>
          </p:cNvSpPr>
          <p:nvPr>
            <p:ph type="sldNum" sz="quarter" idx="11"/>
          </p:nvPr>
        </p:nvSpPr>
        <p:spPr/>
        <p:txBody>
          <a:bodyPr rtlCol="0"/>
          <a:lstStyle/>
          <a:p>
            <a:fld id="{1D3AE7B9-DDF0-4022-B810-B80DD80146DD}"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5BAF1B-8590-4279-9E54-4BEE2733E742}" type="datetimeFigureOut">
              <a:rPr lang="en-US" smtClean="0"/>
              <a:pPr/>
              <a:t>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AE7B9-DDF0-4022-B810-B80DD80146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665BAF1B-8590-4279-9E54-4BEE2733E742}" type="datetimeFigureOut">
              <a:rPr lang="en-US" smtClean="0"/>
              <a:pPr/>
              <a:t>1/30/2025</a:t>
            </a:fld>
            <a:endParaRPr lang="en-US"/>
          </a:p>
        </p:txBody>
      </p:sp>
      <p:sp>
        <p:nvSpPr>
          <p:cNvPr id="22" name="Slide Number Placeholder 21"/>
          <p:cNvSpPr>
            <a:spLocks noGrp="1"/>
          </p:cNvSpPr>
          <p:nvPr>
            <p:ph type="sldNum" sz="quarter" idx="15"/>
          </p:nvPr>
        </p:nvSpPr>
        <p:spPr/>
        <p:txBody>
          <a:bodyPr rtlCol="0"/>
          <a:lstStyle/>
          <a:p>
            <a:fld id="{1D3AE7B9-DDF0-4022-B810-B80DD80146DD}"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665BAF1B-8590-4279-9E54-4BEE2733E742}" type="datetimeFigureOut">
              <a:rPr lang="en-US" smtClean="0"/>
              <a:pPr/>
              <a:t>1/30/2025</a:t>
            </a:fld>
            <a:endParaRPr lang="en-US"/>
          </a:p>
        </p:txBody>
      </p:sp>
      <p:sp>
        <p:nvSpPr>
          <p:cNvPr id="18" name="Slide Number Placeholder 17"/>
          <p:cNvSpPr>
            <a:spLocks noGrp="1"/>
          </p:cNvSpPr>
          <p:nvPr>
            <p:ph type="sldNum" sz="quarter" idx="11"/>
          </p:nvPr>
        </p:nvSpPr>
        <p:spPr/>
        <p:txBody>
          <a:bodyPr rtlCol="0"/>
          <a:lstStyle/>
          <a:p>
            <a:fld id="{1D3AE7B9-DDF0-4022-B810-B80DD80146DD}"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65BAF1B-8590-4279-9E54-4BEE2733E742}"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AE7B9-DDF0-4022-B810-B80DD80146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65BAF1B-8590-4279-9E54-4BEE2733E742}"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AE7B9-DDF0-4022-B810-B80DD80146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65BAF1B-8590-4279-9E54-4BEE2733E742}" type="datetimeFigureOut">
              <a:rPr lang="en-US" smtClean="0"/>
              <a:pPr/>
              <a:t>1/30/2025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1D3AE7B9-DDF0-4022-B810-B80DD80146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Decision Tree</a:t>
            </a:r>
            <a:endParaRPr lang="en-US" dirty="0"/>
          </a:p>
        </p:txBody>
      </p:sp>
      <p:sp>
        <p:nvSpPr>
          <p:cNvPr id="3" name="Subtitle 2"/>
          <p:cNvSpPr>
            <a:spLocks noGrp="1"/>
          </p:cNvSpPr>
          <p:nvPr>
            <p:ph type="subTitle" idx="1"/>
          </p:nvPr>
        </p:nvSpPr>
        <p:spPr/>
        <p:txBody>
          <a:bodyPr/>
          <a:lstStyle/>
          <a:p>
            <a:endParaRPr lang="en-US"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sz="quarter" idx="1"/>
          </p:nvPr>
        </p:nvSpPr>
        <p:spPr/>
        <p:txBody>
          <a:bodyPr/>
          <a:lstStyle/>
          <a:p>
            <a:pPr algn="just"/>
            <a:r>
              <a:rPr lang="en-US" dirty="0" smtClean="0"/>
              <a:t>A decision tree is a </a:t>
            </a:r>
            <a:r>
              <a:rPr lang="en-US" b="1" dirty="0" smtClean="0"/>
              <a:t>graphical representation of all possible solutions to a decision</a:t>
            </a:r>
            <a:r>
              <a:rPr lang="en-US" dirty="0" smtClean="0"/>
              <a:t>. </a:t>
            </a:r>
          </a:p>
          <a:p>
            <a:pPr algn="just"/>
            <a:r>
              <a:rPr lang="en-US" dirty="0" smtClean="0"/>
              <a:t>These days, tree-based algorithms are the most commonly used algorithms in the case of supervised learning scenarios. </a:t>
            </a:r>
          </a:p>
          <a:p>
            <a:pPr algn="just"/>
            <a:r>
              <a:rPr lang="en-US" dirty="0" smtClean="0"/>
              <a:t>They are easier to interpret and visualize with great adaptability. </a:t>
            </a:r>
          </a:p>
          <a:p>
            <a:pPr algn="just"/>
            <a:r>
              <a:rPr lang="en-US" dirty="0" smtClean="0"/>
              <a:t>We can use tree-based algorithms for both regression and classification problems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sz="quarter" idx="1"/>
          </p:nvPr>
        </p:nvSpPr>
        <p:spPr/>
        <p:txBody>
          <a:bodyPr>
            <a:normAutofit lnSpcReduction="10000"/>
          </a:bodyPr>
          <a:lstStyle/>
          <a:p>
            <a:pPr algn="just"/>
            <a:r>
              <a:rPr lang="en-US" dirty="0" smtClean="0"/>
              <a:t>Yesterday evening, I </a:t>
            </a:r>
            <a:r>
              <a:rPr lang="en-US" i="1" dirty="0" smtClean="0"/>
              <a:t>skipped dinner</a:t>
            </a:r>
            <a:r>
              <a:rPr lang="en-US" dirty="0" smtClean="0"/>
              <a:t> at my usual time because I was busy taking care of some stuff. </a:t>
            </a:r>
          </a:p>
          <a:p>
            <a:pPr algn="just"/>
            <a:r>
              <a:rPr lang="en-US" dirty="0" smtClean="0"/>
              <a:t>Later in the night, I felt butterflies in my stomach. I thought only if</a:t>
            </a:r>
            <a:r>
              <a:rPr lang="en-US" i="1" dirty="0" smtClean="0"/>
              <a:t> I wasn’t hungry</a:t>
            </a:r>
            <a:r>
              <a:rPr lang="en-US" dirty="0" smtClean="0"/>
              <a:t>, I could have gone to sleep as it is but as that was not the case, </a:t>
            </a:r>
            <a:r>
              <a:rPr lang="en-US" i="1" dirty="0" smtClean="0"/>
              <a:t>I decided to eat</a:t>
            </a:r>
            <a:r>
              <a:rPr lang="en-US" dirty="0" smtClean="0"/>
              <a:t> something. </a:t>
            </a:r>
          </a:p>
          <a:p>
            <a:pPr algn="just"/>
            <a:r>
              <a:rPr lang="en-US" dirty="0" smtClean="0"/>
              <a:t>I had two options, to </a:t>
            </a:r>
            <a:r>
              <a:rPr lang="en-US" i="1" dirty="0" smtClean="0"/>
              <a:t>order something from outside</a:t>
            </a:r>
            <a:r>
              <a:rPr lang="en-US" dirty="0" smtClean="0"/>
              <a:t> or cook myself.</a:t>
            </a:r>
          </a:p>
          <a:p>
            <a:pPr algn="just"/>
            <a:r>
              <a:rPr lang="en-US" dirty="0" smtClean="0"/>
              <a:t>I figured if I order, I will have to spare at least </a:t>
            </a:r>
            <a:r>
              <a:rPr lang="en-US" i="1" dirty="0" smtClean="0"/>
              <a:t>INR 250</a:t>
            </a:r>
            <a:r>
              <a:rPr lang="en-US" dirty="0" smtClean="0"/>
              <a:t> on it. I finally decided to order it anyway as it was pretty late and I was in no mood of cooking.</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Representation</a:t>
            </a:r>
            <a:endParaRPr lang="en-US" dirty="0"/>
          </a:p>
        </p:txBody>
      </p:sp>
      <p:pic>
        <p:nvPicPr>
          <p:cNvPr id="1026" name="Picture 2"/>
          <p:cNvPicPr>
            <a:picLocks noGrp="1" noChangeAspect="1" noChangeArrowheads="1"/>
          </p:cNvPicPr>
          <p:nvPr>
            <p:ph sz="quarter" idx="1"/>
          </p:nvPr>
        </p:nvPicPr>
        <p:blipFill>
          <a:blip r:embed="rId2"/>
          <a:srcRect/>
          <a:stretch>
            <a:fillRect/>
          </a:stretch>
        </p:blipFill>
        <p:spPr bwMode="auto">
          <a:xfrm>
            <a:off x="457200" y="1500174"/>
            <a:ext cx="7972452" cy="478634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p:sp>
        <p:nvSpPr>
          <p:cNvPr id="3" name="Content Placeholder 2"/>
          <p:cNvSpPr>
            <a:spLocks noGrp="1"/>
          </p:cNvSpPr>
          <p:nvPr>
            <p:ph sz="quarter" idx="1"/>
          </p:nvPr>
        </p:nvSpPr>
        <p:spPr/>
        <p:txBody>
          <a:bodyPr/>
          <a:lstStyle/>
          <a:p>
            <a:pPr algn="just"/>
            <a:r>
              <a:rPr lang="en-US" dirty="0" smtClean="0"/>
              <a:t>The purity of the node should increase with respect to the target variable after each split. The decision tree splits the nodes on all available variables and then selects the split which results in the most homogeneous sub-nodes.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Ways</a:t>
            </a:r>
            <a:endParaRPr lang="en-US" dirty="0"/>
          </a:p>
        </p:txBody>
      </p:sp>
      <p:sp>
        <p:nvSpPr>
          <p:cNvPr id="3" name="Content Placeholder 2"/>
          <p:cNvSpPr>
            <a:spLocks noGrp="1"/>
          </p:cNvSpPr>
          <p:nvPr>
            <p:ph sz="quarter" idx="1"/>
          </p:nvPr>
        </p:nvSpPr>
        <p:spPr/>
        <p:txBody>
          <a:bodyPr/>
          <a:lstStyle/>
          <a:p>
            <a:pPr>
              <a:buNone/>
            </a:pPr>
            <a:r>
              <a:rPr lang="en-US" dirty="0" smtClean="0"/>
              <a:t>1. </a:t>
            </a:r>
            <a:r>
              <a:rPr lang="en-US" dirty="0" err="1" smtClean="0"/>
              <a:t>Gini</a:t>
            </a:r>
            <a:r>
              <a:rPr lang="en-US" dirty="0" smtClean="0"/>
              <a:t> impurity</a:t>
            </a:r>
          </a:p>
          <a:p>
            <a:pPr>
              <a:buNone/>
            </a:pPr>
            <a:r>
              <a:rPr lang="en-US" dirty="0" smtClean="0"/>
              <a:t>2. Chi-Square</a:t>
            </a:r>
          </a:p>
          <a:p>
            <a:pPr>
              <a:buNone/>
            </a:pPr>
            <a:r>
              <a:rPr lang="en-US" dirty="0" smtClean="0"/>
              <a:t>3. Information Gain </a:t>
            </a:r>
          </a:p>
          <a:p>
            <a:pPr>
              <a:buNone/>
            </a:pPr>
            <a:r>
              <a:rPr lang="en-US" dirty="0" smtClean="0"/>
              <a:t>4. Entropy</a:t>
            </a:r>
          </a:p>
          <a:p>
            <a:pPr>
              <a:buNone/>
            </a:pPr>
            <a:r>
              <a:rPr lang="en-US" dirty="0" smtClean="0"/>
              <a:t>5. Reduction in Variance</a:t>
            </a:r>
          </a:p>
          <a:p>
            <a:pPr>
              <a:buNone/>
            </a:pPr>
            <a:r>
              <a:rPr lang="en-US" dirty="0" smtClean="0"/>
              <a:t/>
            </a:r>
            <a:br>
              <a:rPr lang="en-US"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Gini</a:t>
            </a:r>
            <a:r>
              <a:rPr lang="en-US" dirty="0" smtClean="0"/>
              <a:t> impurity</a:t>
            </a:r>
            <a:endParaRPr lang="en-US" dirty="0"/>
          </a:p>
        </p:txBody>
      </p:sp>
      <p:sp>
        <p:nvSpPr>
          <p:cNvPr id="3" name="Content Placeholder 2"/>
          <p:cNvSpPr>
            <a:spLocks noGrp="1"/>
          </p:cNvSpPr>
          <p:nvPr>
            <p:ph sz="quarter" idx="1"/>
          </p:nvPr>
        </p:nvSpPr>
        <p:spPr/>
        <p:txBody>
          <a:bodyPr/>
          <a:lstStyle/>
          <a:p>
            <a:r>
              <a:rPr lang="en-US" dirty="0" smtClean="0"/>
              <a:t>Calculate </a:t>
            </a:r>
            <a:r>
              <a:rPr lang="en-US" dirty="0" err="1" smtClean="0"/>
              <a:t>Gini</a:t>
            </a:r>
            <a:r>
              <a:rPr lang="en-US" dirty="0" smtClean="0"/>
              <a:t> impurity for sub-nodes, using the formula subtracting the sum of the square of probability for success and failure from one.</a:t>
            </a:r>
            <a:br>
              <a:rPr lang="en-US" dirty="0" smtClean="0"/>
            </a:br>
            <a:r>
              <a:rPr lang="en-US" dirty="0" smtClean="0"/>
              <a:t>1-(p²+q²)</a:t>
            </a:r>
            <a:br>
              <a:rPr lang="en-US" dirty="0" smtClean="0"/>
            </a:br>
            <a:r>
              <a:rPr lang="en-US" dirty="0" smtClean="0"/>
              <a:t>where p =P(Success) &amp; q=P(Failure)</a:t>
            </a:r>
          </a:p>
          <a:p>
            <a:r>
              <a:rPr lang="en-US" dirty="0" smtClean="0"/>
              <a:t>Calculate </a:t>
            </a:r>
            <a:r>
              <a:rPr lang="en-US" dirty="0" err="1" smtClean="0"/>
              <a:t>Gini</a:t>
            </a:r>
            <a:r>
              <a:rPr lang="en-US" dirty="0" smtClean="0"/>
              <a:t> for split using the weighted </a:t>
            </a:r>
            <a:r>
              <a:rPr lang="en-US" dirty="0" err="1" smtClean="0"/>
              <a:t>Gini</a:t>
            </a:r>
            <a:r>
              <a:rPr lang="en-US" dirty="0" smtClean="0"/>
              <a:t> score of each node of that split</a:t>
            </a:r>
          </a:p>
          <a:p>
            <a:r>
              <a:rPr lang="en-US" dirty="0" smtClean="0"/>
              <a:t>Select the feature with the least </a:t>
            </a:r>
            <a:r>
              <a:rPr lang="en-US" dirty="0" err="1" smtClean="0"/>
              <a:t>Gini</a:t>
            </a:r>
            <a:r>
              <a:rPr lang="en-US" dirty="0" smtClean="0"/>
              <a:t> impurity for the split.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Chi-Square</a:t>
            </a:r>
            <a:endParaRPr lang="en-US" dirty="0"/>
          </a:p>
        </p:txBody>
      </p:sp>
      <p:sp>
        <p:nvSpPr>
          <p:cNvPr id="3" name="Content Placeholder 2"/>
          <p:cNvSpPr>
            <a:spLocks noGrp="1"/>
          </p:cNvSpPr>
          <p:nvPr>
            <p:ph sz="quarter" idx="1"/>
          </p:nvPr>
        </p:nvSpPr>
        <p:spPr/>
        <p:txBody>
          <a:bodyPr/>
          <a:lstStyle/>
          <a:p>
            <a:r>
              <a:rPr lang="en-US" dirty="0" smtClean="0"/>
              <a:t>Calculate Chi-square for an individual node by calculating the deviation for Success and Failure both</a:t>
            </a:r>
          </a:p>
          <a:p>
            <a:r>
              <a:rPr lang="en-US" dirty="0" smtClean="0"/>
              <a:t>Calculated Chi-square of Split using Sum of all Chi-square of success and Failure of each node of the split</a:t>
            </a:r>
          </a:p>
          <a:p>
            <a:r>
              <a:rPr lang="en-US" dirty="0" smtClean="0"/>
              <a:t>Select the split where Chi-Square is maximum.</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CHI-SQUARE Formula</a:t>
            </a:r>
            <a:endParaRPr lang="en-US"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428596" y="1643050"/>
            <a:ext cx="7715304" cy="214314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Gain &amp; Entropy</a:t>
            </a:r>
            <a:endParaRPr lang="en-US" dirty="0"/>
          </a:p>
        </p:txBody>
      </p:sp>
      <p:sp>
        <p:nvSpPr>
          <p:cNvPr id="3" name="Content Placeholder 2"/>
          <p:cNvSpPr>
            <a:spLocks noGrp="1"/>
          </p:cNvSpPr>
          <p:nvPr>
            <p:ph sz="quarter" idx="1"/>
          </p:nvPr>
        </p:nvSpPr>
        <p:spPr/>
        <p:txBody>
          <a:bodyPr/>
          <a:lstStyle/>
          <a:p>
            <a:r>
              <a:rPr lang="en-US" dirty="0" smtClean="0"/>
              <a:t>A less impure node requires less information to describe it and, a more impure node requires more information. </a:t>
            </a:r>
          </a:p>
          <a:p>
            <a:r>
              <a:rPr lang="en-US" dirty="0" smtClean="0"/>
              <a:t>Information theory is a measure to define this degree of disorganization in a system known as Entropy. </a:t>
            </a:r>
          </a:p>
          <a:p>
            <a:r>
              <a:rPr lang="en-US" dirty="0" smtClean="0"/>
              <a:t>If the sample is completely homogeneous, then the entropy is zero and if the sample is equally divided (50% — 50%), it has an entropy of one.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Entropy is calculated as follows.</a:t>
            </a:r>
            <a:endParaRPr lang="en-US" dirty="0"/>
          </a:p>
        </p:txBody>
      </p:sp>
      <p:pic>
        <p:nvPicPr>
          <p:cNvPr id="3074" name="Picture 2"/>
          <p:cNvPicPr>
            <a:picLocks noGrp="1" noChangeAspect="1" noChangeArrowheads="1"/>
          </p:cNvPicPr>
          <p:nvPr>
            <p:ph sz="quarter" idx="1"/>
          </p:nvPr>
        </p:nvPicPr>
        <p:blipFill>
          <a:blip r:embed="rId2"/>
          <a:srcRect/>
          <a:stretch>
            <a:fillRect/>
          </a:stretch>
        </p:blipFill>
        <p:spPr bwMode="auto">
          <a:xfrm>
            <a:off x="571472" y="1714488"/>
            <a:ext cx="7500990" cy="2770199"/>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a:t>
            </a:r>
            <a:endParaRPr lang="en-US" dirty="0"/>
          </a:p>
        </p:txBody>
      </p:sp>
      <p:sp>
        <p:nvSpPr>
          <p:cNvPr id="3" name="Content Placeholder 2"/>
          <p:cNvSpPr>
            <a:spLocks noGrp="1"/>
          </p:cNvSpPr>
          <p:nvPr>
            <p:ph sz="quarter" idx="1"/>
          </p:nvPr>
        </p:nvSpPr>
        <p:spPr/>
        <p:txBody>
          <a:bodyPr/>
          <a:lstStyle/>
          <a:p>
            <a:r>
              <a:rPr lang="en-US" dirty="0" smtClean="0"/>
              <a:t>Calculate the entropy of the parent node</a:t>
            </a:r>
          </a:p>
          <a:p>
            <a:r>
              <a:rPr lang="en-US" dirty="0" smtClean="0"/>
              <a:t>Calculate entropy of each individual node of split and calculate the weighted average of all sub-nodes available in the split. The lesser the entropy, the better it is.</a:t>
            </a:r>
          </a:p>
          <a:p>
            <a:r>
              <a:rPr lang="en-US" dirty="0" smtClean="0"/>
              <a:t>calculate information gain as follows and chose the node with the highest information gain for splitting</a:t>
            </a:r>
          </a:p>
          <a:p>
            <a:r>
              <a:rPr lang="en-US" b="1" dirty="0" smtClean="0"/>
              <a:t>Information Gain=Entropy (p)-Entropy(A)</a:t>
            </a:r>
            <a:endParaRPr lang="en-US"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Reduction in variance</a:t>
            </a:r>
            <a:endParaRPr lang="en-US" dirty="0"/>
          </a:p>
        </p:txBody>
      </p:sp>
      <p:sp>
        <p:nvSpPr>
          <p:cNvPr id="3" name="Content Placeholder 2"/>
          <p:cNvSpPr>
            <a:spLocks noGrp="1"/>
          </p:cNvSpPr>
          <p:nvPr>
            <p:ph sz="quarter" idx="1"/>
          </p:nvPr>
        </p:nvSpPr>
        <p:spPr/>
        <p:txBody>
          <a:bodyPr>
            <a:normAutofit/>
          </a:bodyPr>
          <a:lstStyle/>
          <a:p>
            <a:r>
              <a:rPr lang="en-US" dirty="0" smtClean="0"/>
              <a:t>Reduction in variance is an algorithm used for continuous target variables (regression problems).</a:t>
            </a:r>
          </a:p>
          <a:p>
            <a:r>
              <a:rPr lang="en-US" dirty="0" smtClean="0"/>
              <a:t>Used for continuous variables</a:t>
            </a:r>
          </a:p>
          <a:p>
            <a:r>
              <a:rPr lang="en-US" dirty="0" smtClean="0"/>
              <a:t>This algorithm uses the standard formula of variance to choose the best split.</a:t>
            </a:r>
          </a:p>
          <a:p>
            <a:r>
              <a:rPr lang="en-US" dirty="0" smtClean="0"/>
              <a:t>The split with lower variance is selected as the criteria to split the population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a:t>
            </a:r>
            <a:endParaRPr lang="en-US" dirty="0"/>
          </a:p>
        </p:txBody>
      </p:sp>
      <p:sp>
        <p:nvSpPr>
          <p:cNvPr id="3" name="Content Placeholder 2"/>
          <p:cNvSpPr>
            <a:spLocks noGrp="1"/>
          </p:cNvSpPr>
          <p:nvPr>
            <p:ph sz="quarter" idx="1"/>
          </p:nvPr>
        </p:nvSpPr>
        <p:spPr/>
        <p:txBody>
          <a:bodyPr>
            <a:normAutofit/>
          </a:bodyPr>
          <a:lstStyle/>
          <a:p>
            <a:r>
              <a:rPr lang="en-US" dirty="0" smtClean="0"/>
              <a:t>Calculate variance for each node.</a:t>
            </a:r>
          </a:p>
          <a:p>
            <a:r>
              <a:rPr lang="en-US" dirty="0" smtClean="0"/>
              <a:t>Calculate variance for each split as a weighted average of each node variance.</a:t>
            </a:r>
          </a:p>
          <a:p>
            <a:r>
              <a:rPr lang="en-US" dirty="0" smtClean="0"/>
              <a:t>The node with lower variance is selected as the criteria to split.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Variance Formula</a:t>
            </a:r>
            <a:endParaRPr lang="en-US" dirty="0"/>
          </a:p>
        </p:txBody>
      </p:sp>
      <p:pic>
        <p:nvPicPr>
          <p:cNvPr id="5122" name="Picture 2"/>
          <p:cNvPicPr>
            <a:picLocks noGrp="1" noChangeAspect="1" noChangeArrowheads="1"/>
          </p:cNvPicPr>
          <p:nvPr>
            <p:ph sz="quarter" idx="1"/>
          </p:nvPr>
        </p:nvPicPr>
        <p:blipFill>
          <a:blip r:embed="rId2"/>
          <a:srcRect/>
          <a:stretch>
            <a:fillRect/>
          </a:stretch>
        </p:blipFill>
        <p:spPr bwMode="auto">
          <a:xfrm>
            <a:off x="571472" y="1643050"/>
            <a:ext cx="7572428" cy="3500462"/>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pic>
        <p:nvPicPr>
          <p:cNvPr id="6146" name="Picture 2"/>
          <p:cNvPicPr>
            <a:picLocks noGrp="1" noChangeAspect="1" noChangeArrowheads="1"/>
          </p:cNvPicPr>
          <p:nvPr>
            <p:ph sz="quarter" idx="1"/>
          </p:nvPr>
        </p:nvPicPr>
        <p:blipFill>
          <a:blip r:embed="rId2"/>
          <a:srcRect/>
          <a:stretch>
            <a:fillRect/>
          </a:stretch>
        </p:blipFill>
        <p:spPr bwMode="auto">
          <a:xfrm>
            <a:off x="0" y="1643050"/>
            <a:ext cx="8643966" cy="485778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Step-1</a:t>
            </a:r>
            <a:endParaRPr lang="en-US" dirty="0"/>
          </a:p>
        </p:txBody>
      </p:sp>
      <p:sp>
        <p:nvSpPr>
          <p:cNvPr id="3" name="Content Placeholder 2"/>
          <p:cNvSpPr>
            <a:spLocks noGrp="1"/>
          </p:cNvSpPr>
          <p:nvPr>
            <p:ph sz="quarter" idx="1"/>
          </p:nvPr>
        </p:nvSpPr>
        <p:spPr/>
        <p:txBody>
          <a:bodyPr/>
          <a:lstStyle/>
          <a:p>
            <a:r>
              <a:rPr lang="en-US" b="1" i="1" dirty="0" smtClean="0"/>
              <a:t>Find the entropy of the class variable.</a:t>
            </a:r>
            <a:endParaRPr lang="en-US" dirty="0" smtClean="0"/>
          </a:p>
          <a:p>
            <a:r>
              <a:rPr lang="en-US" dirty="0" smtClean="0"/>
              <a:t>E(S) = -[(9/14)log(9/14) + (5/14)log(5/14)] = 0.94</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Outlook</a:t>
            </a:r>
            <a:endParaRPr lang="en-US" dirty="0"/>
          </a:p>
        </p:txBody>
      </p:sp>
      <p:pic>
        <p:nvPicPr>
          <p:cNvPr id="7170" name="Picture 2"/>
          <p:cNvPicPr>
            <a:picLocks noGrp="1" noChangeAspect="1" noChangeArrowheads="1"/>
          </p:cNvPicPr>
          <p:nvPr>
            <p:ph sz="quarter" idx="1"/>
          </p:nvPr>
        </p:nvPicPr>
        <p:blipFill>
          <a:blip r:embed="rId2"/>
          <a:srcRect/>
          <a:stretch>
            <a:fillRect/>
          </a:stretch>
        </p:blipFill>
        <p:spPr bwMode="auto">
          <a:xfrm>
            <a:off x="428596" y="1500174"/>
            <a:ext cx="8358245" cy="4786346"/>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average weighted entropy</a:t>
            </a:r>
            <a:endParaRPr lang="en-US" dirty="0"/>
          </a:p>
        </p:txBody>
      </p:sp>
      <p:sp>
        <p:nvSpPr>
          <p:cNvPr id="3" name="Content Placeholder 2"/>
          <p:cNvSpPr>
            <a:spLocks noGrp="1"/>
          </p:cNvSpPr>
          <p:nvPr>
            <p:ph sz="quarter" idx="1"/>
          </p:nvPr>
        </p:nvSpPr>
        <p:spPr/>
        <p:txBody>
          <a:bodyPr/>
          <a:lstStyle/>
          <a:p>
            <a:r>
              <a:rPr lang="pt-BR" dirty="0" smtClean="0"/>
              <a:t>E(S, outlook) </a:t>
            </a:r>
          </a:p>
          <a:p>
            <a:pPr>
              <a:buNone/>
            </a:pPr>
            <a:r>
              <a:rPr lang="pt-BR" dirty="0" smtClean="0"/>
              <a:t>= (5/14)*E(3,2) + (4/14)*E(4,0) + (5/14)*E(2,3)</a:t>
            </a:r>
          </a:p>
          <a:p>
            <a:pPr>
              <a:buNone/>
            </a:pPr>
            <a:r>
              <a:rPr lang="pt-BR" dirty="0" smtClean="0"/>
              <a:t> = (5/14)(-(3/5)log(3/5)-(2/5)log(2/5))+ (4/14)(0) + (5/14)((2/5)log(2/5)-(3/5)log(3/5)) </a:t>
            </a:r>
          </a:p>
          <a:p>
            <a:pPr>
              <a:buNone/>
            </a:pPr>
            <a:r>
              <a:rPr lang="pt-BR" dirty="0" smtClean="0"/>
              <a:t>= 0.693</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Gain</a:t>
            </a:r>
            <a:endParaRPr lang="en-US" dirty="0"/>
          </a:p>
        </p:txBody>
      </p:sp>
      <p:sp>
        <p:nvSpPr>
          <p:cNvPr id="3" name="Content Placeholder 2"/>
          <p:cNvSpPr>
            <a:spLocks noGrp="1"/>
          </p:cNvSpPr>
          <p:nvPr>
            <p:ph sz="quarter" idx="1"/>
          </p:nvPr>
        </p:nvSpPr>
        <p:spPr/>
        <p:txBody>
          <a:bodyPr/>
          <a:lstStyle/>
          <a:p>
            <a:r>
              <a:rPr lang="en-US" dirty="0" smtClean="0"/>
              <a:t>It is the difference between parent entropy and average weighted entropy we found above.</a:t>
            </a:r>
          </a:p>
          <a:p>
            <a:r>
              <a:rPr lang="en-US" dirty="0" smtClean="0"/>
              <a:t>IG(S, outlook) = 0.94 - 0.693 = 0.247</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Features</a:t>
            </a:r>
            <a:endParaRPr lang="en-US" dirty="0"/>
          </a:p>
        </p:txBody>
      </p:sp>
      <p:sp>
        <p:nvSpPr>
          <p:cNvPr id="3" name="Content Placeholder 2"/>
          <p:cNvSpPr>
            <a:spLocks noGrp="1"/>
          </p:cNvSpPr>
          <p:nvPr>
            <p:ph sz="quarter" idx="1"/>
          </p:nvPr>
        </p:nvSpPr>
        <p:spPr/>
        <p:txBody>
          <a:bodyPr/>
          <a:lstStyle/>
          <a:p>
            <a:r>
              <a:rPr lang="en-US" dirty="0" smtClean="0"/>
              <a:t>Similarly find Information gain for Temperature, Humidity, and Windy.</a:t>
            </a:r>
          </a:p>
          <a:p>
            <a:r>
              <a:rPr lang="en-US" dirty="0" smtClean="0"/>
              <a:t>IG(S, outlook) = 0.94 - 0.693 = 0.247 (highest)</a:t>
            </a:r>
          </a:p>
          <a:p>
            <a:r>
              <a:rPr lang="en-US" dirty="0" smtClean="0"/>
              <a:t>IG(S, Temperature) = 0.940 - 0.911 = 0.029</a:t>
            </a:r>
          </a:p>
          <a:p>
            <a:r>
              <a:rPr lang="en-US" dirty="0" smtClean="0"/>
              <a:t>IG(S, Humidity) = 0.940 - 0.788 = 0.152</a:t>
            </a:r>
          </a:p>
          <a:p>
            <a:r>
              <a:rPr lang="en-US" dirty="0" smtClean="0"/>
              <a:t>IG(S, Windy) = 0.940 - 0.8932 = 0.048</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Outlook=sunny</a:t>
            </a:r>
            <a:endParaRPr lang="en-US" dirty="0"/>
          </a:p>
        </p:txBody>
      </p:sp>
      <p:pic>
        <p:nvPicPr>
          <p:cNvPr id="1026" name="Picture 2"/>
          <p:cNvPicPr>
            <a:picLocks noGrp="1" noChangeAspect="1" noChangeArrowheads="1"/>
          </p:cNvPicPr>
          <p:nvPr>
            <p:ph sz="quarter" idx="1"/>
          </p:nvPr>
        </p:nvPicPr>
        <p:blipFill>
          <a:blip r:embed="rId2"/>
          <a:srcRect/>
          <a:stretch>
            <a:fillRect/>
          </a:stretch>
        </p:blipFill>
        <p:spPr bwMode="auto">
          <a:xfrm>
            <a:off x="357158" y="1857364"/>
            <a:ext cx="8072494" cy="4286279"/>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Outlook=overcast</a:t>
            </a:r>
            <a:endParaRPr lang="en-US"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214282" y="1643050"/>
            <a:ext cx="8286808" cy="4857783"/>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outlook=rain</a:t>
            </a:r>
            <a:endParaRPr lang="en-US" dirty="0"/>
          </a:p>
        </p:txBody>
      </p:sp>
      <p:pic>
        <p:nvPicPr>
          <p:cNvPr id="3074" name="Picture 2"/>
          <p:cNvPicPr>
            <a:picLocks noGrp="1" noChangeAspect="1" noChangeArrowheads="1"/>
          </p:cNvPicPr>
          <p:nvPr>
            <p:ph sz="quarter" idx="1"/>
          </p:nvPr>
        </p:nvPicPr>
        <p:blipFill>
          <a:blip r:embed="rId2"/>
          <a:srcRect/>
          <a:stretch>
            <a:fillRect/>
          </a:stretch>
        </p:blipFill>
        <p:spPr bwMode="auto">
          <a:xfrm>
            <a:off x="500034" y="1857364"/>
            <a:ext cx="7500990" cy="4143404"/>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Decision Tree</a:t>
            </a:r>
            <a:endParaRPr lang="en-US" dirty="0"/>
          </a:p>
        </p:txBody>
      </p:sp>
      <p:pic>
        <p:nvPicPr>
          <p:cNvPr id="4098" name="Picture 2"/>
          <p:cNvPicPr>
            <a:picLocks noGrp="1" noChangeAspect="1" noChangeArrowheads="1"/>
          </p:cNvPicPr>
          <p:nvPr>
            <p:ph sz="quarter" idx="1"/>
          </p:nvPr>
        </p:nvPicPr>
        <p:blipFill>
          <a:blip r:embed="rId2"/>
          <a:srcRect/>
          <a:stretch>
            <a:fillRect/>
          </a:stretch>
        </p:blipFill>
        <p:spPr bwMode="auto">
          <a:xfrm>
            <a:off x="928662" y="2000240"/>
            <a:ext cx="6858048" cy="35719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Sunny Becomes Parent Node</a:t>
            </a:r>
            <a:endParaRPr lang="en-US" dirty="0"/>
          </a:p>
        </p:txBody>
      </p:sp>
      <p:sp>
        <p:nvSpPr>
          <p:cNvPr id="3" name="Content Placeholder 2"/>
          <p:cNvSpPr>
            <a:spLocks noGrp="1"/>
          </p:cNvSpPr>
          <p:nvPr>
            <p:ph sz="quarter" idx="1"/>
          </p:nvPr>
        </p:nvSpPr>
        <p:spPr/>
        <p:txBody>
          <a:bodyPr/>
          <a:lstStyle/>
          <a:p>
            <a:r>
              <a:rPr lang="en-US" dirty="0" smtClean="0"/>
              <a:t>E(sunny) = (-(3/5)log(3/5)-(2/5)log(2/5)) = 0.971</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Now Calculate the information gain of Temperature. IG(sunny, Temperature)</a:t>
            </a:r>
            <a:endParaRPr lang="en-US" dirty="0"/>
          </a:p>
        </p:txBody>
      </p:sp>
      <p:pic>
        <p:nvPicPr>
          <p:cNvPr id="5122" name="Picture 2"/>
          <p:cNvPicPr>
            <a:picLocks noGrp="1" noChangeAspect="1" noChangeArrowheads="1"/>
          </p:cNvPicPr>
          <p:nvPr>
            <p:ph sz="quarter" idx="1"/>
          </p:nvPr>
        </p:nvPicPr>
        <p:blipFill>
          <a:blip r:embed="rId2"/>
          <a:srcRect/>
          <a:stretch>
            <a:fillRect/>
          </a:stretch>
        </p:blipFill>
        <p:spPr bwMode="auto">
          <a:xfrm>
            <a:off x="285720" y="1643050"/>
            <a:ext cx="7786741" cy="4214842"/>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Entropy and Information Gain</a:t>
            </a:r>
            <a:endParaRPr lang="en-US" dirty="0"/>
          </a:p>
        </p:txBody>
      </p:sp>
      <p:pic>
        <p:nvPicPr>
          <p:cNvPr id="6146" name="Picture 2"/>
          <p:cNvPicPr>
            <a:picLocks noGrp="1" noChangeAspect="1" noChangeArrowheads="1"/>
          </p:cNvPicPr>
          <p:nvPr>
            <p:ph sz="quarter" idx="1"/>
          </p:nvPr>
        </p:nvPicPr>
        <p:blipFill>
          <a:blip r:embed="rId2"/>
          <a:srcRect/>
          <a:stretch>
            <a:fillRect/>
          </a:stretch>
        </p:blipFill>
        <p:spPr bwMode="auto">
          <a:xfrm>
            <a:off x="357158" y="1500174"/>
            <a:ext cx="8001056" cy="5072098"/>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features</a:t>
            </a:r>
            <a:endParaRPr lang="en-US" dirty="0"/>
          </a:p>
        </p:txBody>
      </p:sp>
      <p:pic>
        <p:nvPicPr>
          <p:cNvPr id="7170" name="Picture 2"/>
          <p:cNvPicPr>
            <a:picLocks noGrp="1" noChangeAspect="1" noChangeArrowheads="1"/>
          </p:cNvPicPr>
          <p:nvPr>
            <p:ph sz="quarter" idx="1"/>
          </p:nvPr>
        </p:nvPicPr>
        <p:blipFill>
          <a:blip r:embed="rId2"/>
          <a:srcRect/>
          <a:stretch>
            <a:fillRect/>
          </a:stretch>
        </p:blipFill>
        <p:spPr bwMode="auto">
          <a:xfrm>
            <a:off x="357158" y="1928802"/>
            <a:ext cx="7786742" cy="457203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Decision Tree</a:t>
            </a:r>
            <a:endParaRPr lang="en-US" dirty="0"/>
          </a:p>
        </p:txBody>
      </p:sp>
      <p:pic>
        <p:nvPicPr>
          <p:cNvPr id="8195" name="Picture 3"/>
          <p:cNvPicPr>
            <a:picLocks noGrp="1" noChangeAspect="1" noChangeArrowheads="1"/>
          </p:cNvPicPr>
          <p:nvPr>
            <p:ph sz="quarter" idx="1"/>
          </p:nvPr>
        </p:nvPicPr>
        <p:blipFill>
          <a:blip r:embed="rId2"/>
          <a:srcRect/>
          <a:stretch>
            <a:fillRect/>
          </a:stretch>
        </p:blipFill>
        <p:spPr bwMode="auto">
          <a:xfrm>
            <a:off x="214282" y="1643050"/>
            <a:ext cx="7929617" cy="5214950"/>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63</TotalTime>
  <Words>574</Words>
  <Application>Microsoft Office PowerPoint</Application>
  <PresentationFormat>On-screen Show (4:3)</PresentationFormat>
  <Paragraphs>79</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Oriel</vt:lpstr>
      <vt:lpstr>Decision Tree</vt:lpstr>
      <vt:lpstr>Definition</vt:lpstr>
      <vt:lpstr>Case Study</vt:lpstr>
      <vt:lpstr>Representation</vt:lpstr>
      <vt:lpstr>Note</vt:lpstr>
      <vt:lpstr>Different Ways</vt:lpstr>
      <vt:lpstr>Gini impurity</vt:lpstr>
      <vt:lpstr>Chi-Square</vt:lpstr>
      <vt:lpstr>CHI-SQUARE Formula</vt:lpstr>
      <vt:lpstr>Information Gain &amp; Entropy</vt:lpstr>
      <vt:lpstr>Entropy is calculated as follows.</vt:lpstr>
      <vt:lpstr>Steps</vt:lpstr>
      <vt:lpstr>Reduction in variance</vt:lpstr>
      <vt:lpstr>Steps</vt:lpstr>
      <vt:lpstr>Variance Formula</vt:lpstr>
      <vt:lpstr>Example </vt:lpstr>
      <vt:lpstr>Step-1</vt:lpstr>
      <vt:lpstr>Outlook</vt:lpstr>
      <vt:lpstr>average weighted entropy</vt:lpstr>
      <vt:lpstr>Information Gain</vt:lpstr>
      <vt:lpstr>Other Features</vt:lpstr>
      <vt:lpstr>Outlook=sunny</vt:lpstr>
      <vt:lpstr>Outlook=overcast</vt:lpstr>
      <vt:lpstr>outlook=rain</vt:lpstr>
      <vt:lpstr>Basic Decision Tree</vt:lpstr>
      <vt:lpstr>Now Sunny Becomes Parent Node</vt:lpstr>
      <vt:lpstr>Now Calculate the information gain of Temperature. IG(sunny, Temperature)</vt:lpstr>
      <vt:lpstr>Entropy and Information Gain</vt:lpstr>
      <vt:lpstr>Other features</vt:lpstr>
      <vt:lpstr>Final Decision Tree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dc:title>
  <dc:creator>User Vy</dc:creator>
  <cp:lastModifiedBy>maha lakshmi</cp:lastModifiedBy>
  <cp:revision>41</cp:revision>
  <dcterms:created xsi:type="dcterms:W3CDTF">2022-01-18T09:07:33Z</dcterms:created>
  <dcterms:modified xsi:type="dcterms:W3CDTF">2025-01-30T04:02:13Z</dcterms:modified>
</cp:coreProperties>
</file>