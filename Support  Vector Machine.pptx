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1"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4"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92766-9A61-A00E-23EA-FE861F7910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895848-A30D-9B3B-220C-02DE0048BB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36E8875-56A2-1D58-FA1E-C942420957AC}"/>
              </a:ext>
            </a:extLst>
          </p:cNvPr>
          <p:cNvSpPr>
            <a:spLocks noGrp="1"/>
          </p:cNvSpPr>
          <p:nvPr>
            <p:ph type="dt" sz="half" idx="10"/>
          </p:nvPr>
        </p:nvSpPr>
        <p:spPr/>
        <p:txBody>
          <a:bodyPr/>
          <a:lstStyle/>
          <a:p>
            <a:fld id="{B07E4AFF-C5BE-48C3-8199-967E15872ABA}" type="datetimeFigureOut">
              <a:rPr lang="en-IN" smtClean="0"/>
              <a:t>24-03-2026</a:t>
            </a:fld>
            <a:endParaRPr lang="en-IN"/>
          </a:p>
        </p:txBody>
      </p:sp>
      <p:sp>
        <p:nvSpPr>
          <p:cNvPr id="5" name="Footer Placeholder 4">
            <a:extLst>
              <a:ext uri="{FF2B5EF4-FFF2-40B4-BE49-F238E27FC236}">
                <a16:creationId xmlns:a16="http://schemas.microsoft.com/office/drawing/2014/main" id="{50B8B0CB-13E3-E8FB-3ACC-3F0F02D1CF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309949-8033-2369-A590-FB2092D44B86}"/>
              </a:ext>
            </a:extLst>
          </p:cNvPr>
          <p:cNvSpPr>
            <a:spLocks noGrp="1"/>
          </p:cNvSpPr>
          <p:nvPr>
            <p:ph type="sldNum" sz="quarter" idx="12"/>
          </p:nvPr>
        </p:nvSpPr>
        <p:spPr/>
        <p:txBody>
          <a:bodyPr/>
          <a:lstStyle/>
          <a:p>
            <a:fld id="{AD7D5203-876C-4FFD-ABE8-29E436C7F07E}" type="slidenum">
              <a:rPr lang="en-IN" smtClean="0"/>
              <a:t>‹#›</a:t>
            </a:fld>
            <a:endParaRPr lang="en-IN"/>
          </a:p>
        </p:txBody>
      </p:sp>
    </p:spTree>
    <p:extLst>
      <p:ext uri="{BB962C8B-B14F-4D97-AF65-F5344CB8AC3E}">
        <p14:creationId xmlns:p14="http://schemas.microsoft.com/office/powerpoint/2010/main" val="3725476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8717B-2881-5B3F-A856-C04AA7E6CA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2243A3-BA1E-7FA5-1303-7AA3195F8D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3DCAA1-8B36-99CF-686F-EB35259C9DD6}"/>
              </a:ext>
            </a:extLst>
          </p:cNvPr>
          <p:cNvSpPr>
            <a:spLocks noGrp="1"/>
          </p:cNvSpPr>
          <p:nvPr>
            <p:ph type="dt" sz="half" idx="10"/>
          </p:nvPr>
        </p:nvSpPr>
        <p:spPr/>
        <p:txBody>
          <a:bodyPr/>
          <a:lstStyle/>
          <a:p>
            <a:fld id="{B07E4AFF-C5BE-48C3-8199-967E15872ABA}" type="datetimeFigureOut">
              <a:rPr lang="en-IN" smtClean="0"/>
              <a:t>24-03-2026</a:t>
            </a:fld>
            <a:endParaRPr lang="en-IN"/>
          </a:p>
        </p:txBody>
      </p:sp>
      <p:sp>
        <p:nvSpPr>
          <p:cNvPr id="5" name="Footer Placeholder 4">
            <a:extLst>
              <a:ext uri="{FF2B5EF4-FFF2-40B4-BE49-F238E27FC236}">
                <a16:creationId xmlns:a16="http://schemas.microsoft.com/office/drawing/2014/main" id="{6998DCB5-444B-AB44-2F16-95109939B4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18BDEE-2B22-D520-7332-D26C001A3A9F}"/>
              </a:ext>
            </a:extLst>
          </p:cNvPr>
          <p:cNvSpPr>
            <a:spLocks noGrp="1"/>
          </p:cNvSpPr>
          <p:nvPr>
            <p:ph type="sldNum" sz="quarter" idx="12"/>
          </p:nvPr>
        </p:nvSpPr>
        <p:spPr/>
        <p:txBody>
          <a:bodyPr/>
          <a:lstStyle/>
          <a:p>
            <a:fld id="{AD7D5203-876C-4FFD-ABE8-29E436C7F07E}" type="slidenum">
              <a:rPr lang="en-IN" smtClean="0"/>
              <a:t>‹#›</a:t>
            </a:fld>
            <a:endParaRPr lang="en-IN"/>
          </a:p>
        </p:txBody>
      </p:sp>
    </p:spTree>
    <p:extLst>
      <p:ext uri="{BB962C8B-B14F-4D97-AF65-F5344CB8AC3E}">
        <p14:creationId xmlns:p14="http://schemas.microsoft.com/office/powerpoint/2010/main" val="2802649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C1B63-7CF9-D91D-9B5A-A12B316B3C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D2B6387-D4FA-472B-9E81-AFCBE17627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EE21CE-4683-8E11-2205-CA71E3450A88}"/>
              </a:ext>
            </a:extLst>
          </p:cNvPr>
          <p:cNvSpPr>
            <a:spLocks noGrp="1"/>
          </p:cNvSpPr>
          <p:nvPr>
            <p:ph type="dt" sz="half" idx="10"/>
          </p:nvPr>
        </p:nvSpPr>
        <p:spPr/>
        <p:txBody>
          <a:bodyPr/>
          <a:lstStyle/>
          <a:p>
            <a:fld id="{B07E4AFF-C5BE-48C3-8199-967E15872ABA}" type="datetimeFigureOut">
              <a:rPr lang="en-IN" smtClean="0"/>
              <a:t>24-03-2026</a:t>
            </a:fld>
            <a:endParaRPr lang="en-IN"/>
          </a:p>
        </p:txBody>
      </p:sp>
      <p:sp>
        <p:nvSpPr>
          <p:cNvPr id="5" name="Footer Placeholder 4">
            <a:extLst>
              <a:ext uri="{FF2B5EF4-FFF2-40B4-BE49-F238E27FC236}">
                <a16:creationId xmlns:a16="http://schemas.microsoft.com/office/drawing/2014/main" id="{E109FC58-DCF9-E5AC-783D-2EC5DDDF8D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EF8E13-2FA9-81E0-67A9-369A0C40810F}"/>
              </a:ext>
            </a:extLst>
          </p:cNvPr>
          <p:cNvSpPr>
            <a:spLocks noGrp="1"/>
          </p:cNvSpPr>
          <p:nvPr>
            <p:ph type="sldNum" sz="quarter" idx="12"/>
          </p:nvPr>
        </p:nvSpPr>
        <p:spPr/>
        <p:txBody>
          <a:bodyPr/>
          <a:lstStyle/>
          <a:p>
            <a:fld id="{AD7D5203-876C-4FFD-ABE8-29E436C7F07E}" type="slidenum">
              <a:rPr lang="en-IN" smtClean="0"/>
              <a:t>‹#›</a:t>
            </a:fld>
            <a:endParaRPr lang="en-IN"/>
          </a:p>
        </p:txBody>
      </p:sp>
    </p:spTree>
    <p:extLst>
      <p:ext uri="{BB962C8B-B14F-4D97-AF65-F5344CB8AC3E}">
        <p14:creationId xmlns:p14="http://schemas.microsoft.com/office/powerpoint/2010/main" val="76810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E1D25-A045-3615-298F-E3B6B73271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324D89-0ED2-0D4A-3BCA-223A142566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5F0882-43D8-7F26-B739-E223BAF74A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2DFDABB-5DF1-0F08-5F61-B80F29003B45}"/>
              </a:ext>
            </a:extLst>
          </p:cNvPr>
          <p:cNvSpPr>
            <a:spLocks noGrp="1"/>
          </p:cNvSpPr>
          <p:nvPr>
            <p:ph type="dt" sz="half" idx="10"/>
          </p:nvPr>
        </p:nvSpPr>
        <p:spPr/>
        <p:txBody>
          <a:bodyPr/>
          <a:lstStyle/>
          <a:p>
            <a:fld id="{B07E4AFF-C5BE-48C3-8199-967E15872ABA}" type="datetimeFigureOut">
              <a:rPr lang="en-IN" smtClean="0"/>
              <a:t>24-03-2026</a:t>
            </a:fld>
            <a:endParaRPr lang="en-IN"/>
          </a:p>
        </p:txBody>
      </p:sp>
      <p:sp>
        <p:nvSpPr>
          <p:cNvPr id="6" name="Footer Placeholder 5">
            <a:extLst>
              <a:ext uri="{FF2B5EF4-FFF2-40B4-BE49-F238E27FC236}">
                <a16:creationId xmlns:a16="http://schemas.microsoft.com/office/drawing/2014/main" id="{BADC4776-687B-89A1-029B-8999606B28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234C37-A8DA-32FA-D22A-D1F86A07C035}"/>
              </a:ext>
            </a:extLst>
          </p:cNvPr>
          <p:cNvSpPr>
            <a:spLocks noGrp="1"/>
          </p:cNvSpPr>
          <p:nvPr>
            <p:ph type="sldNum" sz="quarter" idx="12"/>
          </p:nvPr>
        </p:nvSpPr>
        <p:spPr/>
        <p:txBody>
          <a:bodyPr/>
          <a:lstStyle/>
          <a:p>
            <a:fld id="{AD7D5203-876C-4FFD-ABE8-29E436C7F07E}" type="slidenum">
              <a:rPr lang="en-IN" smtClean="0"/>
              <a:t>‹#›</a:t>
            </a:fld>
            <a:endParaRPr lang="en-IN"/>
          </a:p>
        </p:txBody>
      </p:sp>
    </p:spTree>
    <p:extLst>
      <p:ext uri="{BB962C8B-B14F-4D97-AF65-F5344CB8AC3E}">
        <p14:creationId xmlns:p14="http://schemas.microsoft.com/office/powerpoint/2010/main" val="401510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FCD57-B1C6-2CAF-193E-093E8DC2AA4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D1985E-0849-AD88-1762-309786A8CE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B1BD1D-3899-F0AE-1E2D-EE1BC8953E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1E44B8-D207-DD5B-BA5A-32CF91545E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FE796A-26D2-3EA1-0702-1E978B40E9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E9B7F77-DD67-4DEE-2353-EAFA4C27B16C}"/>
              </a:ext>
            </a:extLst>
          </p:cNvPr>
          <p:cNvSpPr>
            <a:spLocks noGrp="1"/>
          </p:cNvSpPr>
          <p:nvPr>
            <p:ph type="dt" sz="half" idx="10"/>
          </p:nvPr>
        </p:nvSpPr>
        <p:spPr/>
        <p:txBody>
          <a:bodyPr/>
          <a:lstStyle/>
          <a:p>
            <a:fld id="{B07E4AFF-C5BE-48C3-8199-967E15872ABA}" type="datetimeFigureOut">
              <a:rPr lang="en-IN" smtClean="0"/>
              <a:t>24-03-2026</a:t>
            </a:fld>
            <a:endParaRPr lang="en-IN"/>
          </a:p>
        </p:txBody>
      </p:sp>
      <p:sp>
        <p:nvSpPr>
          <p:cNvPr id="8" name="Footer Placeholder 7">
            <a:extLst>
              <a:ext uri="{FF2B5EF4-FFF2-40B4-BE49-F238E27FC236}">
                <a16:creationId xmlns:a16="http://schemas.microsoft.com/office/drawing/2014/main" id="{E26A6ADD-7C53-2F63-F857-8D36E1ECDF5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DF408C1-31C8-DEA4-03BA-ED2FFC93889B}"/>
              </a:ext>
            </a:extLst>
          </p:cNvPr>
          <p:cNvSpPr>
            <a:spLocks noGrp="1"/>
          </p:cNvSpPr>
          <p:nvPr>
            <p:ph type="sldNum" sz="quarter" idx="12"/>
          </p:nvPr>
        </p:nvSpPr>
        <p:spPr/>
        <p:txBody>
          <a:bodyPr/>
          <a:lstStyle/>
          <a:p>
            <a:fld id="{AD7D5203-876C-4FFD-ABE8-29E436C7F07E}" type="slidenum">
              <a:rPr lang="en-IN" smtClean="0"/>
              <a:t>‹#›</a:t>
            </a:fld>
            <a:endParaRPr lang="en-IN"/>
          </a:p>
        </p:txBody>
      </p:sp>
    </p:spTree>
    <p:extLst>
      <p:ext uri="{BB962C8B-B14F-4D97-AF65-F5344CB8AC3E}">
        <p14:creationId xmlns:p14="http://schemas.microsoft.com/office/powerpoint/2010/main" val="2451077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634CC-6F3E-536D-8CD7-1D06C4391CD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8DDA31-FA90-3842-8E04-8AEAFAEDD5BD}"/>
              </a:ext>
            </a:extLst>
          </p:cNvPr>
          <p:cNvSpPr>
            <a:spLocks noGrp="1"/>
          </p:cNvSpPr>
          <p:nvPr>
            <p:ph type="dt" sz="half" idx="10"/>
          </p:nvPr>
        </p:nvSpPr>
        <p:spPr/>
        <p:txBody>
          <a:bodyPr/>
          <a:lstStyle/>
          <a:p>
            <a:fld id="{B07E4AFF-C5BE-48C3-8199-967E15872ABA}" type="datetimeFigureOut">
              <a:rPr lang="en-IN" smtClean="0"/>
              <a:t>24-03-2026</a:t>
            </a:fld>
            <a:endParaRPr lang="en-IN"/>
          </a:p>
        </p:txBody>
      </p:sp>
      <p:sp>
        <p:nvSpPr>
          <p:cNvPr id="4" name="Footer Placeholder 3">
            <a:extLst>
              <a:ext uri="{FF2B5EF4-FFF2-40B4-BE49-F238E27FC236}">
                <a16:creationId xmlns:a16="http://schemas.microsoft.com/office/drawing/2014/main" id="{63BBF8A6-D46B-D5E8-6EA5-C741F6289F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A32BCD-0AB5-338A-AA22-85E0CC2FDDAA}"/>
              </a:ext>
            </a:extLst>
          </p:cNvPr>
          <p:cNvSpPr>
            <a:spLocks noGrp="1"/>
          </p:cNvSpPr>
          <p:nvPr>
            <p:ph type="sldNum" sz="quarter" idx="12"/>
          </p:nvPr>
        </p:nvSpPr>
        <p:spPr/>
        <p:txBody>
          <a:bodyPr/>
          <a:lstStyle/>
          <a:p>
            <a:fld id="{AD7D5203-876C-4FFD-ABE8-29E436C7F07E}" type="slidenum">
              <a:rPr lang="en-IN" smtClean="0"/>
              <a:t>‹#›</a:t>
            </a:fld>
            <a:endParaRPr lang="en-IN"/>
          </a:p>
        </p:txBody>
      </p:sp>
    </p:spTree>
    <p:extLst>
      <p:ext uri="{BB962C8B-B14F-4D97-AF65-F5344CB8AC3E}">
        <p14:creationId xmlns:p14="http://schemas.microsoft.com/office/powerpoint/2010/main" val="1938956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0662E4-D3F9-35BD-0932-8BBE12C347C4}"/>
              </a:ext>
            </a:extLst>
          </p:cNvPr>
          <p:cNvSpPr>
            <a:spLocks noGrp="1"/>
          </p:cNvSpPr>
          <p:nvPr>
            <p:ph type="dt" sz="half" idx="10"/>
          </p:nvPr>
        </p:nvSpPr>
        <p:spPr/>
        <p:txBody>
          <a:bodyPr/>
          <a:lstStyle/>
          <a:p>
            <a:fld id="{B07E4AFF-C5BE-48C3-8199-967E15872ABA}" type="datetimeFigureOut">
              <a:rPr lang="en-IN" smtClean="0"/>
              <a:t>24-03-2026</a:t>
            </a:fld>
            <a:endParaRPr lang="en-IN"/>
          </a:p>
        </p:txBody>
      </p:sp>
      <p:sp>
        <p:nvSpPr>
          <p:cNvPr id="3" name="Footer Placeholder 2">
            <a:extLst>
              <a:ext uri="{FF2B5EF4-FFF2-40B4-BE49-F238E27FC236}">
                <a16:creationId xmlns:a16="http://schemas.microsoft.com/office/drawing/2014/main" id="{DAD616F4-2E1C-E8E9-1237-F7644215199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CAC757C-E1F5-89B9-52EB-77847140B9BB}"/>
              </a:ext>
            </a:extLst>
          </p:cNvPr>
          <p:cNvSpPr>
            <a:spLocks noGrp="1"/>
          </p:cNvSpPr>
          <p:nvPr>
            <p:ph type="sldNum" sz="quarter" idx="12"/>
          </p:nvPr>
        </p:nvSpPr>
        <p:spPr/>
        <p:txBody>
          <a:bodyPr/>
          <a:lstStyle/>
          <a:p>
            <a:fld id="{AD7D5203-876C-4FFD-ABE8-29E436C7F07E}" type="slidenum">
              <a:rPr lang="en-IN" smtClean="0"/>
              <a:t>‹#›</a:t>
            </a:fld>
            <a:endParaRPr lang="en-IN"/>
          </a:p>
        </p:txBody>
      </p:sp>
    </p:spTree>
    <p:extLst>
      <p:ext uri="{BB962C8B-B14F-4D97-AF65-F5344CB8AC3E}">
        <p14:creationId xmlns:p14="http://schemas.microsoft.com/office/powerpoint/2010/main" val="3391006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6BDEA-5609-48C0-A64C-E6AF9F9112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38C3699-2E8B-8E8F-124D-9B10C8EE88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019CEBA-9F81-0353-70E2-82FC93552C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10D985-A903-B8F4-31E3-D1E89911054F}"/>
              </a:ext>
            </a:extLst>
          </p:cNvPr>
          <p:cNvSpPr>
            <a:spLocks noGrp="1"/>
          </p:cNvSpPr>
          <p:nvPr>
            <p:ph type="dt" sz="half" idx="10"/>
          </p:nvPr>
        </p:nvSpPr>
        <p:spPr/>
        <p:txBody>
          <a:bodyPr/>
          <a:lstStyle/>
          <a:p>
            <a:fld id="{B07E4AFF-C5BE-48C3-8199-967E15872ABA}" type="datetimeFigureOut">
              <a:rPr lang="en-IN" smtClean="0"/>
              <a:t>24-03-2026</a:t>
            </a:fld>
            <a:endParaRPr lang="en-IN"/>
          </a:p>
        </p:txBody>
      </p:sp>
      <p:sp>
        <p:nvSpPr>
          <p:cNvPr id="6" name="Footer Placeholder 5">
            <a:extLst>
              <a:ext uri="{FF2B5EF4-FFF2-40B4-BE49-F238E27FC236}">
                <a16:creationId xmlns:a16="http://schemas.microsoft.com/office/drawing/2014/main" id="{6A058175-86FA-F48B-E273-D964F1A244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78517E-AA32-ABFC-6084-0720898C50B5}"/>
              </a:ext>
            </a:extLst>
          </p:cNvPr>
          <p:cNvSpPr>
            <a:spLocks noGrp="1"/>
          </p:cNvSpPr>
          <p:nvPr>
            <p:ph type="sldNum" sz="quarter" idx="12"/>
          </p:nvPr>
        </p:nvSpPr>
        <p:spPr/>
        <p:txBody>
          <a:bodyPr/>
          <a:lstStyle/>
          <a:p>
            <a:fld id="{AD7D5203-876C-4FFD-ABE8-29E436C7F07E}" type="slidenum">
              <a:rPr lang="en-IN" smtClean="0"/>
              <a:t>‹#›</a:t>
            </a:fld>
            <a:endParaRPr lang="en-IN"/>
          </a:p>
        </p:txBody>
      </p:sp>
    </p:spTree>
    <p:extLst>
      <p:ext uri="{BB962C8B-B14F-4D97-AF65-F5344CB8AC3E}">
        <p14:creationId xmlns:p14="http://schemas.microsoft.com/office/powerpoint/2010/main" val="1897595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1D9C3-0842-21B2-E3F6-C17FD84047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52C228-A8B1-C641-EF94-E580E5AB61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A63B89E-7707-78E7-CE61-EA70EC709D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74DE7F-F44D-87E5-9645-E8944BA05134}"/>
              </a:ext>
            </a:extLst>
          </p:cNvPr>
          <p:cNvSpPr>
            <a:spLocks noGrp="1"/>
          </p:cNvSpPr>
          <p:nvPr>
            <p:ph type="dt" sz="half" idx="10"/>
          </p:nvPr>
        </p:nvSpPr>
        <p:spPr/>
        <p:txBody>
          <a:bodyPr/>
          <a:lstStyle/>
          <a:p>
            <a:fld id="{B07E4AFF-C5BE-48C3-8199-967E15872ABA}" type="datetimeFigureOut">
              <a:rPr lang="en-IN" smtClean="0"/>
              <a:t>24-03-2026</a:t>
            </a:fld>
            <a:endParaRPr lang="en-IN"/>
          </a:p>
        </p:txBody>
      </p:sp>
      <p:sp>
        <p:nvSpPr>
          <p:cNvPr id="6" name="Footer Placeholder 5">
            <a:extLst>
              <a:ext uri="{FF2B5EF4-FFF2-40B4-BE49-F238E27FC236}">
                <a16:creationId xmlns:a16="http://schemas.microsoft.com/office/drawing/2014/main" id="{66D1A0DA-6279-0639-521E-0E0B17E182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10715D-972A-8216-DC74-22BBD26774B9}"/>
              </a:ext>
            </a:extLst>
          </p:cNvPr>
          <p:cNvSpPr>
            <a:spLocks noGrp="1"/>
          </p:cNvSpPr>
          <p:nvPr>
            <p:ph type="sldNum" sz="quarter" idx="12"/>
          </p:nvPr>
        </p:nvSpPr>
        <p:spPr/>
        <p:txBody>
          <a:bodyPr/>
          <a:lstStyle/>
          <a:p>
            <a:fld id="{AD7D5203-876C-4FFD-ABE8-29E436C7F07E}" type="slidenum">
              <a:rPr lang="en-IN" smtClean="0"/>
              <a:t>‹#›</a:t>
            </a:fld>
            <a:endParaRPr lang="en-IN"/>
          </a:p>
        </p:txBody>
      </p:sp>
    </p:spTree>
    <p:extLst>
      <p:ext uri="{BB962C8B-B14F-4D97-AF65-F5344CB8AC3E}">
        <p14:creationId xmlns:p14="http://schemas.microsoft.com/office/powerpoint/2010/main" val="3093307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07C45-E9CB-4964-9263-1FA6A1DA379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7C93A8-7B75-9370-CCB7-9A188A5292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E98755-1762-06AB-870C-A2EEF16DAD4D}"/>
              </a:ext>
            </a:extLst>
          </p:cNvPr>
          <p:cNvSpPr>
            <a:spLocks noGrp="1"/>
          </p:cNvSpPr>
          <p:nvPr>
            <p:ph type="dt" sz="half" idx="10"/>
          </p:nvPr>
        </p:nvSpPr>
        <p:spPr/>
        <p:txBody>
          <a:bodyPr/>
          <a:lstStyle/>
          <a:p>
            <a:fld id="{B07E4AFF-C5BE-48C3-8199-967E15872ABA}" type="datetimeFigureOut">
              <a:rPr lang="en-IN" smtClean="0"/>
              <a:t>24-03-2026</a:t>
            </a:fld>
            <a:endParaRPr lang="en-IN"/>
          </a:p>
        </p:txBody>
      </p:sp>
      <p:sp>
        <p:nvSpPr>
          <p:cNvPr id="5" name="Footer Placeholder 4">
            <a:extLst>
              <a:ext uri="{FF2B5EF4-FFF2-40B4-BE49-F238E27FC236}">
                <a16:creationId xmlns:a16="http://schemas.microsoft.com/office/drawing/2014/main" id="{7ABB3BA5-07E6-9435-0CAD-ED0523E6AB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7F17EA-25FD-BCFD-72C7-45F7A45B7719}"/>
              </a:ext>
            </a:extLst>
          </p:cNvPr>
          <p:cNvSpPr>
            <a:spLocks noGrp="1"/>
          </p:cNvSpPr>
          <p:nvPr>
            <p:ph type="sldNum" sz="quarter" idx="12"/>
          </p:nvPr>
        </p:nvSpPr>
        <p:spPr/>
        <p:txBody>
          <a:bodyPr/>
          <a:lstStyle/>
          <a:p>
            <a:fld id="{AD7D5203-876C-4FFD-ABE8-29E436C7F07E}" type="slidenum">
              <a:rPr lang="en-IN" smtClean="0"/>
              <a:t>‹#›</a:t>
            </a:fld>
            <a:endParaRPr lang="en-IN"/>
          </a:p>
        </p:txBody>
      </p:sp>
    </p:spTree>
    <p:extLst>
      <p:ext uri="{BB962C8B-B14F-4D97-AF65-F5344CB8AC3E}">
        <p14:creationId xmlns:p14="http://schemas.microsoft.com/office/powerpoint/2010/main" val="3711744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B65482-D86B-9C58-08F0-E42E92DA8F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B1373D-0027-09A1-6D7D-2140F4EB8F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0E6437-665E-5F7F-DE18-D9B313E31567}"/>
              </a:ext>
            </a:extLst>
          </p:cNvPr>
          <p:cNvSpPr>
            <a:spLocks noGrp="1"/>
          </p:cNvSpPr>
          <p:nvPr>
            <p:ph type="dt" sz="half" idx="10"/>
          </p:nvPr>
        </p:nvSpPr>
        <p:spPr/>
        <p:txBody>
          <a:bodyPr/>
          <a:lstStyle/>
          <a:p>
            <a:fld id="{B07E4AFF-C5BE-48C3-8199-967E15872ABA}" type="datetimeFigureOut">
              <a:rPr lang="en-IN" smtClean="0"/>
              <a:t>24-03-2026</a:t>
            </a:fld>
            <a:endParaRPr lang="en-IN"/>
          </a:p>
        </p:txBody>
      </p:sp>
      <p:sp>
        <p:nvSpPr>
          <p:cNvPr id="5" name="Footer Placeholder 4">
            <a:extLst>
              <a:ext uri="{FF2B5EF4-FFF2-40B4-BE49-F238E27FC236}">
                <a16:creationId xmlns:a16="http://schemas.microsoft.com/office/drawing/2014/main" id="{8CB50EA2-7EC9-B349-7C94-0E21613B70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6B285D-54F4-5464-1407-5BB15D817FFC}"/>
              </a:ext>
            </a:extLst>
          </p:cNvPr>
          <p:cNvSpPr>
            <a:spLocks noGrp="1"/>
          </p:cNvSpPr>
          <p:nvPr>
            <p:ph type="sldNum" sz="quarter" idx="12"/>
          </p:nvPr>
        </p:nvSpPr>
        <p:spPr/>
        <p:txBody>
          <a:bodyPr/>
          <a:lstStyle/>
          <a:p>
            <a:fld id="{AD7D5203-876C-4FFD-ABE8-29E436C7F07E}" type="slidenum">
              <a:rPr lang="en-IN" smtClean="0"/>
              <a:t>‹#›</a:t>
            </a:fld>
            <a:endParaRPr lang="en-IN"/>
          </a:p>
        </p:txBody>
      </p:sp>
    </p:spTree>
    <p:extLst>
      <p:ext uri="{BB962C8B-B14F-4D97-AF65-F5344CB8AC3E}">
        <p14:creationId xmlns:p14="http://schemas.microsoft.com/office/powerpoint/2010/main" val="3342063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951877-469F-220A-CF82-3574E719AF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5B0A91-B189-9973-B824-C7C43E2165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D96B7E-AB58-9F5A-A7EC-CEF142C06D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7E4AFF-C5BE-48C3-8199-967E15872ABA}" type="datetimeFigureOut">
              <a:rPr lang="en-IN" smtClean="0"/>
              <a:t>24-03-2026</a:t>
            </a:fld>
            <a:endParaRPr lang="en-IN"/>
          </a:p>
        </p:txBody>
      </p:sp>
      <p:sp>
        <p:nvSpPr>
          <p:cNvPr id="5" name="Footer Placeholder 4">
            <a:extLst>
              <a:ext uri="{FF2B5EF4-FFF2-40B4-BE49-F238E27FC236}">
                <a16:creationId xmlns:a16="http://schemas.microsoft.com/office/drawing/2014/main" id="{CB83EACB-6211-A5D1-B182-19B09442E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4811B1D-D66C-09E4-F0A7-622CCE6FFF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7D5203-876C-4FFD-ABE8-29E436C7F07E}" type="slidenum">
              <a:rPr lang="en-IN" smtClean="0"/>
              <a:t>‹#›</a:t>
            </a:fld>
            <a:endParaRPr lang="en-IN"/>
          </a:p>
        </p:txBody>
      </p:sp>
    </p:spTree>
    <p:extLst>
      <p:ext uri="{BB962C8B-B14F-4D97-AF65-F5344CB8AC3E}">
        <p14:creationId xmlns:p14="http://schemas.microsoft.com/office/powerpoint/2010/main" val="1105820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2A50E-E7A2-E2F8-175E-9743EE11F685}"/>
              </a:ext>
            </a:extLst>
          </p:cNvPr>
          <p:cNvSpPr>
            <a:spLocks noGrp="1"/>
          </p:cNvSpPr>
          <p:nvPr>
            <p:ph type="ctrTitle"/>
          </p:nvPr>
        </p:nvSpPr>
        <p:spPr/>
        <p:txBody>
          <a:bodyPr/>
          <a:lstStyle/>
          <a:p>
            <a:r>
              <a:rPr lang="en-US" dirty="0"/>
              <a:t>Support  Vector Machine</a:t>
            </a:r>
            <a:endParaRPr lang="en-IN" dirty="0"/>
          </a:p>
        </p:txBody>
      </p:sp>
      <p:sp>
        <p:nvSpPr>
          <p:cNvPr id="3" name="Subtitle 2">
            <a:extLst>
              <a:ext uri="{FF2B5EF4-FFF2-40B4-BE49-F238E27FC236}">
                <a16:creationId xmlns:a16="http://schemas.microsoft.com/office/drawing/2014/main" id="{FAAD57C3-8ECC-E95C-3C1D-86144CE7417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9560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3F709-909E-30CD-46E7-C058F8A5EDCB}"/>
              </a:ext>
            </a:extLst>
          </p:cNvPr>
          <p:cNvSpPr>
            <a:spLocks noGrp="1"/>
          </p:cNvSpPr>
          <p:nvPr>
            <p:ph type="title"/>
          </p:nvPr>
        </p:nvSpPr>
        <p:spPr>
          <a:xfrm>
            <a:off x="619432" y="320880"/>
            <a:ext cx="11309555" cy="1325563"/>
          </a:xfrm>
        </p:spPr>
        <p:txBody>
          <a:bodyPr/>
          <a:lstStyle/>
          <a:p>
            <a:r>
              <a:rPr lang="en-US" dirty="0"/>
              <a:t>Support Vector Machine (SVM)</a:t>
            </a:r>
            <a:endParaRPr lang="en-IN" dirty="0"/>
          </a:p>
        </p:txBody>
      </p:sp>
      <p:sp>
        <p:nvSpPr>
          <p:cNvPr id="3" name="Content Placeholder 2">
            <a:extLst>
              <a:ext uri="{FF2B5EF4-FFF2-40B4-BE49-F238E27FC236}">
                <a16:creationId xmlns:a16="http://schemas.microsoft.com/office/drawing/2014/main" id="{C68FE94C-48FB-FBE8-A5AC-EBA4F642AB8F}"/>
              </a:ext>
            </a:extLst>
          </p:cNvPr>
          <p:cNvSpPr>
            <a:spLocks noGrp="1"/>
          </p:cNvSpPr>
          <p:nvPr>
            <p:ph idx="1"/>
          </p:nvPr>
        </p:nvSpPr>
        <p:spPr/>
        <p:txBody>
          <a:bodyPr/>
          <a:lstStyle/>
          <a:p>
            <a:pPr algn="just"/>
            <a:r>
              <a:rPr lang="en-US" dirty="0"/>
              <a:t>Support Vector Machine (SVM) is a supervised machine learning algorithm used for classification and regression tasks. It tries to find the best boundary known as hyperplane that separates different classes in the data. It is useful when you want to do binary classification like spam vs. not spam or cat vs. dog.</a:t>
            </a:r>
            <a:endParaRPr lang="en-IN" dirty="0"/>
          </a:p>
        </p:txBody>
      </p:sp>
    </p:spTree>
    <p:extLst>
      <p:ext uri="{BB962C8B-B14F-4D97-AF65-F5344CB8AC3E}">
        <p14:creationId xmlns:p14="http://schemas.microsoft.com/office/powerpoint/2010/main" val="2838793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0D6AA-08CE-0621-2C98-12C24C21D346}"/>
              </a:ext>
            </a:extLst>
          </p:cNvPr>
          <p:cNvSpPr>
            <a:spLocks noGrp="1"/>
          </p:cNvSpPr>
          <p:nvPr>
            <p:ph type="title"/>
          </p:nvPr>
        </p:nvSpPr>
        <p:spPr/>
        <p:txBody>
          <a:bodyPr/>
          <a:lstStyle/>
          <a:p>
            <a:r>
              <a:rPr lang="en-US" dirty="0"/>
              <a:t>Support Vector Machine (SVM)</a:t>
            </a:r>
            <a:endParaRPr lang="en-IN" dirty="0"/>
          </a:p>
        </p:txBody>
      </p:sp>
      <p:sp>
        <p:nvSpPr>
          <p:cNvPr id="3" name="Content Placeholder 2">
            <a:extLst>
              <a:ext uri="{FF2B5EF4-FFF2-40B4-BE49-F238E27FC236}">
                <a16:creationId xmlns:a16="http://schemas.microsoft.com/office/drawing/2014/main" id="{4DDFEA4C-C47F-DDF8-285D-B4ADAA1A7E72}"/>
              </a:ext>
            </a:extLst>
          </p:cNvPr>
          <p:cNvSpPr>
            <a:spLocks noGrp="1"/>
          </p:cNvSpPr>
          <p:nvPr>
            <p:ph idx="1"/>
          </p:nvPr>
        </p:nvSpPr>
        <p:spPr/>
        <p:txBody>
          <a:bodyPr/>
          <a:lstStyle/>
          <a:p>
            <a:r>
              <a:rPr lang="en-US" dirty="0"/>
              <a:t>The main goal of SVM is to maximize the margin between the two classes. The larger the margin the better the model performs on new and unseen data.</a:t>
            </a:r>
            <a:endParaRPr lang="en-IN" dirty="0"/>
          </a:p>
        </p:txBody>
      </p:sp>
    </p:spTree>
    <p:extLst>
      <p:ext uri="{BB962C8B-B14F-4D97-AF65-F5344CB8AC3E}">
        <p14:creationId xmlns:p14="http://schemas.microsoft.com/office/powerpoint/2010/main" val="1495641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13CEC-974B-EAF4-552C-92BD916B131B}"/>
              </a:ext>
            </a:extLst>
          </p:cNvPr>
          <p:cNvSpPr>
            <a:spLocks noGrp="1"/>
          </p:cNvSpPr>
          <p:nvPr>
            <p:ph type="title"/>
          </p:nvPr>
        </p:nvSpPr>
        <p:spPr/>
        <p:txBody>
          <a:bodyPr/>
          <a:lstStyle/>
          <a:p>
            <a:r>
              <a:rPr lang="en-US" dirty="0"/>
              <a:t>SVM</a:t>
            </a:r>
            <a:endParaRPr lang="en-IN" dirty="0"/>
          </a:p>
        </p:txBody>
      </p:sp>
      <p:pic>
        <p:nvPicPr>
          <p:cNvPr id="1026" name="Picture 2" descr="An image representing two classes (red and blue) in a 2 dimensional plot separated by a decision boundary with hyperplane, margin, decision boundary and support vectors labelled in the picture.">
            <a:extLst>
              <a:ext uri="{FF2B5EF4-FFF2-40B4-BE49-F238E27FC236}">
                <a16:creationId xmlns:a16="http://schemas.microsoft.com/office/drawing/2014/main" id="{2253776A-FD53-C0D2-6F55-9026CB010AB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50486" y="1825625"/>
            <a:ext cx="789102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186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00F35-C06B-508D-7BB3-A865C8B7773B}"/>
              </a:ext>
            </a:extLst>
          </p:cNvPr>
          <p:cNvSpPr>
            <a:spLocks noGrp="1"/>
          </p:cNvSpPr>
          <p:nvPr>
            <p:ph type="title"/>
          </p:nvPr>
        </p:nvSpPr>
        <p:spPr/>
        <p:txBody>
          <a:bodyPr/>
          <a:lstStyle/>
          <a:p>
            <a:r>
              <a:rPr lang="en-US" b="1" dirty="0"/>
              <a:t>Key Concepts of Support Vector Machine</a:t>
            </a:r>
            <a:br>
              <a:rPr lang="en-US" b="1" dirty="0"/>
            </a:br>
            <a:endParaRPr lang="en-IN" dirty="0"/>
          </a:p>
        </p:txBody>
      </p:sp>
      <p:sp>
        <p:nvSpPr>
          <p:cNvPr id="3" name="Content Placeholder 2">
            <a:extLst>
              <a:ext uri="{FF2B5EF4-FFF2-40B4-BE49-F238E27FC236}">
                <a16:creationId xmlns:a16="http://schemas.microsoft.com/office/drawing/2014/main" id="{B8363333-6289-8718-BA66-1BBAEC5938CD}"/>
              </a:ext>
            </a:extLst>
          </p:cNvPr>
          <p:cNvSpPr>
            <a:spLocks noGrp="1"/>
          </p:cNvSpPr>
          <p:nvPr>
            <p:ph idx="1"/>
          </p:nvPr>
        </p:nvSpPr>
        <p:spPr/>
        <p:txBody>
          <a:bodyPr>
            <a:normAutofit/>
          </a:bodyPr>
          <a:lstStyle/>
          <a:p>
            <a:pPr fontAlgn="base"/>
            <a:r>
              <a:rPr lang="en-US" b="1" dirty="0"/>
              <a:t>Hyperplane</a:t>
            </a:r>
            <a:r>
              <a:rPr lang="en-US" dirty="0"/>
              <a:t>: A decision boundary separating different classes in feature space and is represented by the equation </a:t>
            </a:r>
            <a:r>
              <a:rPr lang="en-US" dirty="0" err="1"/>
              <a:t>wx</a:t>
            </a:r>
            <a:r>
              <a:rPr lang="en-US" dirty="0"/>
              <a:t> + b = 0 in linear classification.</a:t>
            </a:r>
          </a:p>
          <a:p>
            <a:pPr fontAlgn="base"/>
            <a:r>
              <a:rPr lang="en-US" b="1" dirty="0"/>
              <a:t>Support Vectors</a:t>
            </a:r>
            <a:r>
              <a:rPr lang="en-US" dirty="0"/>
              <a:t>: The closest data points to the hyperplane, crucial for determining the hyperplane and margin in SVM.</a:t>
            </a:r>
          </a:p>
          <a:p>
            <a:pPr fontAlgn="base"/>
            <a:r>
              <a:rPr lang="en-US" b="1" dirty="0"/>
              <a:t>Margin</a:t>
            </a:r>
            <a:r>
              <a:rPr lang="en-US" dirty="0"/>
              <a:t>: The distance between the hyperplane and the support vectors. SVM aims to maximize this margin for better classification performance.</a:t>
            </a:r>
          </a:p>
          <a:p>
            <a:endParaRPr lang="en-IN" dirty="0"/>
          </a:p>
        </p:txBody>
      </p:sp>
    </p:spTree>
    <p:extLst>
      <p:ext uri="{BB962C8B-B14F-4D97-AF65-F5344CB8AC3E}">
        <p14:creationId xmlns:p14="http://schemas.microsoft.com/office/powerpoint/2010/main" val="1814508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0B12C-06D0-060A-920F-56FC2CD3C95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E28448-9497-2E20-EDBA-8BE85A7E5198}"/>
              </a:ext>
            </a:extLst>
          </p:cNvPr>
          <p:cNvSpPr>
            <a:spLocks noGrp="1"/>
          </p:cNvSpPr>
          <p:nvPr>
            <p:ph idx="1"/>
          </p:nvPr>
        </p:nvSpPr>
        <p:spPr/>
        <p:txBody>
          <a:bodyPr>
            <a:normAutofit fontScale="92500" lnSpcReduction="20000"/>
          </a:bodyPr>
          <a:lstStyle/>
          <a:p>
            <a:pPr fontAlgn="base"/>
            <a:r>
              <a:rPr lang="en-US" b="1" dirty="0"/>
              <a:t>Kernel</a:t>
            </a:r>
            <a:r>
              <a:rPr lang="en-US" dirty="0"/>
              <a:t>: A function that maps data to a higher-dimensional space enabling SVM to handle non-linearly separable data.</a:t>
            </a:r>
          </a:p>
          <a:p>
            <a:pPr fontAlgn="base"/>
            <a:r>
              <a:rPr lang="en-US" b="1" dirty="0"/>
              <a:t>Hard Margin</a:t>
            </a:r>
            <a:r>
              <a:rPr lang="en-US" dirty="0"/>
              <a:t>: A maximum-margin hyperplane that perfectly separates the data without misclassifications.</a:t>
            </a:r>
          </a:p>
          <a:p>
            <a:pPr fontAlgn="base"/>
            <a:r>
              <a:rPr lang="en-US" b="1" dirty="0"/>
              <a:t>Soft Margin</a:t>
            </a:r>
            <a:r>
              <a:rPr lang="en-US" dirty="0"/>
              <a:t>: Allows some misclassifications by introducing slack variables, balancing margin maximization and misclassification penalties when data is not perfectly separable.</a:t>
            </a:r>
          </a:p>
          <a:p>
            <a:pPr fontAlgn="base"/>
            <a:r>
              <a:rPr lang="en-US" b="1" dirty="0"/>
              <a:t>C</a:t>
            </a:r>
            <a:r>
              <a:rPr lang="en-US" dirty="0"/>
              <a:t>: A regularization term balancing margin maximization and misclassification penalties. A higher C value forces stricter penalty for misclassifications.</a:t>
            </a:r>
          </a:p>
          <a:p>
            <a:pPr fontAlgn="base"/>
            <a:r>
              <a:rPr lang="en-US" dirty="0"/>
              <a:t> </a:t>
            </a:r>
            <a:r>
              <a:rPr lang="en-US" b="1" dirty="0"/>
              <a:t>A loss function </a:t>
            </a:r>
            <a:r>
              <a:rPr lang="en-US" dirty="0"/>
              <a:t>penalizing misclassified points or margin violations and is combined with regularization in SVM.</a:t>
            </a:r>
          </a:p>
          <a:p>
            <a:endParaRPr lang="en-IN" dirty="0"/>
          </a:p>
        </p:txBody>
      </p:sp>
    </p:spTree>
    <p:extLst>
      <p:ext uri="{BB962C8B-B14F-4D97-AF65-F5344CB8AC3E}">
        <p14:creationId xmlns:p14="http://schemas.microsoft.com/office/powerpoint/2010/main" val="4046434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9804F-4580-A9F1-1CBE-8C6C53FA077A}"/>
              </a:ext>
            </a:extLst>
          </p:cNvPr>
          <p:cNvSpPr>
            <a:spLocks noGrp="1"/>
          </p:cNvSpPr>
          <p:nvPr>
            <p:ph type="title"/>
          </p:nvPr>
        </p:nvSpPr>
        <p:spPr>
          <a:xfrm>
            <a:off x="838200" y="306131"/>
            <a:ext cx="10515600" cy="1325563"/>
          </a:xfrm>
        </p:spPr>
        <p:txBody>
          <a:bodyPr/>
          <a:lstStyle/>
          <a:p>
            <a:pPr fontAlgn="base"/>
            <a:r>
              <a:rPr lang="en-US" b="1" dirty="0"/>
              <a:t>How does Support Vector Machine Algorithm Work?</a:t>
            </a:r>
          </a:p>
        </p:txBody>
      </p:sp>
      <p:sp>
        <p:nvSpPr>
          <p:cNvPr id="3" name="Content Placeholder 2">
            <a:extLst>
              <a:ext uri="{FF2B5EF4-FFF2-40B4-BE49-F238E27FC236}">
                <a16:creationId xmlns:a16="http://schemas.microsoft.com/office/drawing/2014/main" id="{51DDE40E-59D1-A0C3-8EF9-D8ECDC4B8AED}"/>
              </a:ext>
            </a:extLst>
          </p:cNvPr>
          <p:cNvSpPr>
            <a:spLocks noGrp="1"/>
          </p:cNvSpPr>
          <p:nvPr>
            <p:ph idx="1"/>
          </p:nvPr>
        </p:nvSpPr>
        <p:spPr/>
        <p:txBody>
          <a:bodyPr/>
          <a:lstStyle/>
          <a:p>
            <a:pPr fontAlgn="base"/>
            <a:r>
              <a:rPr lang="en-US" dirty="0"/>
              <a:t>The key idea behind the SVM algorithm is to find the hyperplane that best separates two classes by maximizing the margin between them. This margin is the distance from the hyperplane to the nearest data points (support vectors) on each side.</a:t>
            </a:r>
          </a:p>
          <a:p>
            <a:endParaRPr lang="en-IN" dirty="0"/>
          </a:p>
        </p:txBody>
      </p:sp>
    </p:spTree>
    <p:extLst>
      <p:ext uri="{BB962C8B-B14F-4D97-AF65-F5344CB8AC3E}">
        <p14:creationId xmlns:p14="http://schemas.microsoft.com/office/powerpoint/2010/main" val="1302755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1A14F-A59D-D878-A348-F1868DF7838C}"/>
              </a:ext>
            </a:extLst>
          </p:cNvPr>
          <p:cNvSpPr>
            <a:spLocks noGrp="1"/>
          </p:cNvSpPr>
          <p:nvPr>
            <p:ph type="title"/>
          </p:nvPr>
        </p:nvSpPr>
        <p:spPr/>
        <p:txBody>
          <a:bodyPr/>
          <a:lstStyle/>
          <a:p>
            <a:r>
              <a:rPr lang="en-US" b="1" dirty="0"/>
              <a:t>How does Support Vector Machine Algorithm Work?</a:t>
            </a:r>
            <a:endParaRPr lang="en-IN" dirty="0"/>
          </a:p>
        </p:txBody>
      </p:sp>
      <p:pic>
        <p:nvPicPr>
          <p:cNvPr id="5" name="Content Placeholder 4">
            <a:extLst>
              <a:ext uri="{FF2B5EF4-FFF2-40B4-BE49-F238E27FC236}">
                <a16:creationId xmlns:a16="http://schemas.microsoft.com/office/drawing/2014/main" id="{36CBDA58-3520-8580-3063-B6CBF6085EFF}"/>
              </a:ext>
            </a:extLst>
          </p:cNvPr>
          <p:cNvPicPr>
            <a:picLocks noGrp="1" noChangeAspect="1"/>
          </p:cNvPicPr>
          <p:nvPr>
            <p:ph idx="1"/>
          </p:nvPr>
        </p:nvPicPr>
        <p:blipFill>
          <a:blip r:embed="rId2"/>
          <a:stretch>
            <a:fillRect/>
          </a:stretch>
        </p:blipFill>
        <p:spPr>
          <a:xfrm>
            <a:off x="2790825" y="2358231"/>
            <a:ext cx="6610350" cy="3286125"/>
          </a:xfrm>
          <a:prstGeom prst="rect">
            <a:avLst/>
          </a:prstGeom>
        </p:spPr>
      </p:pic>
    </p:spTree>
    <p:extLst>
      <p:ext uri="{BB962C8B-B14F-4D97-AF65-F5344CB8AC3E}">
        <p14:creationId xmlns:p14="http://schemas.microsoft.com/office/powerpoint/2010/main" val="3433697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7D883-FB43-0E80-4F15-BF484C12A21A}"/>
              </a:ext>
            </a:extLst>
          </p:cNvPr>
          <p:cNvSpPr>
            <a:spLocks noGrp="1"/>
          </p:cNvSpPr>
          <p:nvPr>
            <p:ph type="title"/>
          </p:nvPr>
        </p:nvSpPr>
        <p:spPr/>
        <p:txBody>
          <a:bodyPr/>
          <a:lstStyle/>
          <a:p>
            <a:r>
              <a:rPr lang="en-US" b="1" dirty="0"/>
              <a:t>Hard margin</a:t>
            </a:r>
            <a:endParaRPr lang="en-IN" dirty="0"/>
          </a:p>
        </p:txBody>
      </p:sp>
      <p:sp>
        <p:nvSpPr>
          <p:cNvPr id="3" name="Content Placeholder 2">
            <a:extLst>
              <a:ext uri="{FF2B5EF4-FFF2-40B4-BE49-F238E27FC236}">
                <a16:creationId xmlns:a16="http://schemas.microsoft.com/office/drawing/2014/main" id="{5EC5C9B6-1CA2-0683-FCED-FE687CF30856}"/>
              </a:ext>
            </a:extLst>
          </p:cNvPr>
          <p:cNvSpPr>
            <a:spLocks noGrp="1"/>
          </p:cNvSpPr>
          <p:nvPr>
            <p:ph idx="1"/>
          </p:nvPr>
        </p:nvSpPr>
        <p:spPr/>
        <p:txBody>
          <a:bodyPr/>
          <a:lstStyle/>
          <a:p>
            <a:r>
              <a:rPr lang="en-US" dirty="0"/>
              <a:t>The best hyperplane also known as the </a:t>
            </a:r>
            <a:r>
              <a:rPr lang="en-US" b="1" dirty="0"/>
              <a:t>"hard margin"</a:t>
            </a:r>
            <a:r>
              <a:rPr lang="en-US" dirty="0"/>
              <a:t> is the one that maximizes the distance between the hyperplane and the nearest data points from both classes. This ensures a clear separation between the classes.</a:t>
            </a:r>
            <a:endParaRPr lang="en-IN" dirty="0"/>
          </a:p>
        </p:txBody>
      </p:sp>
    </p:spTree>
    <p:extLst>
      <p:ext uri="{BB962C8B-B14F-4D97-AF65-F5344CB8AC3E}">
        <p14:creationId xmlns:p14="http://schemas.microsoft.com/office/powerpoint/2010/main" val="1722334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5FABE-982C-449A-BD70-BD929B566C01}"/>
              </a:ext>
            </a:extLst>
          </p:cNvPr>
          <p:cNvSpPr>
            <a:spLocks noGrp="1"/>
          </p:cNvSpPr>
          <p:nvPr>
            <p:ph type="title"/>
          </p:nvPr>
        </p:nvSpPr>
        <p:spPr/>
        <p:txBody>
          <a:bodyPr>
            <a:normAutofit/>
          </a:bodyPr>
          <a:lstStyle/>
          <a:p>
            <a:pPr fontAlgn="base"/>
            <a:r>
              <a:rPr lang="en-US" b="1" dirty="0"/>
              <a:t>How does SVM classify the data?</a:t>
            </a:r>
            <a:br>
              <a:rPr lang="en-US" b="1" dirty="0"/>
            </a:br>
            <a:endParaRPr lang="en-IN" dirty="0"/>
          </a:p>
        </p:txBody>
      </p:sp>
      <p:sp>
        <p:nvSpPr>
          <p:cNvPr id="3" name="Content Placeholder 2">
            <a:extLst>
              <a:ext uri="{FF2B5EF4-FFF2-40B4-BE49-F238E27FC236}">
                <a16:creationId xmlns:a16="http://schemas.microsoft.com/office/drawing/2014/main" id="{C6D6F762-49D1-0FE0-A710-4C3FA10D2AF6}"/>
              </a:ext>
            </a:extLst>
          </p:cNvPr>
          <p:cNvSpPr>
            <a:spLocks noGrp="1"/>
          </p:cNvSpPr>
          <p:nvPr>
            <p:ph idx="1"/>
          </p:nvPr>
        </p:nvSpPr>
        <p:spPr/>
        <p:txBody>
          <a:bodyPr/>
          <a:lstStyle/>
          <a:p>
            <a:r>
              <a:rPr lang="en-US" dirty="0"/>
              <a:t>The blue ball in the boundary of red ones is an outlier of blue balls. The SVM algorithm has the characteristics to ignore the outlier and finds the best hyperplane that maximizes the margin. SVM is robust to outliers.</a:t>
            </a:r>
            <a:br>
              <a:rPr lang="en-US" dirty="0"/>
            </a:br>
            <a:endParaRPr lang="en-IN" dirty="0"/>
          </a:p>
        </p:txBody>
      </p:sp>
    </p:spTree>
    <p:extLst>
      <p:ext uri="{BB962C8B-B14F-4D97-AF65-F5344CB8AC3E}">
        <p14:creationId xmlns:p14="http://schemas.microsoft.com/office/powerpoint/2010/main" val="117606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0A499-FD9F-0A59-0D49-B3EC395E1B74}"/>
              </a:ext>
            </a:extLst>
          </p:cNvPr>
          <p:cNvSpPr>
            <a:spLocks noGrp="1"/>
          </p:cNvSpPr>
          <p:nvPr>
            <p:ph type="title"/>
          </p:nvPr>
        </p:nvSpPr>
        <p:spPr/>
        <p:txBody>
          <a:bodyPr/>
          <a:lstStyle/>
          <a:p>
            <a:r>
              <a:rPr lang="en-US" dirty="0"/>
              <a:t>SVM is robust to outliers.</a:t>
            </a:r>
            <a:br>
              <a:rPr lang="en-US" dirty="0"/>
            </a:br>
            <a:endParaRPr lang="en-IN" dirty="0"/>
          </a:p>
        </p:txBody>
      </p:sp>
      <p:pic>
        <p:nvPicPr>
          <p:cNvPr id="5" name="Content Placeholder 4">
            <a:extLst>
              <a:ext uri="{FF2B5EF4-FFF2-40B4-BE49-F238E27FC236}">
                <a16:creationId xmlns:a16="http://schemas.microsoft.com/office/drawing/2014/main" id="{9AB9EA5E-4FC5-3738-41BF-96F4E847F82D}"/>
              </a:ext>
            </a:extLst>
          </p:cNvPr>
          <p:cNvPicPr>
            <a:picLocks noGrp="1" noChangeAspect="1"/>
          </p:cNvPicPr>
          <p:nvPr>
            <p:ph idx="1"/>
          </p:nvPr>
        </p:nvPicPr>
        <p:blipFill>
          <a:blip r:embed="rId2"/>
          <a:stretch>
            <a:fillRect/>
          </a:stretch>
        </p:blipFill>
        <p:spPr>
          <a:xfrm>
            <a:off x="2662237" y="2420144"/>
            <a:ext cx="6867525" cy="3162300"/>
          </a:xfrm>
          <a:prstGeom prst="rect">
            <a:avLst/>
          </a:prstGeom>
        </p:spPr>
      </p:pic>
      <p:sp>
        <p:nvSpPr>
          <p:cNvPr id="7" name="TextBox 6">
            <a:extLst>
              <a:ext uri="{FF2B5EF4-FFF2-40B4-BE49-F238E27FC236}">
                <a16:creationId xmlns:a16="http://schemas.microsoft.com/office/drawing/2014/main" id="{F6FC55D6-02D2-05CC-7275-957659B051C1}"/>
              </a:ext>
            </a:extLst>
          </p:cNvPr>
          <p:cNvSpPr txBox="1"/>
          <p:nvPr/>
        </p:nvSpPr>
        <p:spPr>
          <a:xfrm>
            <a:off x="2267563" y="1586751"/>
            <a:ext cx="6867525" cy="646331"/>
          </a:xfrm>
          <a:prstGeom prst="rect">
            <a:avLst/>
          </a:prstGeom>
          <a:noFill/>
        </p:spPr>
        <p:txBody>
          <a:bodyPr wrap="square">
            <a:spAutoFit/>
          </a:bodyPr>
          <a:lstStyle/>
          <a:p>
            <a:r>
              <a:rPr lang="en-US" b="0" i="0" dirty="0">
                <a:solidFill>
                  <a:srgbClr val="273239"/>
                </a:solidFill>
                <a:effectLst/>
                <a:latin typeface="Nunito" pitchFamily="2" charset="0"/>
              </a:rPr>
              <a:t>A soft margin allows for some misclassifications or violations of the margin to improve generalization.</a:t>
            </a:r>
            <a:endParaRPr lang="en-IN" dirty="0"/>
          </a:p>
        </p:txBody>
      </p:sp>
    </p:spTree>
    <p:extLst>
      <p:ext uri="{BB962C8B-B14F-4D97-AF65-F5344CB8AC3E}">
        <p14:creationId xmlns:p14="http://schemas.microsoft.com/office/powerpoint/2010/main" val="3966256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1414A-3785-00FF-56AD-9B7B281C2CE1}"/>
              </a:ext>
            </a:extLst>
          </p:cNvPr>
          <p:cNvSpPr>
            <a:spLocks noGrp="1"/>
          </p:cNvSpPr>
          <p:nvPr>
            <p:ph type="title"/>
          </p:nvPr>
        </p:nvSpPr>
        <p:spPr/>
        <p:txBody>
          <a:bodyPr/>
          <a:lstStyle/>
          <a:p>
            <a:r>
              <a:rPr lang="en-IN" b="1" dirty="0"/>
              <a:t>Mathematical Computation of SVM</a:t>
            </a:r>
            <a:br>
              <a:rPr lang="en-IN" b="1" dirty="0"/>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3090F12-7C18-DD72-EF93-DEE9EBEEDF9C}"/>
                  </a:ext>
                </a:extLst>
              </p:cNvPr>
              <p:cNvSpPr>
                <a:spLocks noGrp="1"/>
              </p:cNvSpPr>
              <p:nvPr>
                <p:ph idx="1"/>
              </p:nvPr>
            </p:nvSpPr>
            <p:spPr/>
            <p:txBody>
              <a:bodyPr/>
              <a:lstStyle/>
              <a:p>
                <a:pPr fontAlgn="base"/>
                <a:r>
                  <a:rPr lang="en-IN" dirty="0"/>
                  <a:t>Consider a binary classification problem with two classes, </a:t>
                </a:r>
                <a:r>
                  <a:rPr lang="en-IN" dirty="0" err="1"/>
                  <a:t>labeled</a:t>
                </a:r>
                <a:r>
                  <a:rPr lang="en-IN" dirty="0"/>
                  <a:t> as +1 and -1. We have a training dataset consisting of input feature vectors X and their corresponding class labels Y. The equation for the linear hyperplane can be written as:</a:t>
                </a:r>
              </a:p>
              <a:p>
                <a:pPr fontAlgn="base"/>
                <a14:m>
                  <m:oMath xmlns:m="http://schemas.openxmlformats.org/officeDocument/2006/math">
                    <m:sSup>
                      <m:sSupPr>
                        <m:ctrlPr>
                          <a:rPr lang="ar-AE" smtClean="0">
                            <a:solidFill>
                              <a:srgbClr val="FF0000"/>
                            </a:solidFill>
                          </a:rPr>
                        </m:ctrlPr>
                      </m:sSupPr>
                      <m:e>
                        <m:r>
                          <a:rPr lang="ar-AE" i="1">
                            <a:solidFill>
                              <a:srgbClr val="FF0000"/>
                            </a:solidFill>
                          </a:rPr>
                          <m:t>𝑤</m:t>
                        </m:r>
                      </m:e>
                      <m:sup>
                        <m:r>
                          <a:rPr lang="ar-AE" i="1">
                            <a:solidFill>
                              <a:srgbClr val="FF0000"/>
                            </a:solidFill>
                          </a:rPr>
                          <m:t>𝑇</m:t>
                        </m:r>
                      </m:sup>
                    </m:sSup>
                    <m:r>
                      <a:rPr lang="ar-AE" i="1">
                        <a:solidFill>
                          <a:srgbClr val="FF0000"/>
                        </a:solidFill>
                      </a:rPr>
                      <m:t>𝑥</m:t>
                    </m:r>
                    <m:r>
                      <a:rPr lang="ar-AE">
                        <a:solidFill>
                          <a:srgbClr val="FF0000"/>
                        </a:solidFill>
                      </a:rPr>
                      <m:t>+</m:t>
                    </m:r>
                    <m:r>
                      <a:rPr lang="ar-AE" i="1">
                        <a:solidFill>
                          <a:srgbClr val="FF0000"/>
                        </a:solidFill>
                      </a:rPr>
                      <m:t>𝑏</m:t>
                    </m:r>
                    <m:r>
                      <a:rPr lang="ar-AE">
                        <a:solidFill>
                          <a:srgbClr val="FF0000"/>
                        </a:solidFill>
                      </a:rPr>
                      <m:t>=</m:t>
                    </m:r>
                    <m:r>
                      <a:rPr lang="ar-AE">
                        <a:solidFill>
                          <a:srgbClr val="FF0000"/>
                        </a:solidFill>
                      </a:rPr>
                      <m:t>0</m:t>
                    </m:r>
                  </m:oMath>
                </a14:m>
                <a:endParaRPr lang="ar-AE" i="1" dirty="0">
                  <a:solidFill>
                    <a:srgbClr val="FF0000"/>
                  </a:solidFill>
                </a:endParaRPr>
              </a:p>
              <a:p>
                <a:endParaRPr lang="en-IN" dirty="0"/>
              </a:p>
            </p:txBody>
          </p:sp>
        </mc:Choice>
        <mc:Fallback>
          <p:sp>
            <p:nvSpPr>
              <p:cNvPr id="3" name="Content Placeholder 2">
                <a:extLst>
                  <a:ext uri="{FF2B5EF4-FFF2-40B4-BE49-F238E27FC236}">
                    <a16:creationId xmlns:a16="http://schemas.microsoft.com/office/drawing/2014/main" id="{B3090F12-7C18-DD72-EF93-DEE9EBEEDF9C}"/>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4225532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46DA2-1823-5631-9A3F-940343B1479A}"/>
              </a:ext>
            </a:extLst>
          </p:cNvPr>
          <p:cNvSpPr>
            <a:spLocks noGrp="1"/>
          </p:cNvSpPr>
          <p:nvPr>
            <p:ph type="title"/>
          </p:nvPr>
        </p:nvSpPr>
        <p:spPr/>
        <p:txBody>
          <a:bodyPr/>
          <a:lstStyle/>
          <a:p>
            <a:r>
              <a:rPr lang="en-US" b="1" dirty="0"/>
              <a:t>Distance from a Data Point to the Hyperplane</a:t>
            </a:r>
            <a:br>
              <a:rPr lang="en-US" b="1" dirty="0"/>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CD9BFDE-3198-C3B9-5A65-E99EE821DD85}"/>
                  </a:ext>
                </a:extLst>
              </p:cNvPr>
              <p:cNvSpPr>
                <a:spLocks noGrp="1"/>
              </p:cNvSpPr>
              <p:nvPr>
                <p:ph idx="1"/>
              </p:nvPr>
            </p:nvSpPr>
            <p:spPr/>
            <p:txBody>
              <a:bodyPr/>
              <a:lstStyle/>
              <a:p>
                <a:pPr fontAlgn="base"/>
                <a:r>
                  <a:rPr lang="en-IN" dirty="0"/>
                  <a:t>The distance between a data point </a:t>
                </a:r>
                <a14:m>
                  <m:oMath xmlns:m="http://schemas.openxmlformats.org/officeDocument/2006/math">
                    <m:sSub>
                      <m:sSubPr>
                        <m:ctrlPr>
                          <a:rPr lang="ar-AE"/>
                        </m:ctrlPr>
                      </m:sSubPr>
                      <m:e>
                        <m:r>
                          <a:rPr lang="ar-AE" i="1"/>
                          <m:t>𝑥</m:t>
                        </m:r>
                      </m:e>
                      <m:sub>
                        <m:r>
                          <a:rPr lang="ar-AE" i="1"/>
                          <m:t>𝑖</m:t>
                        </m:r>
                      </m:sub>
                    </m:sSub>
                  </m:oMath>
                </a14:m>
                <a:r>
                  <a:rPr lang="en-IN" dirty="0"/>
                  <a:t>and the decision boundary can be calculated as:</a:t>
                </a:r>
              </a:p>
              <a:p>
                <a:pPr fontAlgn="base"/>
                <a14:m>
                  <m:oMath xmlns:m="http://schemas.openxmlformats.org/officeDocument/2006/math">
                    <m:sSub>
                      <m:sSubPr>
                        <m:ctrlPr>
                          <a:rPr lang="ar-AE"/>
                        </m:ctrlPr>
                      </m:sSubPr>
                      <m:e>
                        <m:r>
                          <a:rPr lang="ar-AE" i="1"/>
                          <m:t>𝑑</m:t>
                        </m:r>
                      </m:e>
                      <m:sub>
                        <m:r>
                          <a:rPr lang="ar-AE" i="1"/>
                          <m:t>𝑖</m:t>
                        </m:r>
                      </m:sub>
                    </m:sSub>
                    <m:r>
                      <a:rPr lang="ar-AE"/>
                      <m:t>=</m:t>
                    </m:r>
                    <m:f>
                      <m:fPr>
                        <m:ctrlPr>
                          <a:rPr lang="ar-AE" i="1"/>
                        </m:ctrlPr>
                      </m:fPr>
                      <m:num>
                        <m:sSup>
                          <m:sSupPr>
                            <m:ctrlPr>
                              <a:rPr lang="ar-AE" i="1"/>
                            </m:ctrlPr>
                          </m:sSupPr>
                          <m:e>
                            <m:r>
                              <a:rPr lang="ar-AE" i="1"/>
                              <m:t>𝑤</m:t>
                            </m:r>
                          </m:e>
                          <m:sup>
                            <m:r>
                              <a:rPr lang="ar-AE" i="1"/>
                              <m:t>𝑇</m:t>
                            </m:r>
                          </m:sup>
                        </m:sSup>
                        <m:sSub>
                          <m:sSubPr>
                            <m:ctrlPr>
                              <a:rPr lang="ar-AE" i="1"/>
                            </m:ctrlPr>
                          </m:sSubPr>
                          <m:e>
                            <m:r>
                              <a:rPr lang="ar-AE" i="1"/>
                              <m:t>𝑥</m:t>
                            </m:r>
                          </m:e>
                          <m:sub>
                            <m:r>
                              <a:rPr lang="ar-AE" i="1"/>
                              <m:t>𝑖</m:t>
                            </m:r>
                          </m:sub>
                        </m:sSub>
                        <m:r>
                          <a:rPr lang="ar-AE"/>
                          <m:t>+</m:t>
                        </m:r>
                        <m:r>
                          <a:rPr lang="ar-AE" i="1"/>
                          <m:t>𝑏</m:t>
                        </m:r>
                      </m:num>
                      <m:den>
                        <m:r>
                          <a:rPr lang="ar-AE"/>
                          <m:t>∣∣</m:t>
                        </m:r>
                        <m:r>
                          <a:rPr lang="ar-AE" i="1"/>
                          <m:t>𝑤</m:t>
                        </m:r>
                        <m:r>
                          <a:rPr lang="ar-AE"/>
                          <m:t>∣∣</m:t>
                        </m:r>
                      </m:den>
                    </m:f>
                  </m:oMath>
                </a14:m>
                <a:endParaRPr lang="ar-AE" i="1" dirty="0"/>
              </a:p>
              <a:p>
                <a:br>
                  <a:rPr lang="ar-AE" dirty="0"/>
                </a:br>
                <a:r>
                  <a:rPr lang="en-US" dirty="0"/>
                  <a:t>where ||w|| represents the Euclidean norm of the weight vector w.</a:t>
                </a:r>
                <a:endParaRPr lang="en-IN" dirty="0"/>
              </a:p>
            </p:txBody>
          </p:sp>
        </mc:Choice>
        <mc:Fallback>
          <p:sp>
            <p:nvSpPr>
              <p:cNvPr id="3" name="Content Placeholder 2">
                <a:extLst>
                  <a:ext uri="{FF2B5EF4-FFF2-40B4-BE49-F238E27FC236}">
                    <a16:creationId xmlns:a16="http://schemas.microsoft.com/office/drawing/2014/main" id="{8CD9BFDE-3198-C3B9-5A65-E99EE821DD8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425824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6274-9A15-6BE4-ACD5-3D03BFFBFCAD}"/>
              </a:ext>
            </a:extLst>
          </p:cNvPr>
          <p:cNvSpPr>
            <a:spLocks noGrp="1"/>
          </p:cNvSpPr>
          <p:nvPr>
            <p:ph type="title"/>
          </p:nvPr>
        </p:nvSpPr>
        <p:spPr/>
        <p:txBody>
          <a:bodyPr/>
          <a:lstStyle/>
          <a:p>
            <a:r>
              <a:rPr lang="en-IN" b="1" dirty="0"/>
              <a:t>Linear SVM Classifier</a:t>
            </a:r>
            <a:br>
              <a:rPr lang="en-IN" b="1" dirty="0"/>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6D40EEE-E35D-F434-3A4C-A8CBB421AA9B}"/>
                  </a:ext>
                </a:extLst>
              </p:cNvPr>
              <p:cNvSpPr>
                <a:spLocks noGrp="1"/>
              </p:cNvSpPr>
              <p:nvPr>
                <p:ph idx="1"/>
              </p:nvPr>
            </p:nvSpPr>
            <p:spPr/>
            <p:txBody>
              <a:bodyPr/>
              <a:lstStyle/>
              <a:p>
                <a:pPr fontAlgn="base"/>
                <a:r>
                  <a:rPr lang="en-IN" dirty="0"/>
                  <a:t>Distance from a Data Point to the Hyperplane:</a:t>
                </a:r>
              </a:p>
              <a:p>
                <a:pPr fontAlgn="base"/>
                <a14:m>
                  <m:oMath xmlns:m="http://schemas.openxmlformats.org/officeDocument/2006/math">
                    <m:acc>
                      <m:accPr>
                        <m:chr m:val="̂"/>
                        <m:ctrlPr>
                          <a:rPr lang="ar-AE"/>
                        </m:ctrlPr>
                      </m:accPr>
                      <m:e>
                        <m:r>
                          <a:rPr lang="ar-AE" i="1"/>
                          <m:t>𝑦</m:t>
                        </m:r>
                      </m:e>
                    </m:acc>
                    <m:r>
                      <a:rPr lang="ar-AE"/>
                      <m:t>=</m:t>
                    </m:r>
                    <m:d>
                      <m:dPr>
                        <m:begChr m:val="{"/>
                        <m:endChr m:val=""/>
                        <m:ctrlPr>
                          <a:rPr lang="ar-AE" i="1"/>
                        </m:ctrlPr>
                      </m:dPr>
                      <m:e>
                        <m:m>
                          <m:mPr>
                            <m:plcHide m:val="on"/>
                            <m:mcs>
                              <m:mc>
                                <m:mcPr>
                                  <m:count m:val="2"/>
                                  <m:mcJc m:val="center"/>
                                </m:mcPr>
                              </m:mc>
                            </m:mcs>
                            <m:ctrlPr>
                              <a:rPr lang="ar-AE" i="1"/>
                            </m:ctrlPr>
                          </m:mPr>
                          <m:mr>
                            <m:e>
                              <m:r>
                                <a:rPr lang="ar-AE"/>
                                <m:t>1</m:t>
                              </m:r>
                            </m:e>
                            <m:e>
                              <m:r>
                                <a:rPr lang="ar-AE"/>
                                <m:t>:</m:t>
                              </m:r>
                              <m:r>
                                <m:rPr>
                                  <m:nor/>
                                </m:rPr>
                                <a:rPr lang="ar-AE" i="1"/>
                                <m:t> </m:t>
                              </m:r>
                              <m:sSup>
                                <m:sSupPr>
                                  <m:ctrlPr>
                                    <a:rPr lang="ar-AE" i="1"/>
                                  </m:ctrlPr>
                                </m:sSupPr>
                                <m:e>
                                  <m:r>
                                    <a:rPr lang="ar-AE" i="1"/>
                                    <m:t>𝑤</m:t>
                                  </m:r>
                                </m:e>
                                <m:sup>
                                  <m:r>
                                    <a:rPr lang="ar-AE" i="1"/>
                                    <m:t>𝑇</m:t>
                                  </m:r>
                                </m:sup>
                              </m:sSup>
                              <m:r>
                                <a:rPr lang="ar-AE" i="1"/>
                                <m:t>𝑥</m:t>
                              </m:r>
                              <m:r>
                                <a:rPr lang="ar-AE"/>
                                <m:t>+</m:t>
                              </m:r>
                              <m:r>
                                <a:rPr lang="ar-AE" i="1"/>
                                <m:t>𝑏</m:t>
                              </m:r>
                              <m:r>
                                <a:rPr lang="ar-AE"/>
                                <m:t>≥</m:t>
                              </m:r>
                              <m:r>
                                <a:rPr lang="ar-AE"/>
                                <m:t>0</m:t>
                              </m:r>
                            </m:e>
                          </m:mr>
                          <m:mr>
                            <m:e>
                              <m:r>
                                <a:rPr lang="ar-AE"/>
                                <m:t>−</m:t>
                              </m:r>
                              <m:r>
                                <a:rPr lang="ar-AE"/>
                                <m:t>1</m:t>
                              </m:r>
                            </m:e>
                            <m:e>
                              <m:r>
                                <a:rPr lang="ar-AE"/>
                                <m:t>:</m:t>
                              </m:r>
                              <m:r>
                                <m:rPr>
                                  <m:nor/>
                                </m:rPr>
                                <a:rPr lang="ar-AE" i="1"/>
                                <m:t>  </m:t>
                              </m:r>
                              <m:sSup>
                                <m:sSupPr>
                                  <m:ctrlPr>
                                    <a:rPr lang="ar-AE" i="1"/>
                                  </m:ctrlPr>
                                </m:sSupPr>
                                <m:e>
                                  <m:r>
                                    <a:rPr lang="ar-AE" i="1"/>
                                    <m:t>𝑤</m:t>
                                  </m:r>
                                </m:e>
                                <m:sup>
                                  <m:r>
                                    <a:rPr lang="ar-AE" i="1"/>
                                    <m:t>𝑇</m:t>
                                  </m:r>
                                </m:sup>
                              </m:sSup>
                              <m:r>
                                <a:rPr lang="ar-AE" i="1"/>
                                <m:t>𝑥</m:t>
                              </m:r>
                              <m:r>
                                <a:rPr lang="ar-AE"/>
                                <m:t>+</m:t>
                              </m:r>
                              <m:r>
                                <a:rPr lang="ar-AE" i="1"/>
                                <m:t>𝑏</m:t>
                              </m:r>
                              <m:r>
                                <m:rPr>
                                  <m:nor/>
                                </m:rPr>
                                <a:rPr lang="ar-AE" i="1"/>
                                <m:t> </m:t>
                              </m:r>
                              <m:r>
                                <a:rPr lang="ar-AE"/>
                                <m:t>&lt;</m:t>
                              </m:r>
                              <m:r>
                                <a:rPr lang="ar-AE"/>
                                <m:t>0</m:t>
                              </m:r>
                            </m:e>
                          </m:mr>
                        </m:m>
                      </m:e>
                    </m:d>
                  </m:oMath>
                </a14:m>
                <a:endParaRPr lang="ar-AE" i="1" dirty="0"/>
              </a:p>
              <a:p>
                <a:br>
                  <a:rPr lang="ar-AE" dirty="0"/>
                </a:br>
                <a:endParaRPr lang="en-IN" dirty="0"/>
              </a:p>
            </p:txBody>
          </p:sp>
        </mc:Choice>
        <mc:Fallback>
          <p:sp>
            <p:nvSpPr>
              <p:cNvPr id="3" name="Content Placeholder 2">
                <a:extLst>
                  <a:ext uri="{FF2B5EF4-FFF2-40B4-BE49-F238E27FC236}">
                    <a16:creationId xmlns:a16="http://schemas.microsoft.com/office/drawing/2014/main" id="{B6D40EEE-E35D-F434-3A4C-A8CBB421AA9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827986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700AE-910E-4337-D517-420130F24F0E}"/>
              </a:ext>
            </a:extLst>
          </p:cNvPr>
          <p:cNvSpPr>
            <a:spLocks noGrp="1"/>
          </p:cNvSpPr>
          <p:nvPr>
            <p:ph type="title"/>
          </p:nvPr>
        </p:nvSpPr>
        <p:spPr/>
        <p:txBody>
          <a:bodyPr/>
          <a:lstStyle/>
          <a:p>
            <a:r>
              <a:rPr lang="en-IN" b="1" dirty="0"/>
              <a:t>Optimization Problem for SVM</a:t>
            </a:r>
            <a:br>
              <a:rPr lang="en-IN" b="1" dirty="0"/>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FA4BA59-E03F-3C70-BE26-691D491157C9}"/>
                  </a:ext>
                </a:extLst>
              </p:cNvPr>
              <p:cNvSpPr>
                <a:spLocks noGrp="1"/>
              </p:cNvSpPr>
              <p:nvPr>
                <p:ph idx="1"/>
              </p:nvPr>
            </p:nvSpPr>
            <p:spPr/>
            <p:txBody>
              <a:bodyPr/>
              <a:lstStyle/>
              <a:p>
                <a:pPr fontAlgn="base"/>
                <a:r>
                  <a:rPr lang="en-IN" dirty="0"/>
                  <a:t>For a linearly separable dataset the goal is to find the hyperplane that maximizes the margin between the two classes while ensuring that all data points are correctly classified. This leads to the following optimization problem:</a:t>
                </a:r>
              </a:p>
              <a:p>
                <a:pPr fontAlgn="base"/>
                <a14:m>
                  <m:oMath xmlns:m="http://schemas.openxmlformats.org/officeDocument/2006/math">
                    <m:limLow>
                      <m:limLowPr>
                        <m:ctrlPr>
                          <a:rPr lang="ar-AE"/>
                        </m:ctrlPr>
                      </m:limLowPr>
                      <m:e/>
                      <m:lim>
                        <m:r>
                          <m:rPr>
                            <m:nor/>
                          </m:rPr>
                          <a:rPr lang="en-IN" b="0"/>
                          <m:t>minimize</m:t>
                        </m:r>
                        <m:r>
                          <a:rPr lang="en-IN" b="0" i="1"/>
                          <m:t>𝑤</m:t>
                        </m:r>
                        <m:r>
                          <a:rPr lang="en-IN"/>
                          <m:t>,</m:t>
                        </m:r>
                        <m:r>
                          <a:rPr lang="en-IN" i="1"/>
                          <m:t>𝑏</m:t>
                        </m:r>
                      </m:lim>
                    </m:limLow>
                    <m:f>
                      <m:fPr>
                        <m:ctrlPr>
                          <a:rPr lang="ar-AE" i="1"/>
                        </m:ctrlPr>
                      </m:fPr>
                      <m:num>
                        <m:r>
                          <a:rPr lang="ar-AE"/>
                          <m:t>1</m:t>
                        </m:r>
                      </m:num>
                      <m:den>
                        <m:r>
                          <a:rPr lang="ar-AE"/>
                          <m:t>2</m:t>
                        </m:r>
                      </m:den>
                    </m:f>
                    <m:sSup>
                      <m:sSupPr>
                        <m:ctrlPr>
                          <a:rPr lang="ar-AE" i="1"/>
                        </m:ctrlPr>
                      </m:sSupPr>
                      <m:e>
                        <m:d>
                          <m:dPr>
                            <m:begChr m:val="∥"/>
                            <m:endChr m:val="∥"/>
                            <m:ctrlPr>
                              <a:rPr lang="ar-AE" i="1"/>
                            </m:ctrlPr>
                          </m:dPr>
                          <m:e>
                            <m:r>
                              <a:rPr lang="ar-AE" i="1"/>
                              <m:t>𝑤</m:t>
                            </m:r>
                          </m:e>
                        </m:d>
                      </m:e>
                      <m:sup>
                        <m:r>
                          <a:rPr lang="ar-AE"/>
                          <m:t>2</m:t>
                        </m:r>
                      </m:sup>
                    </m:sSup>
                  </m:oMath>
                </a14:m>
                <a:endParaRPr lang="ar-AE" i="1" dirty="0"/>
              </a:p>
              <a:p>
                <a:endParaRPr lang="en-IN" dirty="0"/>
              </a:p>
            </p:txBody>
          </p:sp>
        </mc:Choice>
        <mc:Fallback>
          <p:sp>
            <p:nvSpPr>
              <p:cNvPr id="3" name="Content Placeholder 2">
                <a:extLst>
                  <a:ext uri="{FF2B5EF4-FFF2-40B4-BE49-F238E27FC236}">
                    <a16:creationId xmlns:a16="http://schemas.microsoft.com/office/drawing/2014/main" id="{DFA4BA59-E03F-3C70-BE26-691D491157C9}"/>
                  </a:ext>
                </a:extLst>
              </p:cNvPr>
              <p:cNvSpPr>
                <a:spLocks noGrp="1" noRot="1" noChangeAspect="1" noMove="1" noResize="1" noEditPoints="1" noAdjustHandles="1" noChangeArrowheads="1" noChangeShapeType="1" noTextEdit="1"/>
              </p:cNvSpPr>
              <p:nvPr>
                <p:ph idx="1"/>
              </p:nvPr>
            </p:nvSpPr>
            <p:spPr>
              <a:blipFill>
                <a:blip r:embed="rId2"/>
                <a:stretch>
                  <a:fillRect l="-1043" t="-2241" r="-1507"/>
                </a:stretch>
              </a:blipFill>
            </p:spPr>
            <p:txBody>
              <a:bodyPr/>
              <a:lstStyle/>
              <a:p>
                <a:r>
                  <a:rPr lang="en-IN">
                    <a:noFill/>
                  </a:rPr>
                  <a:t> </a:t>
                </a:r>
              </a:p>
            </p:txBody>
          </p:sp>
        </mc:Fallback>
      </mc:AlternateContent>
    </p:spTree>
    <p:extLst>
      <p:ext uri="{BB962C8B-B14F-4D97-AF65-F5344CB8AC3E}">
        <p14:creationId xmlns:p14="http://schemas.microsoft.com/office/powerpoint/2010/main" val="1122857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B945F-385C-6528-06BC-C700EA165F7E}"/>
              </a:ext>
            </a:extLst>
          </p:cNvPr>
          <p:cNvSpPr>
            <a:spLocks noGrp="1"/>
          </p:cNvSpPr>
          <p:nvPr>
            <p:ph type="title"/>
          </p:nvPr>
        </p:nvSpPr>
        <p:spPr/>
        <p:txBody>
          <a:bodyPr/>
          <a:lstStyle/>
          <a:p>
            <a:r>
              <a:rPr lang="en-IN" b="1" dirty="0"/>
              <a:t>Optimization Problem for SVM</a:t>
            </a:r>
            <a:br>
              <a:rPr lang="en-IN" b="1" dirty="0"/>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6BBABB9-A433-1F41-8B0D-8A93E4895EEA}"/>
                  </a:ext>
                </a:extLst>
              </p:cNvPr>
              <p:cNvSpPr>
                <a:spLocks noGrp="1"/>
              </p:cNvSpPr>
              <p:nvPr>
                <p:ph idx="1"/>
              </p:nvPr>
            </p:nvSpPr>
            <p:spPr/>
            <p:txBody>
              <a:bodyPr/>
              <a:lstStyle/>
              <a:p>
                <a:pPr fontAlgn="base"/>
                <a:r>
                  <a:rPr lang="en-IN" dirty="0"/>
                  <a:t>Subject to the constraint:</a:t>
                </a:r>
              </a:p>
              <a:p>
                <a:pPr fontAlgn="base"/>
                <a14:m>
                  <m:oMath xmlns:m="http://schemas.openxmlformats.org/officeDocument/2006/math">
                    <m:sSub>
                      <m:sSubPr>
                        <m:ctrlPr>
                          <a:rPr lang="ar-AE"/>
                        </m:ctrlPr>
                      </m:sSubPr>
                      <m:e>
                        <m:r>
                          <a:rPr lang="ar-AE" i="1"/>
                          <m:t>𝑦</m:t>
                        </m:r>
                      </m:e>
                      <m:sub>
                        <m:r>
                          <a:rPr lang="ar-AE" i="1"/>
                          <m:t>𝑖</m:t>
                        </m:r>
                      </m:sub>
                    </m:sSub>
                    <m:d>
                      <m:dPr>
                        <m:ctrlPr>
                          <a:rPr lang="ar-AE" i="1"/>
                        </m:ctrlPr>
                      </m:dPr>
                      <m:e>
                        <m:sSup>
                          <m:sSupPr>
                            <m:ctrlPr>
                              <a:rPr lang="ar-AE" i="1"/>
                            </m:ctrlPr>
                          </m:sSupPr>
                          <m:e>
                            <m:r>
                              <a:rPr lang="ar-AE" i="1"/>
                              <m:t>𝑤</m:t>
                            </m:r>
                          </m:e>
                          <m:sup>
                            <m:r>
                              <a:rPr lang="ar-AE" i="1"/>
                              <m:t>𝑇</m:t>
                            </m:r>
                          </m:sup>
                        </m:sSup>
                        <m:sSub>
                          <m:sSubPr>
                            <m:ctrlPr>
                              <a:rPr lang="ar-AE" i="1"/>
                            </m:ctrlPr>
                          </m:sSubPr>
                          <m:e>
                            <m:r>
                              <a:rPr lang="ar-AE" i="1"/>
                              <m:t>𝑥</m:t>
                            </m:r>
                          </m:e>
                          <m:sub>
                            <m:r>
                              <a:rPr lang="ar-AE" i="1"/>
                              <m:t>𝑖</m:t>
                            </m:r>
                          </m:sub>
                        </m:sSub>
                        <m:r>
                          <a:rPr lang="ar-AE"/>
                          <m:t>+</m:t>
                        </m:r>
                        <m:r>
                          <a:rPr lang="ar-AE" i="1"/>
                          <m:t>𝑏</m:t>
                        </m:r>
                      </m:e>
                    </m:d>
                    <m:r>
                      <a:rPr lang="ar-AE"/>
                      <m:t>≥</m:t>
                    </m:r>
                    <m:r>
                      <a:rPr lang="ar-AE"/>
                      <m:t>1</m:t>
                    </m:r>
                    <m:r>
                      <a:rPr lang="ar-AE" i="1"/>
                      <m:t>𝑓𝑜𝑟𝑖</m:t>
                    </m:r>
                    <m:r>
                      <a:rPr lang="ar-AE"/>
                      <m:t>=</m:t>
                    </m:r>
                    <m:r>
                      <a:rPr lang="ar-AE"/>
                      <m:t>1</m:t>
                    </m:r>
                    <m:r>
                      <a:rPr lang="ar-AE"/>
                      <m:t>,</m:t>
                    </m:r>
                    <m:r>
                      <a:rPr lang="ar-AE"/>
                      <m:t>2</m:t>
                    </m:r>
                    <m:r>
                      <a:rPr lang="ar-AE"/>
                      <m:t>,</m:t>
                    </m:r>
                    <m:r>
                      <a:rPr lang="ar-AE"/>
                      <m:t>3</m:t>
                    </m:r>
                    <m:r>
                      <a:rPr lang="ar-AE"/>
                      <m:t>,⋯,</m:t>
                    </m:r>
                    <m:r>
                      <a:rPr lang="ar-AE" i="1"/>
                      <m:t>𝑚</m:t>
                    </m:r>
                  </m:oMath>
                </a14:m>
                <a:endParaRPr lang="ar-AE" i="1" dirty="0"/>
              </a:p>
              <a:p>
                <a:pPr fontAlgn="base"/>
                <a:r>
                  <a:rPr lang="en-IN" dirty="0"/>
                  <a:t>Where:</a:t>
                </a:r>
              </a:p>
              <a:p>
                <a:pPr fontAlgn="base"/>
                <a14:m>
                  <m:oMath xmlns:m="http://schemas.openxmlformats.org/officeDocument/2006/math">
                    <m:sSub>
                      <m:sSubPr>
                        <m:ctrlPr>
                          <a:rPr lang="ar-AE"/>
                        </m:ctrlPr>
                      </m:sSubPr>
                      <m:e>
                        <m:r>
                          <a:rPr lang="ar-AE" i="1"/>
                          <m:t>𝑦</m:t>
                        </m:r>
                      </m:e>
                      <m:sub>
                        <m:r>
                          <a:rPr lang="ar-AE" i="1"/>
                          <m:t>𝑖</m:t>
                        </m:r>
                      </m:sub>
                    </m:sSub>
                  </m:oMath>
                </a14:m>
                <a:r>
                  <a:rPr lang="ar-AE" dirty="0"/>
                  <a:t>​ </a:t>
                </a:r>
                <a:r>
                  <a:rPr lang="en-IN" dirty="0"/>
                  <a:t>is the class label (+1 or -1) for each training instance.</a:t>
                </a:r>
              </a:p>
              <a:p>
                <a:pPr fontAlgn="base"/>
                <a14:m>
                  <m:oMath xmlns:m="http://schemas.openxmlformats.org/officeDocument/2006/math">
                    <m:sSub>
                      <m:sSubPr>
                        <m:ctrlPr>
                          <a:rPr lang="ar-AE"/>
                        </m:ctrlPr>
                      </m:sSubPr>
                      <m:e>
                        <m:r>
                          <a:rPr lang="ar-AE" i="1"/>
                          <m:t>𝑥</m:t>
                        </m:r>
                      </m:e>
                      <m:sub>
                        <m:r>
                          <a:rPr lang="ar-AE" i="1"/>
                          <m:t>𝑖</m:t>
                        </m:r>
                      </m:sub>
                    </m:sSub>
                  </m:oMath>
                </a14:m>
                <a:r>
                  <a:rPr lang="ar-AE" dirty="0"/>
                  <a:t>​ </a:t>
                </a:r>
                <a:r>
                  <a:rPr lang="en-IN" dirty="0"/>
                  <a:t>is the feature vector for the </a:t>
                </a:r>
                <a14:m>
                  <m:oMath xmlns:m="http://schemas.openxmlformats.org/officeDocument/2006/math">
                    <m:r>
                      <a:rPr lang="en-IN" i="1"/>
                      <m:t>𝑖</m:t>
                    </m:r>
                  </m:oMath>
                </a14:m>
                <a:r>
                  <a:rPr lang="en-IN" dirty="0"/>
                  <a:t>-</a:t>
                </a:r>
                <a:r>
                  <a:rPr lang="en-IN" dirty="0" err="1"/>
                  <a:t>th</a:t>
                </a:r>
                <a:r>
                  <a:rPr lang="en-IN" dirty="0"/>
                  <a:t> training instance.</a:t>
                </a:r>
              </a:p>
              <a:p>
                <a:pPr fontAlgn="base"/>
                <a14:m>
                  <m:oMath xmlns:m="http://schemas.openxmlformats.org/officeDocument/2006/math">
                    <m:r>
                      <a:rPr lang="en-IN" i="1"/>
                      <m:t>𝑚</m:t>
                    </m:r>
                  </m:oMath>
                </a14:m>
                <a:r>
                  <a:rPr lang="en-IN" dirty="0"/>
                  <a:t> is the total number of training instances.</a:t>
                </a:r>
              </a:p>
              <a:p>
                <a:endParaRPr lang="en-IN" dirty="0"/>
              </a:p>
            </p:txBody>
          </p:sp>
        </mc:Choice>
        <mc:Fallback>
          <p:sp>
            <p:nvSpPr>
              <p:cNvPr id="3" name="Content Placeholder 2">
                <a:extLst>
                  <a:ext uri="{FF2B5EF4-FFF2-40B4-BE49-F238E27FC236}">
                    <a16:creationId xmlns:a16="http://schemas.microsoft.com/office/drawing/2014/main" id="{B6BBABB9-A433-1F41-8B0D-8A93E4895EEA}"/>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6721563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681</Words>
  <Application>Microsoft Office PowerPoint</Application>
  <PresentationFormat>Widescreen</PresentationFormat>
  <Paragraphs>45</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Nunito</vt:lpstr>
      <vt:lpstr>Office Theme</vt:lpstr>
      <vt:lpstr>Support  Vector Machine</vt:lpstr>
      <vt:lpstr>Support Vector Machine (SVM)</vt:lpstr>
      <vt:lpstr>Support Vector Machine (SVM)</vt:lpstr>
      <vt:lpstr>SVM</vt:lpstr>
      <vt:lpstr>Key Concepts of Support Vector Machine </vt:lpstr>
      <vt:lpstr>PowerPoint Presentation</vt:lpstr>
      <vt:lpstr>How does Support Vector Machine Algorithm Work?</vt:lpstr>
      <vt:lpstr>How does Support Vector Machine Algorithm Work?</vt:lpstr>
      <vt:lpstr>Hard margin</vt:lpstr>
      <vt:lpstr>How does SVM classify the data? </vt:lpstr>
      <vt:lpstr>SVM is robust to outliers. </vt:lpstr>
      <vt:lpstr>Mathematical Computation of SVM </vt:lpstr>
      <vt:lpstr>Distance from a Data Point to the Hyperplane </vt:lpstr>
      <vt:lpstr>Linear SVM Classifier </vt:lpstr>
      <vt:lpstr>Optimization Problem for SVM </vt:lpstr>
      <vt:lpstr>Optimization Problem for SVM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1</cp:revision>
  <dcterms:created xsi:type="dcterms:W3CDTF">2026-03-24T07:14:47Z</dcterms:created>
  <dcterms:modified xsi:type="dcterms:W3CDTF">2026-03-24T07:20:01Z</dcterms:modified>
</cp:coreProperties>
</file>